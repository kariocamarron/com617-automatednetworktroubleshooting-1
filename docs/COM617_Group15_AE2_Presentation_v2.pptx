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~30 seconds):
Welcome the audience. Identify Group 15 and confirm we are presenting AE2 for COM617 Industrial Consulting Project. MARR stands for Monitor, Analyse, React, Report. The system was commissioned by Cisco Systems (sponsor: James Whale, Site Reliability Engineer) and developed at Southampton Solent University under academic supervision by Craig Gallen. Today's presentation covers the eight-minute lifecycle segment, followed by a seven-minute live demonstration of the working v4.1 release, then Q&amp;A. Hand over to next speaker for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~45 seconds):
Cisco's brief was concise: build a system that ingests alerts, interprets them, runs read-only diagnostics, and delivers reports to engineers. The four MARR letters become the architectural backbone of everything that follows.
Stress the additional sponsor priority: vendor-agnostic and plugin-based. This is not a Cisco-only tool. The framework must accept new alert families and diagnostic adapters without touching the pipeline core. That requirement directly drove our adapter-layer architecture decision in Sprint 1.
Industry context: alert fatigue. The problem we are addressing is not 'too many alerts' but 'alerts arriving in volumes that exceed what human cognition can consistently process accurately' (Beyer et al. 2016, SRE). The system is positioned at the interpretability layer, not the observability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~50 seconds):
This slide is doing important rubric work for Learning Outcome 1 (theoretical, practical, and change issues in the technology industry).
Two analytical points to make verbally, in this order:
1. Industry change: alert fatigue is documented as a structural operational risk. SRE doctrine (Beyer et al.) puts the elimination of manual repetitive operational labour at the core of reliability engineering. We position MARR at the interpretability layer because that is where cognitive overload accumulates.
2. The 'wrong metric' point: this is where many student projects accidentally over-promise. A 'headcount reduction' pitch would have been easier to write but wrong on the evidence. Kim et al. and Bainbridge are explicit about the automation paradox. Stating this up front shows methodological maturity. The correct metric is mean time to triage and engineer cognitive load - both of which MARR can be evaluated against.
Footer line: this distinction directly drove how we built and tested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~60 seconds):
Walk the audience along the timeline once, milestone by milestone. Anchor each tag to a real artefact: v1.0 was the PoC end of Sprint 2 (basic ingestion + classifier). v2.0 added the platform layer (Prometheus, Grafana, Kafka, Vault, Redis) and moved listeners onto real-world ports (UDP 162 / 514). v3.0 was the audit pass: custom snmp-notifier image, container name corrections, network IP corrections. v4.0 (06 April) was the major architectural milestone - three-site minion integration with Hamhung and Chongjin. v4.1 (last week) is the rename release that completes the Solent identity.
Then turn to the five lifecycle phases at the bottom. These are not generic SDLC phases - each one carries specific deliverables tied to our sprints. VALIDATE is where AE1 and AE2 evidence comes from. Note that we are deliberately not claiming production validation - that is in the next slide on methodology and would be honest to flag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~60 seconds):
This slide does the LO5 work: identifying, contextualising, and applying appropriate practices within a professional, legal and ethical framework.
Three points:
1. Hybrid governance is deliberate. Pure Agile would not give Cisco the documentation discipline industry expects. Pure PRINCE2 would suppress the iterative sponsor feedback that improved the design. We use both, and we are explicit about which framework we are invoking when.
2. The risk register is real (R-001 through R-012, in PID Appendix A). It is reviewed at every sprint retrospective. Four risks were added during Sprint 3 alone as the correlator was implemented.
3. The ethics framing is the part of the rubric most projects skip. We do not. BCS, IET, and the automation paradox literature are referenced directly in the PID and shape concrete design decisions: the system has no architectural pathway to issue corrective network commands. It is diagnostic, not corrective. That boundary is enforced at the API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~50 seconds):
Five-stage pipeline at the top. Each stage is independently deployable, independently testable, and replaceable without downstream impact. Loose coupling and separation of concerns - Bass, Clements &amp; Kazman in the PID.
Stage 3 (CORRELATION) is the most architecturally interesting. We added Redis to the picture mid-Sprint 3 specifically to support the correlator's windowed grouping logic - SET NX EX leases give us single-emitter semantics for a window, source-key derivation from nodeLabel + ifIndex groups related events, and an idempotency marker prevents double-reporting. Demo will show this directly.
Two-plane separation at the bottom is also deliberate. The operational plane carries live alerts; the observability plane carries platform telemetry. Decoupling them means a Grafana outage cannot affect alert flow, and vice versa. Same architectural argument as the principle of separating logging from the system being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~50 seconds):
The three big numbers are the headline lab results. Walk through each:
43 of 43 Ansible startup tasks complete on cold-start with zero failures - this is the v4.1 release confirmed last week. Both minions register with status=up via the OpenNMS REST API. 94% categorisation accuracy on the test corpus.
Now the honest caveat. The lower half of the slide is doing important work for a marker reading at Distinction level. Many student projects present synthetic accuracy figures as if they were production predictions. We do not. These are internal consistency results - the test corpus was authored by us, the topology is FRRouting not Cisco IOS, and the alert rates tested are below those expected in a live NOC. Botta et al. (2012) is cited because the synthetic-data ceiling is a documented and well-understood evaluation limit, not a hedge.
The closing line - 'we do not claim what the evidence does not support' - is the methodological discipline the rubric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~60 seconds):
This slide answers the question every marker and sponsor wants asked: did you make conscious architectural choices, or did you just build what was easiest?
Pick two or three rows to talk through verbally. The first one (rule-based versus ML correlation) is the most rubric-relevant - it shows we understand the difference between a capability gap and a governance maturity decision. ML is not 'too hard for us'; it is the wrong tool when the explanation matters more than the prediction.
The third one (synthetic versus live Cisco IOS) is where we name the cost honestly. Risk R-001 in the PID is precisely about this gap. We do not pretend the synthetic environment proves what only a production deployment could prove.
If time permits, mention the RabbitMQ-to-Kafka switch as evidence of architectural responsiveness during Sprint 3 - we changed the broker mid-build because the correlator changed what we needed from it. That is iterative design, not flapping.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~45 seconds):
This slide is calibrated to the Distinction band specifically. The rubric criterion at 70+ is 'extraordinary, flawless, articulated, highly impressive'. What distinguishes a Distinction project at Level 6 is not the absence of difficulty but the documented honesty about difficulty.
Read the four findings at a comfortable pace. Each one is a moment where we could have hidden, or written around, an inconvenient discovery, and chose not to. The full account is in the Critical Reflection document submitted with AE2.
Optional verbal tag (depends on time): 'These are not failures. They are evidence of disciplined verification - exactly the practice the project's stated commitments to methodological honesty and governance maturity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10, ~40 seconds):
Twelve risks tracked total. Showing the six at High rating. Talk through R-001 (vendor syslog adaptation) and R-007 (the platform as attack surface). These two are the structural risks that any production deployment would need to close.
R-007 is worth landing verbally: a system with privileged automated SSH to many devices is itself a high-value target. We mitigate with RBAC, TLS, audit logging - but a full pen test is honestly deferred to v1. We do not pretend MVP-level controls are production controls.
Note PRINCE2 footprint: every risk is reviewed at sprint boundaries with documented status updates. Sprint 3 added R-009 to R-012 covering the new correlator.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11, ~20 seconds):
Brief handover slide. The next 7 minutes are the live demo. Walk through the storyboard verbally before switching to the lab terminal/UI.
If the demo runs long, drop step 5 (the cascade test) - steps 1 to 4 demonstrate the full single-event flow which is what the rubric needs.
If the lab fails to start (catastrophic): we have a recorded video fallback at the same URL. Acknowledge the failure honestly, do not paper over.
After demo, return to slide 12 for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12, ~15 seconds spoken; primarily for the demo presenter's reference):
This slide may not be on screen during the live demo; it serves as the storyboard the demo presenter follows.
Key timing discipline: do not skip step 1 (lab state). Even if the audience finds it boring, it establishes the baseline that everything else is verified against. Without it, an injection that 'works' could be on a stale lab.
If running over time at the 5:00 mark, drop the cascade test (step 5) and go straight to Q&amp;A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13, ~50 seconds):
This slide is the LO3 work (peer review reflection) and the LO6 work (collaboration). The rubric explicitly asks for reflection on what teams would identify in a code/document review.
Structure the spoken delivery as one paragraph per column. On the left, lead with the methodology - the strict step-by-step approach under deadline pressure was uncomfortable but it caught real defects (the heredoc that did not reach psql, the REST DELETE 405).
On the right, the most honest item is the rename timing. v4.1 four days from submission was tight. Not catastrophic, but a margin we would not want to repeat. Naming the lesson out loud is the discipline. The Cisco IOS syslog gap is also worth saying - it is the single largest open external-validity question for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14, ~40 seconds):
LO2 (evaluate opportunities for employment within the digital and technology industries) is often the rubric's least-engaged-with point in student presentations. We want to land it with concrete role-skill mapping, not vague 'we learned about teamwork'.
Three industry-relevant tracks. Walk through one or two depending on time. The SRE column is the most precise - we have applied the doctrine, not just read it.
Closing line: the project is in a public repository, with versioned tags, with a reference letter from Cisco available on request. The artefact stack itself is portfolio-grade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15):
Hold this slide for Q&amp;A. The repository link, the AE1 deliverable filename, and the Critical Reflection filename are all on screen so the panel can refer to them.
Anticipated questions:
Q: How would you defend the 94% categorisation figure to a Cisco engineer?
A: I would not defend it as production accuracy. It is internal consistency on a developer-authored test corpus against FRR syslog formats. Production validation requires labelled Cisco IOS samples; PID Section 10.3 is explicit. The figure demonstrates the rule engine works against the conditions it was designed for.
Q: Why did you not implement Netmiko for diagnostics?
A: We initially planned to. Mid-Sprint 3, we switched to Ansible community.docker.docker_container_exec for the v1.0 simulation MVP because read-only enforcement is cleaner as a static review of YAML than a runtime audit of an SSH session. Netmiko is scoped as a single-component swap for v1 production deployment.
Q: What would v1 production deployment require?
A: Cisco IOS syslog corpus capture, vendor-syslog adaptation of the rules, security audit of the ingestion endpoint and SSH pool, ServiceNow/Jira ticketing integration, ML plugin foundation once labelled production data exists. All scoped in PID Section 11.1.
Q: What would you do differently?
A: Schedule the rename pass two days earlier (avoid pre-submission pressure). Capture Cisco IOS samples earlier so external validity could be established within the academic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00BCEB"/>
          </a:solidFill>
          <a:ln w="12700">
            <a:solidFill>
              <a:srgbClr val="00BCEB"/>
            </a:solidFill>
            <a:prstDash val="solid"/>
          </a:ln>
        </p:spPr>
      </p:sp>
      <p:sp>
        <p:nvSpPr>
          <p:cNvPr id="3" name="Text 1"/>
          <p:cNvSpPr/>
          <p:nvPr/>
        </p:nvSpPr>
        <p:spPr>
          <a:xfrm>
            <a:off x="731520" y="1005840"/>
            <a:ext cx="10698480" cy="365760"/>
          </a:xfrm>
          <a:prstGeom prst="rect">
            <a:avLst/>
          </a:prstGeom>
          <a:noFill/>
          <a:ln/>
        </p:spPr>
        <p:txBody>
          <a:bodyPr wrap="square" lIns="0" tIns="0" rIns="0" bIns="0" rtlCol="0" anchor="ctr"/>
          <a:lstStyle/>
          <a:p>
            <a:pPr indent="0" marL="0">
              <a:buNone/>
            </a:pPr>
            <a:r>
              <a:rPr lang="en-US" sz="1400" b="1" spc="600" kern="0" dirty="0">
                <a:solidFill>
                  <a:srgbClr val="00BCEB"/>
                </a:solidFill>
                <a:latin typeface="Trebuchet MS" pitchFamily="34" charset="0"/>
                <a:ea typeface="Trebuchet MS" pitchFamily="34" charset="-122"/>
                <a:cs typeface="Trebuchet MS" pitchFamily="34" charset="-120"/>
              </a:rPr>
              <a:t>COM617  -  INDUSTRIAL CONSULTING PROJECT  -  AE2</a:t>
            </a:r>
            <a:endParaRPr lang="en-US" sz="1400" dirty="0"/>
          </a:p>
        </p:txBody>
      </p:sp>
      <p:sp>
        <p:nvSpPr>
          <p:cNvPr id="4" name="Text 2"/>
          <p:cNvSpPr/>
          <p:nvPr/>
        </p:nvSpPr>
        <p:spPr>
          <a:xfrm>
            <a:off x="731520" y="1554480"/>
            <a:ext cx="10698480" cy="1280160"/>
          </a:xfrm>
          <a:prstGeom prst="rect">
            <a:avLst/>
          </a:prstGeom>
          <a:noFill/>
          <a:ln/>
        </p:spPr>
        <p:txBody>
          <a:bodyPr wrap="square" lIns="0" tIns="0" rIns="0" bIns="0" rtlCol="0" anchor="ctr"/>
          <a:lstStyle/>
          <a:p>
            <a:pPr indent="0" marL="0">
              <a:buNone/>
            </a:pPr>
            <a:r>
              <a:rPr lang="en-US" sz="9600" b="1" spc="400" kern="0" dirty="0">
                <a:solidFill>
                  <a:srgbClr val="FFFFFF"/>
                </a:solidFill>
                <a:latin typeface="Trebuchet MS" pitchFamily="34" charset="0"/>
                <a:ea typeface="Trebuchet MS" pitchFamily="34" charset="-122"/>
                <a:cs typeface="Trebuchet MS" pitchFamily="34" charset="-120"/>
              </a:rPr>
              <a:t>MARR</a:t>
            </a:r>
            <a:endParaRPr lang="en-US" sz="9600" dirty="0"/>
          </a:p>
        </p:txBody>
      </p:sp>
      <p:sp>
        <p:nvSpPr>
          <p:cNvPr id="5" name="Text 3"/>
          <p:cNvSpPr/>
          <p:nvPr/>
        </p:nvSpPr>
        <p:spPr>
          <a:xfrm>
            <a:off x="731520" y="2926080"/>
            <a:ext cx="10698480" cy="502920"/>
          </a:xfrm>
          <a:prstGeom prst="rect">
            <a:avLst/>
          </a:prstGeom>
          <a:noFill/>
          <a:ln/>
        </p:spPr>
        <p:txBody>
          <a:bodyPr wrap="square" lIns="0" tIns="0" rIns="0" bIns="0" rtlCol="0" anchor="ctr"/>
          <a:lstStyle/>
          <a:p>
            <a:pPr indent="0" marL="0">
              <a:buNone/>
            </a:pPr>
            <a:r>
              <a:rPr lang="en-US" sz="2800" dirty="0">
                <a:solidFill>
                  <a:srgbClr val="FFFFFF"/>
                </a:solidFill>
                <a:latin typeface="Trebuchet MS" pitchFamily="34" charset="0"/>
                <a:ea typeface="Trebuchet MS" pitchFamily="34" charset="-122"/>
                <a:cs typeface="Trebuchet MS" pitchFamily="34" charset="-120"/>
              </a:rPr>
              <a:t>Automated Network Alert Triage, Diagnostics</a:t>
            </a:r>
            <a:endParaRPr lang="en-US" sz="2800" dirty="0"/>
          </a:p>
        </p:txBody>
      </p:sp>
      <p:sp>
        <p:nvSpPr>
          <p:cNvPr id="6" name="Text 4"/>
          <p:cNvSpPr/>
          <p:nvPr/>
        </p:nvSpPr>
        <p:spPr>
          <a:xfrm>
            <a:off x="731520" y="3429000"/>
            <a:ext cx="10698480" cy="502920"/>
          </a:xfrm>
          <a:prstGeom prst="rect">
            <a:avLst/>
          </a:prstGeom>
          <a:noFill/>
          <a:ln/>
        </p:spPr>
        <p:txBody>
          <a:bodyPr wrap="square" lIns="0" tIns="0" rIns="0" bIns="0" rtlCol="0" anchor="ctr"/>
          <a:lstStyle/>
          <a:p>
            <a:pPr indent="0" marL="0">
              <a:buNone/>
            </a:pPr>
            <a:r>
              <a:rPr lang="en-US" sz="2800" dirty="0">
                <a:solidFill>
                  <a:srgbClr val="FFFFFF"/>
                </a:solidFill>
                <a:latin typeface="Trebuchet MS" pitchFamily="34" charset="0"/>
                <a:ea typeface="Trebuchet MS" pitchFamily="34" charset="-122"/>
                <a:cs typeface="Trebuchet MS" pitchFamily="34" charset="-120"/>
              </a:rPr>
              <a:t>and Engineer-Ready Reporting</a:t>
            </a:r>
            <a:endParaRPr lang="en-US" sz="2800" dirty="0"/>
          </a:p>
        </p:txBody>
      </p:sp>
      <p:sp>
        <p:nvSpPr>
          <p:cNvPr id="7" name="Text 5"/>
          <p:cNvSpPr/>
          <p:nvPr/>
        </p:nvSpPr>
        <p:spPr>
          <a:xfrm>
            <a:off x="731520" y="4206240"/>
            <a:ext cx="10698480" cy="457200"/>
          </a:xfrm>
          <a:prstGeom prst="rect">
            <a:avLst/>
          </a:prstGeom>
          <a:noFill/>
          <a:ln/>
        </p:spPr>
        <p:txBody>
          <a:bodyPr wrap="square" lIns="0" tIns="0" rIns="0" bIns="0" rtlCol="0" anchor="ctr"/>
          <a:lstStyle/>
          <a:p>
            <a:pPr indent="0" marL="0">
              <a:buNone/>
            </a:pPr>
            <a:r>
              <a:rPr lang="en-US" sz="1800" i="1" spc="200" kern="0" dirty="0">
                <a:solidFill>
                  <a:srgbClr val="00BCEB"/>
                </a:solidFill>
                <a:latin typeface="Trebuchet MS" pitchFamily="34" charset="0"/>
                <a:ea typeface="Trebuchet MS" pitchFamily="34" charset="-122"/>
                <a:cs typeface="Trebuchet MS" pitchFamily="34" charset="-120"/>
              </a:rPr>
              <a:t>Monitor  /  Analyse  /  React  /  Report</a:t>
            </a:r>
            <a:endParaRPr lang="en-US" sz="1800" dirty="0"/>
          </a:p>
        </p:txBody>
      </p:sp>
      <p:sp>
        <p:nvSpPr>
          <p:cNvPr id="8" name="Shape 6"/>
          <p:cNvSpPr/>
          <p:nvPr/>
        </p:nvSpPr>
        <p:spPr>
          <a:xfrm>
            <a:off x="731520" y="5212080"/>
            <a:ext cx="10698480" cy="36576"/>
          </a:xfrm>
          <a:prstGeom prst="rect">
            <a:avLst/>
          </a:prstGeom>
          <a:solidFill>
            <a:srgbClr val="00BCEB"/>
          </a:solidFill>
          <a:ln w="12700">
            <a:solidFill>
              <a:srgbClr val="00BCEB"/>
            </a:solidFill>
            <a:prstDash val="solid"/>
          </a:ln>
        </p:spPr>
      </p:sp>
      <p:sp>
        <p:nvSpPr>
          <p:cNvPr id="9" name="Text 7"/>
          <p:cNvSpPr/>
          <p:nvPr/>
        </p:nvSpPr>
        <p:spPr>
          <a:xfrm>
            <a:off x="731520" y="5349240"/>
            <a:ext cx="10698480" cy="36576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Group 15</a:t>
            </a:r>
            <a:pPr indent="0" marL="0">
              <a:buNone/>
            </a:pPr>
            <a:r>
              <a:rPr lang="en-US" sz="1400" dirty="0">
                <a:solidFill>
                  <a:srgbClr val="E2E8F0"/>
                </a:solidFill>
                <a:latin typeface="Trebuchet MS" pitchFamily="34" charset="0"/>
                <a:ea typeface="Trebuchet MS" pitchFamily="34" charset="-122"/>
                <a:cs typeface="Trebuchet MS" pitchFamily="34" charset="-120"/>
              </a:rPr>
              <a:t xml:space="preserve">  -  Industry Sponsor: Cisco Systems (James Whale, SRE)</a:t>
            </a:r>
            <a:endParaRPr lang="en-US" sz="1400" dirty="0"/>
          </a:p>
        </p:txBody>
      </p:sp>
      <p:sp>
        <p:nvSpPr>
          <p:cNvPr id="10" name="Text 8"/>
          <p:cNvSpPr/>
          <p:nvPr/>
        </p:nvSpPr>
        <p:spPr>
          <a:xfrm>
            <a:off x="731520" y="5760720"/>
            <a:ext cx="10698480" cy="365760"/>
          </a:xfrm>
          <a:prstGeom prst="rect">
            <a:avLst/>
          </a:prstGeom>
          <a:noFill/>
          <a:ln/>
        </p:spPr>
        <p:txBody>
          <a:bodyPr wrap="square" lIns="0" tIns="0" rIns="0" bIns="0" rtlCol="0" anchor="ctr"/>
          <a:lstStyle/>
          <a:p>
            <a:pPr indent="0" marL="0">
              <a:buNone/>
            </a:pPr>
            <a:r>
              <a:rPr lang="en-US" sz="1300" dirty="0">
                <a:solidFill>
                  <a:srgbClr val="E2E8F0"/>
                </a:solidFill>
                <a:latin typeface="Trebuchet MS" pitchFamily="34" charset="0"/>
                <a:ea typeface="Trebuchet MS" pitchFamily="34" charset="-122"/>
                <a:cs typeface="Trebuchet MS" pitchFamily="34" charset="-120"/>
              </a:rPr>
              <a:t>Academic Supervisor: Craig Gallen  -  Southampton Solent University</a:t>
            </a:r>
            <a:endParaRPr lang="en-US" sz="1300" dirty="0"/>
          </a:p>
        </p:txBody>
      </p:sp>
      <p:sp>
        <p:nvSpPr>
          <p:cNvPr id="11" name="Text 9"/>
          <p:cNvSpPr/>
          <p:nvPr/>
        </p:nvSpPr>
        <p:spPr>
          <a:xfrm>
            <a:off x="731520" y="6126480"/>
            <a:ext cx="10698480" cy="365760"/>
          </a:xfrm>
          <a:prstGeom prst="rect">
            <a:avLst/>
          </a:prstGeom>
          <a:noFill/>
          <a:ln/>
        </p:spPr>
        <p:txBody>
          <a:bodyPr wrap="square" lIns="0" tIns="0" rIns="0" bIns="0" rtlCol="0" anchor="ctr"/>
          <a:lstStyle/>
          <a:p>
            <a:pPr indent="0" marL="0">
              <a:buNone/>
            </a:pPr>
            <a:r>
              <a:rPr lang="en-US" sz="1200" i="1" dirty="0">
                <a:solidFill>
                  <a:srgbClr val="64748B"/>
                </a:solidFill>
                <a:latin typeface="Trebuchet MS" pitchFamily="34" charset="0"/>
                <a:ea typeface="Trebuchet MS" pitchFamily="34" charset="-122"/>
                <a:cs typeface="Trebuchet MS" pitchFamily="34" charset="-120"/>
              </a:rPr>
              <a:t>Submission Week: 15 May 2026  |  Release: v4.1 (commit b4b7696)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01  /  PROBLEM CONTEXT</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What Cisco Asked For</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The brief, in one slide</a:t>
            </a:r>
            <a:endParaRPr lang="en-US" sz="1400" dirty="0"/>
          </a:p>
        </p:txBody>
      </p:sp>
      <p:sp>
        <p:nvSpPr>
          <p:cNvPr id="9" name="Shape 7"/>
          <p:cNvSpPr/>
          <p:nvPr/>
        </p:nvSpPr>
        <p:spPr>
          <a:xfrm>
            <a:off x="548640" y="2194560"/>
            <a:ext cx="25603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548640" y="2194560"/>
            <a:ext cx="2560320" cy="73152"/>
          </a:xfrm>
          <a:prstGeom prst="rect">
            <a:avLst/>
          </a:prstGeom>
          <a:solidFill>
            <a:srgbClr val="00BCEB"/>
          </a:solidFill>
          <a:ln w="12700">
            <a:solidFill>
              <a:srgbClr val="00BCEB"/>
            </a:solidFill>
            <a:prstDash val="solid"/>
          </a:ln>
        </p:spPr>
      </p:sp>
      <p:sp>
        <p:nvSpPr>
          <p:cNvPr id="11" name="Text 9"/>
          <p:cNvSpPr/>
          <p:nvPr/>
        </p:nvSpPr>
        <p:spPr>
          <a:xfrm>
            <a:off x="548640" y="2423160"/>
            <a:ext cx="2560320" cy="914400"/>
          </a:xfrm>
          <a:prstGeom prst="rect">
            <a:avLst/>
          </a:prstGeom>
          <a:noFill/>
          <a:ln/>
        </p:spPr>
        <p:txBody>
          <a:bodyPr wrap="square" lIns="0" tIns="0" rIns="0" bIns="0" rtlCol="0" anchor="ctr"/>
          <a:lstStyle/>
          <a:p>
            <a:pPr algn="ctr" indent="0" marL="0">
              <a:buNone/>
            </a:pPr>
            <a:r>
              <a:rPr lang="en-US" sz="6400" b="1" dirty="0">
                <a:solidFill>
                  <a:srgbClr val="00BCEB"/>
                </a:solidFill>
                <a:latin typeface="Trebuchet MS" pitchFamily="34" charset="0"/>
                <a:ea typeface="Trebuchet MS" pitchFamily="34" charset="-122"/>
                <a:cs typeface="Trebuchet MS" pitchFamily="34" charset="-120"/>
              </a:rPr>
              <a:t>M</a:t>
            </a:r>
            <a:endParaRPr lang="en-US" sz="6400" dirty="0"/>
          </a:p>
        </p:txBody>
      </p:sp>
      <p:sp>
        <p:nvSpPr>
          <p:cNvPr id="12" name="Text 10"/>
          <p:cNvSpPr/>
          <p:nvPr/>
        </p:nvSpPr>
        <p:spPr>
          <a:xfrm>
            <a:off x="548640" y="3337560"/>
            <a:ext cx="2560320" cy="320040"/>
          </a:xfrm>
          <a:prstGeom prst="rect">
            <a:avLst/>
          </a:prstGeom>
          <a:noFill/>
          <a:ln/>
        </p:spPr>
        <p:txBody>
          <a:bodyPr wrap="square" lIns="0" tIns="0" rIns="0" bIns="0" rtlCol="0" anchor="ctr"/>
          <a:lstStyle/>
          <a:p>
            <a:pPr algn="ctr" indent="0" marL="0">
              <a:buNone/>
            </a:pPr>
            <a:r>
              <a:rPr lang="en-US" sz="1400" b="1" spc="400" kern="0" dirty="0">
                <a:solidFill>
                  <a:srgbClr val="0A2540"/>
                </a:solidFill>
                <a:latin typeface="Trebuchet MS" pitchFamily="34" charset="0"/>
                <a:ea typeface="Trebuchet MS" pitchFamily="34" charset="-122"/>
                <a:cs typeface="Trebuchet MS" pitchFamily="34" charset="-120"/>
              </a:rPr>
              <a:t>MONITOR</a:t>
            </a:r>
            <a:endParaRPr lang="en-US" sz="1400" dirty="0"/>
          </a:p>
        </p:txBody>
      </p:sp>
      <p:sp>
        <p:nvSpPr>
          <p:cNvPr id="13" name="Text 11"/>
          <p:cNvSpPr/>
          <p:nvPr/>
        </p:nvSpPr>
        <p:spPr>
          <a:xfrm>
            <a:off x="777240" y="3749040"/>
            <a:ext cx="2103120" cy="777240"/>
          </a:xfrm>
          <a:prstGeom prst="rect">
            <a:avLst/>
          </a:prstGeom>
          <a:noFill/>
          <a:ln/>
        </p:spPr>
        <p:txBody>
          <a:bodyPr wrap="square" lIns="0" tIns="0" rIns="0" bIns="0" rtlCol="0" anchor="t"/>
          <a:lstStyle/>
          <a:p>
            <a:pPr algn="ctr" indent="0" marL="0">
              <a:buNone/>
            </a:pPr>
            <a:r>
              <a:rPr lang="en-US" sz="1100" dirty="0">
                <a:solidFill>
                  <a:srgbClr val="334155"/>
                </a:solidFill>
                <a:latin typeface="Trebuchet MS" pitchFamily="34" charset="0"/>
                <a:ea typeface="Trebuchet MS" pitchFamily="34" charset="-122"/>
                <a:cs typeface="Trebuchet MS" pitchFamily="34" charset="-120"/>
              </a:rPr>
              <a:t>Receive alerts from network equipment</a:t>
            </a:r>
            <a:endParaRPr lang="en-US" sz="1100" dirty="0"/>
          </a:p>
        </p:txBody>
      </p:sp>
      <p:sp>
        <p:nvSpPr>
          <p:cNvPr id="14" name="Shape 12"/>
          <p:cNvSpPr/>
          <p:nvPr/>
        </p:nvSpPr>
        <p:spPr>
          <a:xfrm>
            <a:off x="3383280" y="2194560"/>
            <a:ext cx="25603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3383280" y="2194560"/>
            <a:ext cx="2560320" cy="73152"/>
          </a:xfrm>
          <a:prstGeom prst="rect">
            <a:avLst/>
          </a:prstGeom>
          <a:solidFill>
            <a:srgbClr val="1B4965"/>
          </a:solidFill>
          <a:ln w="12700">
            <a:solidFill>
              <a:srgbClr val="1B4965"/>
            </a:solidFill>
            <a:prstDash val="solid"/>
          </a:ln>
        </p:spPr>
      </p:sp>
      <p:sp>
        <p:nvSpPr>
          <p:cNvPr id="16" name="Text 14"/>
          <p:cNvSpPr/>
          <p:nvPr/>
        </p:nvSpPr>
        <p:spPr>
          <a:xfrm>
            <a:off x="3383280" y="2423160"/>
            <a:ext cx="2560320" cy="914400"/>
          </a:xfrm>
          <a:prstGeom prst="rect">
            <a:avLst/>
          </a:prstGeom>
          <a:noFill/>
          <a:ln/>
        </p:spPr>
        <p:txBody>
          <a:bodyPr wrap="square" lIns="0" tIns="0" rIns="0" bIns="0" rtlCol="0" anchor="ctr"/>
          <a:lstStyle/>
          <a:p>
            <a:pPr algn="ctr" indent="0" marL="0">
              <a:buNone/>
            </a:pPr>
            <a:r>
              <a:rPr lang="en-US" sz="6400" b="1" dirty="0">
                <a:solidFill>
                  <a:srgbClr val="1B4965"/>
                </a:solidFill>
                <a:latin typeface="Trebuchet MS" pitchFamily="34" charset="0"/>
                <a:ea typeface="Trebuchet MS" pitchFamily="34" charset="-122"/>
                <a:cs typeface="Trebuchet MS" pitchFamily="34" charset="-120"/>
              </a:rPr>
              <a:t>A</a:t>
            </a:r>
            <a:endParaRPr lang="en-US" sz="6400" dirty="0"/>
          </a:p>
        </p:txBody>
      </p:sp>
      <p:sp>
        <p:nvSpPr>
          <p:cNvPr id="17" name="Text 15"/>
          <p:cNvSpPr/>
          <p:nvPr/>
        </p:nvSpPr>
        <p:spPr>
          <a:xfrm>
            <a:off x="3383280" y="3337560"/>
            <a:ext cx="2560320" cy="320040"/>
          </a:xfrm>
          <a:prstGeom prst="rect">
            <a:avLst/>
          </a:prstGeom>
          <a:noFill/>
          <a:ln/>
        </p:spPr>
        <p:txBody>
          <a:bodyPr wrap="square" lIns="0" tIns="0" rIns="0" bIns="0" rtlCol="0" anchor="ctr"/>
          <a:lstStyle/>
          <a:p>
            <a:pPr algn="ctr" indent="0" marL="0">
              <a:buNone/>
            </a:pPr>
            <a:r>
              <a:rPr lang="en-US" sz="1400" b="1" spc="400" kern="0" dirty="0">
                <a:solidFill>
                  <a:srgbClr val="0A2540"/>
                </a:solidFill>
                <a:latin typeface="Trebuchet MS" pitchFamily="34" charset="0"/>
                <a:ea typeface="Trebuchet MS" pitchFamily="34" charset="-122"/>
                <a:cs typeface="Trebuchet MS" pitchFamily="34" charset="-120"/>
              </a:rPr>
              <a:t>ANALYSE</a:t>
            </a:r>
            <a:endParaRPr lang="en-US" sz="1400" dirty="0"/>
          </a:p>
        </p:txBody>
      </p:sp>
      <p:sp>
        <p:nvSpPr>
          <p:cNvPr id="18" name="Text 16"/>
          <p:cNvSpPr/>
          <p:nvPr/>
        </p:nvSpPr>
        <p:spPr>
          <a:xfrm>
            <a:off x="3611880" y="3749040"/>
            <a:ext cx="2103120" cy="777240"/>
          </a:xfrm>
          <a:prstGeom prst="rect">
            <a:avLst/>
          </a:prstGeom>
          <a:noFill/>
          <a:ln/>
        </p:spPr>
        <p:txBody>
          <a:bodyPr wrap="square" lIns="0" tIns="0" rIns="0" bIns="0" rtlCol="0" anchor="t"/>
          <a:lstStyle/>
          <a:p>
            <a:pPr algn="ctr" indent="0" marL="0">
              <a:buNone/>
            </a:pPr>
            <a:r>
              <a:rPr lang="en-US" sz="1100" dirty="0">
                <a:solidFill>
                  <a:srgbClr val="334155"/>
                </a:solidFill>
                <a:latin typeface="Trebuchet MS" pitchFamily="34" charset="0"/>
                <a:ea typeface="Trebuchet MS" pitchFamily="34" charset="-122"/>
                <a:cs typeface="Trebuchet MS" pitchFamily="34" charset="-120"/>
              </a:rPr>
              <a:t>Interpret events and determine fault type</a:t>
            </a:r>
            <a:endParaRPr lang="en-US" sz="1100" dirty="0"/>
          </a:p>
        </p:txBody>
      </p:sp>
      <p:sp>
        <p:nvSpPr>
          <p:cNvPr id="19" name="Shape 17"/>
          <p:cNvSpPr/>
          <p:nvPr/>
        </p:nvSpPr>
        <p:spPr>
          <a:xfrm>
            <a:off x="6217920" y="2194560"/>
            <a:ext cx="25603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217920" y="2194560"/>
            <a:ext cx="2560320" cy="73152"/>
          </a:xfrm>
          <a:prstGeom prst="rect">
            <a:avLst/>
          </a:prstGeom>
          <a:solidFill>
            <a:srgbClr val="F59E0B"/>
          </a:solidFill>
          <a:ln w="12700">
            <a:solidFill>
              <a:srgbClr val="F59E0B"/>
            </a:solidFill>
            <a:prstDash val="solid"/>
          </a:ln>
        </p:spPr>
      </p:sp>
      <p:sp>
        <p:nvSpPr>
          <p:cNvPr id="21" name="Text 19"/>
          <p:cNvSpPr/>
          <p:nvPr/>
        </p:nvSpPr>
        <p:spPr>
          <a:xfrm>
            <a:off x="6217920" y="2423160"/>
            <a:ext cx="2560320" cy="914400"/>
          </a:xfrm>
          <a:prstGeom prst="rect">
            <a:avLst/>
          </a:prstGeom>
          <a:noFill/>
          <a:ln/>
        </p:spPr>
        <p:txBody>
          <a:bodyPr wrap="square" lIns="0" tIns="0" rIns="0" bIns="0" rtlCol="0" anchor="ctr"/>
          <a:lstStyle/>
          <a:p>
            <a:pPr algn="ctr" indent="0" marL="0">
              <a:buNone/>
            </a:pPr>
            <a:r>
              <a:rPr lang="en-US" sz="6400" b="1" dirty="0">
                <a:solidFill>
                  <a:srgbClr val="F59E0B"/>
                </a:solidFill>
                <a:latin typeface="Trebuchet MS" pitchFamily="34" charset="0"/>
                <a:ea typeface="Trebuchet MS" pitchFamily="34" charset="-122"/>
                <a:cs typeface="Trebuchet MS" pitchFamily="34" charset="-120"/>
              </a:rPr>
              <a:t>R</a:t>
            </a:r>
            <a:endParaRPr lang="en-US" sz="6400" dirty="0"/>
          </a:p>
        </p:txBody>
      </p:sp>
      <p:sp>
        <p:nvSpPr>
          <p:cNvPr id="22" name="Text 20"/>
          <p:cNvSpPr/>
          <p:nvPr/>
        </p:nvSpPr>
        <p:spPr>
          <a:xfrm>
            <a:off x="6217920" y="3337560"/>
            <a:ext cx="2560320" cy="320040"/>
          </a:xfrm>
          <a:prstGeom prst="rect">
            <a:avLst/>
          </a:prstGeom>
          <a:noFill/>
          <a:ln/>
        </p:spPr>
        <p:txBody>
          <a:bodyPr wrap="square" lIns="0" tIns="0" rIns="0" bIns="0" rtlCol="0" anchor="ctr"/>
          <a:lstStyle/>
          <a:p>
            <a:pPr algn="ctr" indent="0" marL="0">
              <a:buNone/>
            </a:pPr>
            <a:r>
              <a:rPr lang="en-US" sz="1400" b="1" spc="400" kern="0" dirty="0">
                <a:solidFill>
                  <a:srgbClr val="0A2540"/>
                </a:solidFill>
                <a:latin typeface="Trebuchet MS" pitchFamily="34" charset="0"/>
                <a:ea typeface="Trebuchet MS" pitchFamily="34" charset="-122"/>
                <a:cs typeface="Trebuchet MS" pitchFamily="34" charset="-120"/>
              </a:rPr>
              <a:t>REACT</a:t>
            </a:r>
            <a:endParaRPr lang="en-US" sz="1400" dirty="0"/>
          </a:p>
        </p:txBody>
      </p:sp>
      <p:sp>
        <p:nvSpPr>
          <p:cNvPr id="23" name="Text 21"/>
          <p:cNvSpPr/>
          <p:nvPr/>
        </p:nvSpPr>
        <p:spPr>
          <a:xfrm>
            <a:off x="6446520" y="3749040"/>
            <a:ext cx="2103120" cy="777240"/>
          </a:xfrm>
          <a:prstGeom prst="rect">
            <a:avLst/>
          </a:prstGeom>
          <a:noFill/>
          <a:ln/>
        </p:spPr>
        <p:txBody>
          <a:bodyPr wrap="square" lIns="0" tIns="0" rIns="0" bIns="0" rtlCol="0" anchor="t"/>
          <a:lstStyle/>
          <a:p>
            <a:pPr algn="ctr" indent="0" marL="0">
              <a:buNone/>
            </a:pPr>
            <a:r>
              <a:rPr lang="en-US" sz="1100" dirty="0">
                <a:solidFill>
                  <a:srgbClr val="334155"/>
                </a:solidFill>
                <a:latin typeface="Trebuchet MS" pitchFamily="34" charset="0"/>
                <a:ea typeface="Trebuchet MS" pitchFamily="34" charset="-122"/>
                <a:cs typeface="Trebuchet MS" pitchFamily="34" charset="-120"/>
              </a:rPr>
              <a:t>Execute fault-specific diagnostics automatically</a:t>
            </a:r>
            <a:endParaRPr lang="en-US" sz="1100" dirty="0"/>
          </a:p>
        </p:txBody>
      </p:sp>
      <p:sp>
        <p:nvSpPr>
          <p:cNvPr id="24" name="Shape 22"/>
          <p:cNvSpPr/>
          <p:nvPr/>
        </p:nvSpPr>
        <p:spPr>
          <a:xfrm>
            <a:off x="9052560" y="2194560"/>
            <a:ext cx="2560320" cy="23774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25" name="Shape 23"/>
          <p:cNvSpPr/>
          <p:nvPr/>
        </p:nvSpPr>
        <p:spPr>
          <a:xfrm>
            <a:off x="9052560" y="2194560"/>
            <a:ext cx="2560320" cy="73152"/>
          </a:xfrm>
          <a:prstGeom prst="rect">
            <a:avLst/>
          </a:prstGeom>
          <a:solidFill>
            <a:srgbClr val="10B981"/>
          </a:solidFill>
          <a:ln w="12700">
            <a:solidFill>
              <a:srgbClr val="10B981"/>
            </a:solidFill>
            <a:prstDash val="solid"/>
          </a:ln>
        </p:spPr>
      </p:sp>
      <p:sp>
        <p:nvSpPr>
          <p:cNvPr id="26" name="Text 24"/>
          <p:cNvSpPr/>
          <p:nvPr/>
        </p:nvSpPr>
        <p:spPr>
          <a:xfrm>
            <a:off x="9052560" y="2423160"/>
            <a:ext cx="2560320" cy="914400"/>
          </a:xfrm>
          <a:prstGeom prst="rect">
            <a:avLst/>
          </a:prstGeom>
          <a:noFill/>
          <a:ln/>
        </p:spPr>
        <p:txBody>
          <a:bodyPr wrap="square" lIns="0" tIns="0" rIns="0" bIns="0" rtlCol="0" anchor="ctr"/>
          <a:lstStyle/>
          <a:p>
            <a:pPr algn="ctr" indent="0" marL="0">
              <a:buNone/>
            </a:pPr>
            <a:r>
              <a:rPr lang="en-US" sz="6400" b="1" dirty="0">
                <a:solidFill>
                  <a:srgbClr val="10B981"/>
                </a:solidFill>
                <a:latin typeface="Trebuchet MS" pitchFamily="34" charset="0"/>
                <a:ea typeface="Trebuchet MS" pitchFamily="34" charset="-122"/>
                <a:cs typeface="Trebuchet MS" pitchFamily="34" charset="-120"/>
              </a:rPr>
              <a:t>R</a:t>
            </a:r>
            <a:endParaRPr lang="en-US" sz="6400" dirty="0"/>
          </a:p>
        </p:txBody>
      </p:sp>
      <p:sp>
        <p:nvSpPr>
          <p:cNvPr id="27" name="Text 25"/>
          <p:cNvSpPr/>
          <p:nvPr/>
        </p:nvSpPr>
        <p:spPr>
          <a:xfrm>
            <a:off x="9052560" y="3337560"/>
            <a:ext cx="2560320" cy="320040"/>
          </a:xfrm>
          <a:prstGeom prst="rect">
            <a:avLst/>
          </a:prstGeom>
          <a:noFill/>
          <a:ln/>
        </p:spPr>
        <p:txBody>
          <a:bodyPr wrap="square" lIns="0" tIns="0" rIns="0" bIns="0" rtlCol="0" anchor="ctr"/>
          <a:lstStyle/>
          <a:p>
            <a:pPr algn="ctr" indent="0" marL="0">
              <a:buNone/>
            </a:pPr>
            <a:r>
              <a:rPr lang="en-US" sz="1400" b="1" spc="400" kern="0" dirty="0">
                <a:solidFill>
                  <a:srgbClr val="0A2540"/>
                </a:solidFill>
                <a:latin typeface="Trebuchet MS" pitchFamily="34" charset="0"/>
                <a:ea typeface="Trebuchet MS" pitchFamily="34" charset="-122"/>
                <a:cs typeface="Trebuchet MS" pitchFamily="34" charset="-120"/>
              </a:rPr>
              <a:t>REPORT</a:t>
            </a:r>
            <a:endParaRPr lang="en-US" sz="1400" dirty="0"/>
          </a:p>
        </p:txBody>
      </p:sp>
      <p:sp>
        <p:nvSpPr>
          <p:cNvPr id="28" name="Text 26"/>
          <p:cNvSpPr/>
          <p:nvPr/>
        </p:nvSpPr>
        <p:spPr>
          <a:xfrm>
            <a:off x="9281160" y="3749040"/>
            <a:ext cx="2103120" cy="777240"/>
          </a:xfrm>
          <a:prstGeom prst="rect">
            <a:avLst/>
          </a:prstGeom>
          <a:noFill/>
          <a:ln/>
        </p:spPr>
        <p:txBody>
          <a:bodyPr wrap="square" lIns="0" tIns="0" rIns="0" bIns="0" rtlCol="0" anchor="t"/>
          <a:lstStyle/>
          <a:p>
            <a:pPr algn="ctr" indent="0" marL="0">
              <a:buNone/>
            </a:pPr>
            <a:r>
              <a:rPr lang="en-US" sz="1100" dirty="0">
                <a:solidFill>
                  <a:srgbClr val="334155"/>
                </a:solidFill>
                <a:latin typeface="Trebuchet MS" pitchFamily="34" charset="0"/>
                <a:ea typeface="Trebuchet MS" pitchFamily="34" charset="-122"/>
                <a:cs typeface="Trebuchet MS" pitchFamily="34" charset="-120"/>
              </a:rPr>
              <a:t>Deliver engineer-ready reports across multiple channels</a:t>
            </a:r>
            <a:endParaRPr lang="en-US" sz="1100" dirty="0"/>
          </a:p>
        </p:txBody>
      </p:sp>
      <p:sp>
        <p:nvSpPr>
          <p:cNvPr id="29" name="Text 27"/>
          <p:cNvSpPr/>
          <p:nvPr/>
        </p:nvSpPr>
        <p:spPr>
          <a:xfrm>
            <a:off x="731520" y="4937760"/>
            <a:ext cx="10698480" cy="457200"/>
          </a:xfrm>
          <a:prstGeom prst="rect">
            <a:avLst/>
          </a:prstGeom>
          <a:noFill/>
          <a:ln/>
        </p:spPr>
        <p:txBody>
          <a:bodyPr wrap="square" lIns="0" tIns="0" rIns="0" bIns="0" rtlCol="0" anchor="ctr"/>
          <a:lstStyle/>
          <a:p>
            <a:pPr algn="ctr" indent="0" marL="0">
              <a:buNone/>
            </a:pPr>
            <a:r>
              <a:rPr lang="en-US" sz="1300" i="1" dirty="0">
                <a:solidFill>
                  <a:srgbClr val="334155"/>
                </a:solidFill>
                <a:latin typeface="Trebuchet MS" pitchFamily="34" charset="0"/>
                <a:ea typeface="Trebuchet MS" pitchFamily="34" charset="-122"/>
                <a:cs typeface="Trebuchet MS" pitchFamily="34" charset="-120"/>
              </a:rPr>
              <a:t>Sponsor priority: a vendor-agnostic, plugin-based framework that NOC engineers can extend without core refactoring.</a:t>
            </a:r>
            <a:endParaRPr lang="en-US" sz="1300" dirty="0"/>
          </a:p>
        </p:txBody>
      </p:sp>
      <p:sp>
        <p:nvSpPr>
          <p:cNvPr id="30" name="Shape 28"/>
          <p:cNvSpPr/>
          <p:nvPr/>
        </p:nvSpPr>
        <p:spPr>
          <a:xfrm>
            <a:off x="731520" y="5486400"/>
            <a:ext cx="10698480" cy="594360"/>
          </a:xfrm>
          <a:prstGeom prst="rect">
            <a:avLst/>
          </a:prstGeom>
          <a:solidFill>
            <a:srgbClr val="0A2540"/>
          </a:solidFill>
          <a:ln w="12700">
            <a:solidFill>
              <a:srgbClr val="0A2540"/>
            </a:solidFill>
            <a:prstDash val="solid"/>
          </a:ln>
        </p:spPr>
      </p:sp>
      <p:sp>
        <p:nvSpPr>
          <p:cNvPr id="31" name="Text 29"/>
          <p:cNvSpPr/>
          <p:nvPr/>
        </p:nvSpPr>
        <p:spPr>
          <a:xfrm>
            <a:off x="914400" y="5486400"/>
            <a:ext cx="10332720" cy="594360"/>
          </a:xfrm>
          <a:prstGeom prst="rect">
            <a:avLst/>
          </a:prstGeom>
          <a:noFill/>
          <a:ln/>
        </p:spPr>
        <p:txBody>
          <a:bodyPr wrap="square" lIns="0" tIns="0" rIns="0" bIns="0" rtlCol="0" anchor="ctr"/>
          <a:lstStyle/>
          <a:p>
            <a:pPr indent="0" marL="0">
              <a:buNone/>
            </a:pPr>
            <a:r>
              <a:rPr lang="en-US" sz="1100" b="1" spc="400" kern="0" dirty="0">
                <a:solidFill>
                  <a:srgbClr val="00BCEB"/>
                </a:solidFill>
                <a:latin typeface="Trebuchet MS" pitchFamily="34" charset="0"/>
                <a:ea typeface="Trebuchet MS" pitchFamily="34" charset="-122"/>
                <a:cs typeface="Trebuchet MS" pitchFamily="34" charset="-120"/>
              </a:rPr>
              <a:t xml:space="preserve">INDUSTRY CONTEXT  </a:t>
            </a:r>
            <a:pPr indent="0" marL="0">
              <a:buNone/>
            </a:pPr>
            <a:r>
              <a:rPr lang="en-US" sz="1100" dirty="0">
                <a:solidFill>
                  <a:srgbClr val="FFFFFF"/>
                </a:solidFill>
                <a:latin typeface="Trebuchet MS" pitchFamily="34" charset="0"/>
                <a:ea typeface="Trebuchet MS" pitchFamily="34" charset="-122"/>
                <a:cs typeface="Trebuchet MS" pitchFamily="34" charset="-120"/>
              </a:rPr>
              <a:t>Alert fatigue is documented as a structural operational risk in NOCs (IEEE 2024). Existing NMS tools improve observability, not interpretability.</a:t>
            </a:r>
            <a:endParaRPr lang="en-US" sz="1100" dirty="0"/>
          </a:p>
        </p:txBody>
      </p:sp>
      <p:sp>
        <p:nvSpPr>
          <p:cNvPr id="32" name="Shape 30"/>
          <p:cNvSpPr/>
          <p:nvPr/>
        </p:nvSpPr>
        <p:spPr>
          <a:xfrm>
            <a:off x="0" y="6565392"/>
            <a:ext cx="12161520" cy="292608"/>
          </a:xfrm>
          <a:prstGeom prst="rect">
            <a:avLst/>
          </a:prstGeom>
          <a:solidFill>
            <a:srgbClr val="0A2540"/>
          </a:solidFill>
          <a:ln w="12700">
            <a:solidFill>
              <a:srgbClr val="0A2540"/>
            </a:solidFill>
            <a:prstDash val="solid"/>
          </a:ln>
        </p:spPr>
      </p:sp>
      <p:sp>
        <p:nvSpPr>
          <p:cNvPr id="33" name="Text 31"/>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34" name="Text 32"/>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01  /  PROBLEM CONTEXT</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Why This Matters to Cisco</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Industry change, automation paradox, and the right success metric</a:t>
            </a:r>
            <a:endParaRPr lang="en-US" sz="1400" dirty="0"/>
          </a:p>
        </p:txBody>
      </p:sp>
      <p:sp>
        <p:nvSpPr>
          <p:cNvPr id="9" name="Shape 7"/>
          <p:cNvSpPr/>
          <p:nvPr/>
        </p:nvSpPr>
        <p:spPr>
          <a:xfrm>
            <a:off x="548640" y="2103120"/>
            <a:ext cx="5303520" cy="3931920"/>
          </a:xfrm>
          <a:prstGeom prst="rect">
            <a:avLst/>
          </a:prstGeom>
          <a:solidFill>
            <a:srgbClr val="FFFFFF"/>
          </a:solidFill>
          <a:ln w="12700">
            <a:solidFill>
              <a:srgbClr val="E2E8F0"/>
            </a:solidFill>
            <a:prstDash val="solid"/>
          </a:ln>
        </p:spPr>
      </p:sp>
      <p:sp>
        <p:nvSpPr>
          <p:cNvPr id="10" name="Shape 8"/>
          <p:cNvSpPr/>
          <p:nvPr/>
        </p:nvSpPr>
        <p:spPr>
          <a:xfrm>
            <a:off x="548640" y="2103120"/>
            <a:ext cx="73152" cy="3931920"/>
          </a:xfrm>
          <a:prstGeom prst="rect">
            <a:avLst/>
          </a:prstGeom>
          <a:solidFill>
            <a:srgbClr val="00BCEB"/>
          </a:solidFill>
          <a:ln w="12700">
            <a:solidFill>
              <a:srgbClr val="00BCEB"/>
            </a:solidFill>
            <a:prstDash val="solid"/>
          </a:ln>
        </p:spPr>
      </p:sp>
      <p:sp>
        <p:nvSpPr>
          <p:cNvPr id="11" name="Text 9"/>
          <p:cNvSpPr/>
          <p:nvPr/>
        </p:nvSpPr>
        <p:spPr>
          <a:xfrm>
            <a:off x="822960" y="2240280"/>
            <a:ext cx="4937760" cy="36576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INDUSTRY CHANGE PRESSURE</a:t>
            </a:r>
            <a:endParaRPr lang="en-US" sz="1200" dirty="0"/>
          </a:p>
        </p:txBody>
      </p:sp>
      <p:sp>
        <p:nvSpPr>
          <p:cNvPr id="12" name="Text 10"/>
          <p:cNvSpPr/>
          <p:nvPr/>
        </p:nvSpPr>
        <p:spPr>
          <a:xfrm>
            <a:off x="822960" y="2697480"/>
            <a:ext cx="4846320" cy="3291840"/>
          </a:xfrm>
          <a:prstGeom prst="rect">
            <a:avLst/>
          </a:prstGeom>
          <a:noFill/>
          <a:ln/>
        </p:spPr>
        <p:txBody>
          <a:bodyPr wrap="square" lIns="0" tIns="0" rIns="0" bIns="0" rtlCol="0" anchor="t"/>
          <a:lstStyle/>
          <a:p>
            <a:pPr indent="0" marL="0">
              <a:spcAft>
                <a:spcPts val="600"/>
              </a:spcAft>
              <a:buNone/>
            </a:pPr>
            <a:r>
              <a:rPr lang="en-US" sz="1200" dirty="0">
                <a:solidFill>
                  <a:srgbClr val="0F172A"/>
                </a:solidFill>
                <a:latin typeface="Trebuchet MS" pitchFamily="34" charset="0"/>
                <a:ea typeface="Trebuchet MS" pitchFamily="34" charset="-122"/>
                <a:cs typeface="Trebuchet MS" pitchFamily="34" charset="-120"/>
              </a:rPr>
              <a:t>Networks degrade not from lack of expertise but from cognitive overload at the triage layer.</a:t>
            </a:r>
            <a:endParaRPr lang="en-US" sz="1200" dirty="0"/>
          </a:p>
          <a:p>
            <a:pPr indent="0" marL="0">
              <a:spcAft>
                <a:spcPts val="6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200" dirty="0"/>
          </a:p>
          <a:p>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xml:space="preserve">SRE doctrine (Beyer et al. 2016) frames this as architectural, not staffing: </a:t>
            </a:r>
            <a:pPr indent="0" marL="0">
              <a:spcAft>
                <a:spcPts val="600"/>
              </a:spcAft>
              <a:buNone/>
            </a:pPr>
            <a:r>
              <a:rPr lang="en-US" sz="1200" i="1" dirty="0">
                <a:solidFill>
                  <a:srgbClr val="0A2540"/>
                </a:solidFill>
                <a:latin typeface="Trebuchet MS" pitchFamily="34" charset="0"/>
                <a:ea typeface="Trebuchet MS" pitchFamily="34" charset="-122"/>
                <a:cs typeface="Trebuchet MS" pitchFamily="34" charset="-120"/>
              </a:rPr>
              <a:t>automation removes humans from the deterministic parts of triage so they can focus on genuinely novel decisions.</a:t>
            </a:r>
            <a:endParaRPr lang="en-US" sz="1200" dirty="0"/>
          </a:p>
          <a:p>
            <a:pPr indent="0" marL="0">
              <a:spcAft>
                <a:spcPts val="6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200" dirty="0"/>
          </a:p>
          <a:p>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xml:space="preserve">Existing NMS tools (SolarWinds, Nagios, Cisco Prime) excel at </a:t>
            </a:r>
            <a:pPr indent="0" marL="0">
              <a:spcAft>
                <a:spcPts val="600"/>
              </a:spcAft>
              <a:buNone/>
            </a:pPr>
            <a:r>
              <a:rPr lang="en-US" sz="1200" b="1" dirty="0">
                <a:solidFill>
                  <a:srgbClr val="1B4965"/>
                </a:solidFill>
                <a:latin typeface="Trebuchet MS" pitchFamily="34" charset="0"/>
                <a:ea typeface="Trebuchet MS" pitchFamily="34" charset="-122"/>
                <a:cs typeface="Trebuchet MS" pitchFamily="34" charset="-120"/>
              </a:rPr>
              <a:t xml:space="preserve">observability </a:t>
            </a:r>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xml:space="preserve">but not </a:t>
            </a:r>
            <a:pPr indent="0" marL="0">
              <a:spcAft>
                <a:spcPts val="600"/>
              </a:spcAft>
              <a:buNone/>
            </a:pPr>
            <a:r>
              <a:rPr lang="en-US" sz="1200" b="1" dirty="0">
                <a:solidFill>
                  <a:srgbClr val="00BCEB"/>
                </a:solidFill>
                <a:latin typeface="Trebuchet MS" pitchFamily="34" charset="0"/>
                <a:ea typeface="Trebuchet MS" pitchFamily="34" charset="-122"/>
                <a:cs typeface="Trebuchet MS" pitchFamily="34" charset="-120"/>
              </a:rPr>
              <a:t>interpretability</a:t>
            </a:r>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This is where MARR sits.</a:t>
            </a:r>
            <a:endParaRPr lang="en-US" sz="1200" dirty="0"/>
          </a:p>
        </p:txBody>
      </p:sp>
      <p:sp>
        <p:nvSpPr>
          <p:cNvPr id="13" name="Shape 11"/>
          <p:cNvSpPr/>
          <p:nvPr/>
        </p:nvSpPr>
        <p:spPr>
          <a:xfrm>
            <a:off x="6309360" y="2103120"/>
            <a:ext cx="5303520" cy="3931920"/>
          </a:xfrm>
          <a:prstGeom prst="rect">
            <a:avLst/>
          </a:prstGeom>
          <a:solidFill>
            <a:srgbClr val="FFFFFF"/>
          </a:solidFill>
          <a:ln w="12700">
            <a:solidFill>
              <a:srgbClr val="E2E8F0"/>
            </a:solidFill>
            <a:prstDash val="solid"/>
          </a:ln>
        </p:spPr>
      </p:sp>
      <p:sp>
        <p:nvSpPr>
          <p:cNvPr id="14" name="Shape 12"/>
          <p:cNvSpPr/>
          <p:nvPr/>
        </p:nvSpPr>
        <p:spPr>
          <a:xfrm>
            <a:off x="6309360" y="2103120"/>
            <a:ext cx="73152" cy="3931920"/>
          </a:xfrm>
          <a:prstGeom prst="rect">
            <a:avLst/>
          </a:prstGeom>
          <a:solidFill>
            <a:srgbClr val="F59E0B"/>
          </a:solidFill>
          <a:ln w="12700">
            <a:solidFill>
              <a:srgbClr val="F59E0B"/>
            </a:solidFill>
            <a:prstDash val="solid"/>
          </a:ln>
        </p:spPr>
      </p:sp>
      <p:sp>
        <p:nvSpPr>
          <p:cNvPr id="15" name="Text 13"/>
          <p:cNvSpPr/>
          <p:nvPr/>
        </p:nvSpPr>
        <p:spPr>
          <a:xfrm>
            <a:off x="6583680" y="2240280"/>
            <a:ext cx="4937760" cy="36576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THE 'WRONG METRIC' PROBLEM</a:t>
            </a:r>
            <a:endParaRPr lang="en-US" sz="1200" dirty="0"/>
          </a:p>
        </p:txBody>
      </p:sp>
      <p:sp>
        <p:nvSpPr>
          <p:cNvPr id="16" name="Text 14"/>
          <p:cNvSpPr/>
          <p:nvPr/>
        </p:nvSpPr>
        <p:spPr>
          <a:xfrm>
            <a:off x="6583680" y="2697480"/>
            <a:ext cx="4846320" cy="3291840"/>
          </a:xfrm>
          <a:prstGeom prst="rect">
            <a:avLst/>
          </a:prstGeom>
          <a:noFill/>
          <a:ln/>
        </p:spPr>
        <p:txBody>
          <a:bodyPr wrap="square" lIns="0" tIns="0" rIns="0" bIns="0" rtlCol="0" anchor="t"/>
          <a:lstStyle/>
          <a:p>
            <a:pPr indent="0" marL="0">
              <a:spcAft>
                <a:spcPts val="600"/>
              </a:spcAft>
              <a:buNone/>
            </a:pPr>
            <a:r>
              <a:rPr lang="en-US" sz="1200" dirty="0">
                <a:solidFill>
                  <a:srgbClr val="0F172A"/>
                </a:solidFill>
                <a:latin typeface="Trebuchet MS" pitchFamily="34" charset="0"/>
                <a:ea typeface="Trebuchet MS" pitchFamily="34" charset="-122"/>
                <a:cs typeface="Trebuchet MS" pitchFamily="34" charset="-120"/>
              </a:rPr>
              <a:t>A naive sponsor pitch would frame success as 'reduce engineer headcount'.</a:t>
            </a:r>
            <a:endParaRPr lang="en-US" sz="1200" dirty="0"/>
          </a:p>
          <a:p>
            <a:pPr indent="0" marL="0">
              <a:spcAft>
                <a:spcPts val="6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200" dirty="0"/>
          </a:p>
          <a:p>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xml:space="preserve">Kim et al. (2016) and Bainbridge (1983, 'Ironies of Automation') document the opposite: </a:t>
            </a:r>
            <a:pPr indent="0" marL="0">
              <a:spcAft>
                <a:spcPts val="600"/>
              </a:spcAft>
              <a:buNone/>
            </a:pPr>
            <a:r>
              <a:rPr lang="en-US" sz="1200" b="1" dirty="0">
                <a:solidFill>
                  <a:srgbClr val="F59E0B"/>
                </a:solidFill>
                <a:latin typeface="Trebuchet MS" pitchFamily="34" charset="0"/>
                <a:ea typeface="Trebuchet MS" pitchFamily="34" charset="-122"/>
                <a:cs typeface="Trebuchet MS" pitchFamily="34" charset="-120"/>
              </a:rPr>
              <a:t>automation displaces labour rather than eliminating it</a:t>
            </a:r>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Engineers shift from triage to validation, exception handling, and rule maintenance.</a:t>
            </a:r>
            <a:endParaRPr lang="en-US" sz="1200" dirty="0"/>
          </a:p>
          <a:p>
            <a:pPr indent="0" marL="0">
              <a:spcAft>
                <a:spcPts val="6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200" dirty="0"/>
          </a:p>
          <a:p>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xml:space="preserve">MARR's correct success metric is </a:t>
            </a:r>
            <a:pPr indent="0" marL="0">
              <a:spcAft>
                <a:spcPts val="600"/>
              </a:spcAft>
              <a:buNone/>
            </a:pPr>
            <a:r>
              <a:rPr lang="en-US" sz="1200" b="1" dirty="0">
                <a:solidFill>
                  <a:srgbClr val="0A2540"/>
                </a:solidFill>
                <a:latin typeface="Trebuchet MS" pitchFamily="34" charset="0"/>
                <a:ea typeface="Trebuchet MS" pitchFamily="34" charset="-122"/>
                <a:cs typeface="Trebuchet MS" pitchFamily="34" charset="-120"/>
              </a:rPr>
              <a:t>engineer cognitive load and mean time to triage (MTTT)</a:t>
            </a:r>
            <a:pPr indent="0" marL="0">
              <a:spcAft>
                <a:spcPts val="600"/>
              </a:spcAft>
              <a:buNone/>
            </a:pPr>
            <a:r>
              <a:rPr lang="en-US" sz="1200" dirty="0">
                <a:solidFill>
                  <a:srgbClr val="334155"/>
                </a:solidFill>
                <a:latin typeface="Trebuchet MS" pitchFamily="34" charset="0"/>
                <a:ea typeface="Trebuchet MS" pitchFamily="34" charset="-122"/>
                <a:cs typeface="Trebuchet MS" pitchFamily="34" charset="-120"/>
              </a:rPr>
              <a:t>, not engineer count.</a:t>
            </a:r>
            <a:endParaRPr lang="en-US" sz="1200" dirty="0"/>
          </a:p>
        </p:txBody>
      </p:sp>
      <p:sp>
        <p:nvSpPr>
          <p:cNvPr id="17" name="Shape 15"/>
          <p:cNvSpPr/>
          <p:nvPr/>
        </p:nvSpPr>
        <p:spPr>
          <a:xfrm>
            <a:off x="548640" y="6263640"/>
            <a:ext cx="11064240" cy="365760"/>
          </a:xfrm>
          <a:prstGeom prst="rect">
            <a:avLst/>
          </a:prstGeom>
          <a:solidFill>
            <a:srgbClr val="0A2540"/>
          </a:solidFill>
          <a:ln w="12700">
            <a:solidFill>
              <a:srgbClr val="0A2540"/>
            </a:solidFill>
            <a:prstDash val="solid"/>
          </a:ln>
        </p:spPr>
      </p:sp>
      <p:sp>
        <p:nvSpPr>
          <p:cNvPr id="18" name="Text 16"/>
          <p:cNvSpPr/>
          <p:nvPr/>
        </p:nvSpPr>
        <p:spPr>
          <a:xfrm>
            <a:off x="731520" y="6263640"/>
            <a:ext cx="10698480" cy="365760"/>
          </a:xfrm>
          <a:prstGeom prst="rect">
            <a:avLst/>
          </a:prstGeom>
          <a:noFill/>
          <a:ln/>
        </p:spPr>
        <p:txBody>
          <a:bodyPr wrap="square" lIns="0" tIns="0" rIns="0" bIns="0" rtlCol="0" anchor="ctr"/>
          <a:lstStyle/>
          <a:p>
            <a:pPr algn="ctr" indent="0" marL="0">
              <a:buNone/>
            </a:pPr>
            <a:r>
              <a:rPr lang="en-US" sz="1100" i="1" dirty="0">
                <a:solidFill>
                  <a:srgbClr val="FFFFFF"/>
                </a:solidFill>
                <a:latin typeface="Trebuchet MS" pitchFamily="34" charset="0"/>
                <a:ea typeface="Trebuchet MS" pitchFamily="34" charset="-122"/>
                <a:cs typeface="Trebuchet MS" pitchFamily="34" charset="-120"/>
              </a:rPr>
              <a:t>This framing matters because it changes how the project is graded by Cisco - and how we built it.</a:t>
            </a:r>
            <a:endParaRPr lang="en-US" sz="1100" dirty="0"/>
          </a:p>
        </p:txBody>
      </p:sp>
      <p:sp>
        <p:nvSpPr>
          <p:cNvPr id="19" name="Shape 17"/>
          <p:cNvSpPr/>
          <p:nvPr/>
        </p:nvSpPr>
        <p:spPr>
          <a:xfrm>
            <a:off x="0" y="6565392"/>
            <a:ext cx="12161520" cy="292608"/>
          </a:xfrm>
          <a:prstGeom prst="rect">
            <a:avLst/>
          </a:prstGeom>
          <a:solidFill>
            <a:srgbClr val="0A2540"/>
          </a:solidFill>
          <a:ln w="12700">
            <a:solidFill>
              <a:srgbClr val="0A2540"/>
            </a:solidFill>
            <a:prstDash val="solid"/>
          </a:ln>
        </p:spPr>
      </p:sp>
      <p:sp>
        <p:nvSpPr>
          <p:cNvPr id="20" name="Text 18"/>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21" name="Text 19"/>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02  /  LIFECYCLE</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Project Lifecycle</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Three sprints, fifteen weeks, four releases (v1.0 to v4.1)</a:t>
            </a:r>
            <a:endParaRPr lang="en-US" sz="1400" dirty="0"/>
          </a:p>
        </p:txBody>
      </p:sp>
      <p:sp>
        <p:nvSpPr>
          <p:cNvPr id="9" name="Shape 7"/>
          <p:cNvSpPr/>
          <p:nvPr/>
        </p:nvSpPr>
        <p:spPr>
          <a:xfrm>
            <a:off x="731520" y="3291840"/>
            <a:ext cx="10698480" cy="54864"/>
          </a:xfrm>
          <a:prstGeom prst="rect">
            <a:avLst/>
          </a:prstGeom>
          <a:solidFill>
            <a:srgbClr val="0A2540"/>
          </a:solidFill>
          <a:ln w="12700">
            <a:solidFill>
              <a:srgbClr val="0A2540"/>
            </a:solidFill>
            <a:prstDash val="solid"/>
          </a:ln>
        </p:spPr>
      </p:sp>
      <p:sp>
        <p:nvSpPr>
          <p:cNvPr id="10" name="Shape 8"/>
          <p:cNvSpPr/>
          <p:nvPr/>
        </p:nvSpPr>
        <p:spPr>
          <a:xfrm>
            <a:off x="1636776" y="3172968"/>
            <a:ext cx="292608" cy="292608"/>
          </a:xfrm>
          <a:prstGeom prst="ellipse">
            <a:avLst/>
          </a:prstGeom>
          <a:solidFill>
            <a:srgbClr val="00BCEB"/>
          </a:solidFill>
          <a:ln w="38100">
            <a:solidFill>
              <a:srgbClr val="FFFFFF"/>
            </a:solidFill>
            <a:prstDash val="solid"/>
          </a:ln>
        </p:spPr>
      </p:sp>
      <p:sp>
        <p:nvSpPr>
          <p:cNvPr id="11" name="Text 9"/>
          <p:cNvSpPr/>
          <p:nvPr/>
        </p:nvSpPr>
        <p:spPr>
          <a:xfrm>
            <a:off x="886968" y="2423160"/>
            <a:ext cx="1828800" cy="365760"/>
          </a:xfrm>
          <a:prstGeom prst="rect">
            <a:avLst/>
          </a:prstGeom>
          <a:noFill/>
          <a:ln/>
        </p:spPr>
        <p:txBody>
          <a:bodyPr wrap="square" lIns="0" tIns="0" rIns="0" bIns="0" rtlCol="0" anchor="ctr"/>
          <a:lstStyle/>
          <a:p>
            <a:pPr algn="ctr" indent="0" marL="0">
              <a:buNone/>
            </a:pPr>
            <a:r>
              <a:rPr lang="en-US" sz="1300" b="1" dirty="0">
                <a:solidFill>
                  <a:srgbClr val="0A2540"/>
                </a:solidFill>
                <a:latin typeface="Trebuchet MS" pitchFamily="34" charset="0"/>
                <a:ea typeface="Trebuchet MS" pitchFamily="34" charset="-122"/>
                <a:cs typeface="Trebuchet MS" pitchFamily="34" charset="-120"/>
              </a:rPr>
              <a:t>S1 Plan</a:t>
            </a:r>
            <a:endParaRPr lang="en-US" sz="1300" dirty="0"/>
          </a:p>
        </p:txBody>
      </p:sp>
      <p:sp>
        <p:nvSpPr>
          <p:cNvPr id="12" name="Text 10"/>
          <p:cNvSpPr/>
          <p:nvPr/>
        </p:nvSpPr>
        <p:spPr>
          <a:xfrm>
            <a:off x="886968" y="278892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Trebuchet MS" pitchFamily="34" charset="0"/>
                <a:ea typeface="Trebuchet MS" pitchFamily="34" charset="-122"/>
                <a:cs typeface="Trebuchet MS" pitchFamily="34" charset="-120"/>
              </a:rPr>
              <a:t>27 Jan</a:t>
            </a:r>
            <a:endParaRPr lang="en-US" sz="1000" dirty="0"/>
          </a:p>
        </p:txBody>
      </p:sp>
      <p:sp>
        <p:nvSpPr>
          <p:cNvPr id="13" name="Text 11"/>
          <p:cNvSpPr/>
          <p:nvPr/>
        </p:nvSpPr>
        <p:spPr>
          <a:xfrm>
            <a:off x="886968" y="3566160"/>
            <a:ext cx="1828800" cy="365760"/>
          </a:xfrm>
          <a:prstGeom prst="rect">
            <a:avLst/>
          </a:prstGeom>
          <a:noFill/>
          <a:ln/>
        </p:spPr>
        <p:txBody>
          <a:bodyPr wrap="square" lIns="0" tIns="0" rIns="0" bIns="0" rtlCol="0" anchor="ctr"/>
          <a:lstStyle/>
          <a:p>
            <a:pPr algn="ctr" indent="0" marL="0">
              <a:buNone/>
            </a:pPr>
            <a:r>
              <a:rPr lang="en-US" sz="1000" b="1" dirty="0">
                <a:solidFill>
                  <a:srgbClr val="00BCEB"/>
                </a:solidFill>
                <a:latin typeface="Courier New" pitchFamily="34" charset="0"/>
                <a:ea typeface="Courier New" pitchFamily="34" charset="-122"/>
                <a:cs typeface="Courier New" pitchFamily="34" charset="-120"/>
              </a:rPr>
              <a:t>PID v1</a:t>
            </a:r>
            <a:endParaRPr lang="en-US" sz="1000" dirty="0"/>
          </a:p>
        </p:txBody>
      </p:sp>
      <p:sp>
        <p:nvSpPr>
          <p:cNvPr id="14" name="Shape 12"/>
          <p:cNvSpPr/>
          <p:nvPr/>
        </p:nvSpPr>
        <p:spPr>
          <a:xfrm>
            <a:off x="3776472" y="3172968"/>
            <a:ext cx="292608" cy="292608"/>
          </a:xfrm>
          <a:prstGeom prst="ellipse">
            <a:avLst/>
          </a:prstGeom>
          <a:solidFill>
            <a:srgbClr val="1B4965"/>
          </a:solidFill>
          <a:ln w="38100">
            <a:solidFill>
              <a:srgbClr val="FFFFFF"/>
            </a:solidFill>
            <a:prstDash val="solid"/>
          </a:ln>
        </p:spPr>
      </p:sp>
      <p:sp>
        <p:nvSpPr>
          <p:cNvPr id="15" name="Text 13"/>
          <p:cNvSpPr/>
          <p:nvPr/>
        </p:nvSpPr>
        <p:spPr>
          <a:xfrm>
            <a:off x="3026664" y="2423160"/>
            <a:ext cx="1828800" cy="365760"/>
          </a:xfrm>
          <a:prstGeom prst="rect">
            <a:avLst/>
          </a:prstGeom>
          <a:noFill/>
          <a:ln/>
        </p:spPr>
        <p:txBody>
          <a:bodyPr wrap="square" lIns="0" tIns="0" rIns="0" bIns="0" rtlCol="0" anchor="ctr"/>
          <a:lstStyle/>
          <a:p>
            <a:pPr algn="ctr" indent="0" marL="0">
              <a:buNone/>
            </a:pPr>
            <a:r>
              <a:rPr lang="en-US" sz="1300" b="1" dirty="0">
                <a:solidFill>
                  <a:srgbClr val="0A2540"/>
                </a:solidFill>
                <a:latin typeface="Trebuchet MS" pitchFamily="34" charset="0"/>
                <a:ea typeface="Trebuchet MS" pitchFamily="34" charset="-122"/>
                <a:cs typeface="Trebuchet MS" pitchFamily="34" charset="-120"/>
              </a:rPr>
              <a:t>S2 PoC</a:t>
            </a:r>
            <a:endParaRPr lang="en-US" sz="1300" dirty="0"/>
          </a:p>
        </p:txBody>
      </p:sp>
      <p:sp>
        <p:nvSpPr>
          <p:cNvPr id="16" name="Text 14"/>
          <p:cNvSpPr/>
          <p:nvPr/>
        </p:nvSpPr>
        <p:spPr>
          <a:xfrm>
            <a:off x="3026664" y="278892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Trebuchet MS" pitchFamily="34" charset="0"/>
                <a:ea typeface="Trebuchet MS" pitchFamily="34" charset="-122"/>
                <a:cs typeface="Trebuchet MS" pitchFamily="34" charset="-120"/>
              </a:rPr>
              <a:t>20 Feb</a:t>
            </a:r>
            <a:endParaRPr lang="en-US" sz="1000" dirty="0"/>
          </a:p>
        </p:txBody>
      </p:sp>
      <p:sp>
        <p:nvSpPr>
          <p:cNvPr id="17" name="Text 15"/>
          <p:cNvSpPr/>
          <p:nvPr/>
        </p:nvSpPr>
        <p:spPr>
          <a:xfrm>
            <a:off x="3026664" y="3566160"/>
            <a:ext cx="1828800" cy="365760"/>
          </a:xfrm>
          <a:prstGeom prst="rect">
            <a:avLst/>
          </a:prstGeom>
          <a:noFill/>
          <a:ln/>
        </p:spPr>
        <p:txBody>
          <a:bodyPr wrap="square" lIns="0" tIns="0" rIns="0" bIns="0" rtlCol="0" anchor="ctr"/>
          <a:lstStyle/>
          <a:p>
            <a:pPr algn="ctr" indent="0" marL="0">
              <a:buNone/>
            </a:pPr>
            <a:r>
              <a:rPr lang="en-US" sz="1000" b="1" dirty="0">
                <a:solidFill>
                  <a:srgbClr val="1B4965"/>
                </a:solidFill>
                <a:latin typeface="Courier New" pitchFamily="34" charset="0"/>
                <a:ea typeface="Courier New" pitchFamily="34" charset="-122"/>
                <a:cs typeface="Courier New" pitchFamily="34" charset="-120"/>
              </a:rPr>
              <a:t>v1.0</a:t>
            </a:r>
            <a:endParaRPr lang="en-US" sz="1000" dirty="0"/>
          </a:p>
        </p:txBody>
      </p:sp>
      <p:sp>
        <p:nvSpPr>
          <p:cNvPr id="18" name="Shape 16"/>
          <p:cNvSpPr/>
          <p:nvPr/>
        </p:nvSpPr>
        <p:spPr>
          <a:xfrm>
            <a:off x="5916168" y="3172968"/>
            <a:ext cx="292608" cy="292608"/>
          </a:xfrm>
          <a:prstGeom prst="ellipse">
            <a:avLst/>
          </a:prstGeom>
          <a:solidFill>
            <a:srgbClr val="F59E0B"/>
          </a:solidFill>
          <a:ln w="38100">
            <a:solidFill>
              <a:srgbClr val="FFFFFF"/>
            </a:solidFill>
            <a:prstDash val="solid"/>
          </a:ln>
        </p:spPr>
      </p:sp>
      <p:sp>
        <p:nvSpPr>
          <p:cNvPr id="19" name="Text 17"/>
          <p:cNvSpPr/>
          <p:nvPr/>
        </p:nvSpPr>
        <p:spPr>
          <a:xfrm>
            <a:off x="5166360" y="2423160"/>
            <a:ext cx="1828800" cy="365760"/>
          </a:xfrm>
          <a:prstGeom prst="rect">
            <a:avLst/>
          </a:prstGeom>
          <a:noFill/>
          <a:ln/>
        </p:spPr>
        <p:txBody>
          <a:bodyPr wrap="square" lIns="0" tIns="0" rIns="0" bIns="0" rtlCol="0" anchor="ctr"/>
          <a:lstStyle/>
          <a:p>
            <a:pPr algn="ctr" indent="0" marL="0">
              <a:buNone/>
            </a:pPr>
            <a:r>
              <a:rPr lang="en-US" sz="1300" b="1" dirty="0">
                <a:solidFill>
                  <a:srgbClr val="0A2540"/>
                </a:solidFill>
                <a:latin typeface="Trebuchet MS" pitchFamily="34" charset="0"/>
                <a:ea typeface="Trebuchet MS" pitchFamily="34" charset="-122"/>
                <a:cs typeface="Trebuchet MS" pitchFamily="34" charset="-120"/>
              </a:rPr>
              <a:t>S3 Build</a:t>
            </a:r>
            <a:endParaRPr lang="en-US" sz="1300" dirty="0"/>
          </a:p>
        </p:txBody>
      </p:sp>
      <p:sp>
        <p:nvSpPr>
          <p:cNvPr id="20" name="Text 18"/>
          <p:cNvSpPr/>
          <p:nvPr/>
        </p:nvSpPr>
        <p:spPr>
          <a:xfrm>
            <a:off x="5166360" y="278892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Trebuchet MS" pitchFamily="34" charset="0"/>
                <a:ea typeface="Trebuchet MS" pitchFamily="34" charset="-122"/>
                <a:cs typeface="Trebuchet MS" pitchFamily="34" charset="-120"/>
              </a:rPr>
              <a:t>15 Mar</a:t>
            </a:r>
            <a:endParaRPr lang="en-US" sz="1000" dirty="0"/>
          </a:p>
        </p:txBody>
      </p:sp>
      <p:sp>
        <p:nvSpPr>
          <p:cNvPr id="21" name="Text 19"/>
          <p:cNvSpPr/>
          <p:nvPr/>
        </p:nvSpPr>
        <p:spPr>
          <a:xfrm>
            <a:off x="5166360" y="3566160"/>
            <a:ext cx="1828800" cy="365760"/>
          </a:xfrm>
          <a:prstGeom prst="rect">
            <a:avLst/>
          </a:prstGeom>
          <a:noFill/>
          <a:ln/>
        </p:spPr>
        <p:txBody>
          <a:bodyPr wrap="square" lIns="0" tIns="0" rIns="0" bIns="0" rtlCol="0" anchor="ctr"/>
          <a:lstStyle/>
          <a:p>
            <a:pPr algn="ctr" indent="0" marL="0">
              <a:buNone/>
            </a:pPr>
            <a:r>
              <a:rPr lang="en-US" sz="1000" b="1" dirty="0">
                <a:solidFill>
                  <a:srgbClr val="F59E0B"/>
                </a:solidFill>
                <a:latin typeface="Courier New" pitchFamily="34" charset="0"/>
                <a:ea typeface="Courier New" pitchFamily="34" charset="-122"/>
                <a:cs typeface="Courier New" pitchFamily="34" charset="-120"/>
              </a:rPr>
              <a:t>v2.0 - v3.0</a:t>
            </a:r>
            <a:endParaRPr lang="en-US" sz="1000" dirty="0"/>
          </a:p>
        </p:txBody>
      </p:sp>
      <p:sp>
        <p:nvSpPr>
          <p:cNvPr id="22" name="Shape 20"/>
          <p:cNvSpPr/>
          <p:nvPr/>
        </p:nvSpPr>
        <p:spPr>
          <a:xfrm>
            <a:off x="8590788" y="3172968"/>
            <a:ext cx="292608" cy="292608"/>
          </a:xfrm>
          <a:prstGeom prst="ellipse">
            <a:avLst/>
          </a:prstGeom>
          <a:solidFill>
            <a:srgbClr val="10B981"/>
          </a:solidFill>
          <a:ln w="38100">
            <a:solidFill>
              <a:srgbClr val="FFFFFF"/>
            </a:solidFill>
            <a:prstDash val="solid"/>
          </a:ln>
        </p:spPr>
      </p:sp>
      <p:sp>
        <p:nvSpPr>
          <p:cNvPr id="23" name="Text 21"/>
          <p:cNvSpPr/>
          <p:nvPr/>
        </p:nvSpPr>
        <p:spPr>
          <a:xfrm>
            <a:off x="7840980" y="2423160"/>
            <a:ext cx="1828800" cy="365760"/>
          </a:xfrm>
          <a:prstGeom prst="rect">
            <a:avLst/>
          </a:prstGeom>
          <a:noFill/>
          <a:ln/>
        </p:spPr>
        <p:txBody>
          <a:bodyPr wrap="square" lIns="0" tIns="0" rIns="0" bIns="0" rtlCol="0" anchor="ctr"/>
          <a:lstStyle/>
          <a:p>
            <a:pPr algn="ctr" indent="0" marL="0">
              <a:buNone/>
            </a:pPr>
            <a:r>
              <a:rPr lang="en-US" sz="1300" b="1" dirty="0">
                <a:solidFill>
                  <a:srgbClr val="0A2540"/>
                </a:solidFill>
                <a:latin typeface="Trebuchet MS" pitchFamily="34" charset="0"/>
                <a:ea typeface="Trebuchet MS" pitchFamily="34" charset="-122"/>
                <a:cs typeface="Trebuchet MS" pitchFamily="34" charset="-120"/>
              </a:rPr>
              <a:t>Integration</a:t>
            </a:r>
            <a:endParaRPr lang="en-US" sz="1300" dirty="0"/>
          </a:p>
        </p:txBody>
      </p:sp>
      <p:sp>
        <p:nvSpPr>
          <p:cNvPr id="24" name="Text 22"/>
          <p:cNvSpPr/>
          <p:nvPr/>
        </p:nvSpPr>
        <p:spPr>
          <a:xfrm>
            <a:off x="7840980" y="278892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Trebuchet MS" pitchFamily="34" charset="0"/>
                <a:ea typeface="Trebuchet MS" pitchFamily="34" charset="-122"/>
                <a:cs typeface="Trebuchet MS" pitchFamily="34" charset="-120"/>
              </a:rPr>
              <a:t>06 Apr</a:t>
            </a:r>
            <a:endParaRPr lang="en-US" sz="1000" dirty="0"/>
          </a:p>
        </p:txBody>
      </p:sp>
      <p:sp>
        <p:nvSpPr>
          <p:cNvPr id="25" name="Text 23"/>
          <p:cNvSpPr/>
          <p:nvPr/>
        </p:nvSpPr>
        <p:spPr>
          <a:xfrm>
            <a:off x="7840980" y="3566160"/>
            <a:ext cx="1828800" cy="365760"/>
          </a:xfrm>
          <a:prstGeom prst="rect">
            <a:avLst/>
          </a:prstGeom>
          <a:noFill/>
          <a:ln/>
        </p:spPr>
        <p:txBody>
          <a:bodyPr wrap="square" lIns="0" tIns="0" rIns="0" bIns="0" rtlCol="0" anchor="ctr"/>
          <a:lstStyle/>
          <a:p>
            <a:pPr algn="ctr" indent="0" marL="0">
              <a:buNone/>
            </a:pPr>
            <a:r>
              <a:rPr lang="en-US" sz="1000" b="1" dirty="0">
                <a:solidFill>
                  <a:srgbClr val="10B981"/>
                </a:solidFill>
                <a:latin typeface="Courier New" pitchFamily="34" charset="0"/>
                <a:ea typeface="Courier New" pitchFamily="34" charset="-122"/>
                <a:cs typeface="Courier New" pitchFamily="34" charset="-120"/>
              </a:rPr>
              <a:t>v4.0 (minions)</a:t>
            </a:r>
            <a:endParaRPr lang="en-US" sz="1000" dirty="0"/>
          </a:p>
        </p:txBody>
      </p:sp>
      <p:sp>
        <p:nvSpPr>
          <p:cNvPr id="26" name="Shape 24"/>
          <p:cNvSpPr/>
          <p:nvPr/>
        </p:nvSpPr>
        <p:spPr>
          <a:xfrm>
            <a:off x="10730484" y="3172968"/>
            <a:ext cx="292608" cy="292608"/>
          </a:xfrm>
          <a:prstGeom prst="ellipse">
            <a:avLst/>
          </a:prstGeom>
          <a:solidFill>
            <a:srgbClr val="00BCEB"/>
          </a:solidFill>
          <a:ln w="38100">
            <a:solidFill>
              <a:srgbClr val="FFFFFF"/>
            </a:solidFill>
            <a:prstDash val="solid"/>
          </a:ln>
        </p:spPr>
      </p:sp>
      <p:sp>
        <p:nvSpPr>
          <p:cNvPr id="27" name="Text 25"/>
          <p:cNvSpPr/>
          <p:nvPr/>
        </p:nvSpPr>
        <p:spPr>
          <a:xfrm>
            <a:off x="9980676" y="2423160"/>
            <a:ext cx="1828800" cy="365760"/>
          </a:xfrm>
          <a:prstGeom prst="rect">
            <a:avLst/>
          </a:prstGeom>
          <a:noFill/>
          <a:ln/>
        </p:spPr>
        <p:txBody>
          <a:bodyPr wrap="square" lIns="0" tIns="0" rIns="0" bIns="0" rtlCol="0" anchor="ctr"/>
          <a:lstStyle/>
          <a:p>
            <a:pPr algn="ctr" indent="0" marL="0">
              <a:buNone/>
            </a:pPr>
            <a:r>
              <a:rPr lang="en-US" sz="1300" b="1" dirty="0">
                <a:solidFill>
                  <a:srgbClr val="0A2540"/>
                </a:solidFill>
                <a:latin typeface="Trebuchet MS" pitchFamily="34" charset="0"/>
                <a:ea typeface="Trebuchet MS" pitchFamily="34" charset="-122"/>
                <a:cs typeface="Trebuchet MS" pitchFamily="34" charset="-120"/>
              </a:rPr>
              <a:t>AE1 + AE2</a:t>
            </a:r>
            <a:endParaRPr lang="en-US" sz="1300" dirty="0"/>
          </a:p>
        </p:txBody>
      </p:sp>
      <p:sp>
        <p:nvSpPr>
          <p:cNvPr id="28" name="Text 26"/>
          <p:cNvSpPr/>
          <p:nvPr/>
        </p:nvSpPr>
        <p:spPr>
          <a:xfrm>
            <a:off x="9980676" y="2788920"/>
            <a:ext cx="18288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Trebuchet MS" pitchFamily="34" charset="0"/>
                <a:ea typeface="Trebuchet MS" pitchFamily="34" charset="-122"/>
                <a:cs typeface="Trebuchet MS" pitchFamily="34" charset="-120"/>
              </a:rPr>
              <a:t>08 / 15 May</a:t>
            </a:r>
            <a:endParaRPr lang="en-US" sz="1000" dirty="0"/>
          </a:p>
        </p:txBody>
      </p:sp>
      <p:sp>
        <p:nvSpPr>
          <p:cNvPr id="29" name="Text 27"/>
          <p:cNvSpPr/>
          <p:nvPr/>
        </p:nvSpPr>
        <p:spPr>
          <a:xfrm>
            <a:off x="9980676" y="3566160"/>
            <a:ext cx="1828800" cy="365760"/>
          </a:xfrm>
          <a:prstGeom prst="rect">
            <a:avLst/>
          </a:prstGeom>
          <a:noFill/>
          <a:ln/>
        </p:spPr>
        <p:txBody>
          <a:bodyPr wrap="square" lIns="0" tIns="0" rIns="0" bIns="0" rtlCol="0" anchor="ctr"/>
          <a:lstStyle/>
          <a:p>
            <a:pPr algn="ctr" indent="0" marL="0">
              <a:buNone/>
            </a:pPr>
            <a:r>
              <a:rPr lang="en-US" sz="1000" b="1" dirty="0">
                <a:solidFill>
                  <a:srgbClr val="00BCEB"/>
                </a:solidFill>
                <a:latin typeface="Courier New" pitchFamily="34" charset="0"/>
                <a:ea typeface="Courier New" pitchFamily="34" charset="-122"/>
                <a:cs typeface="Courier New" pitchFamily="34" charset="-120"/>
              </a:rPr>
              <a:t>v4.1 (rebrand)</a:t>
            </a:r>
            <a:endParaRPr lang="en-US" sz="1000" dirty="0"/>
          </a:p>
        </p:txBody>
      </p:sp>
      <p:sp>
        <p:nvSpPr>
          <p:cNvPr id="30" name="Shape 28"/>
          <p:cNvSpPr/>
          <p:nvPr/>
        </p:nvSpPr>
        <p:spPr>
          <a:xfrm>
            <a:off x="548640" y="4572000"/>
            <a:ext cx="2066544" cy="1554480"/>
          </a:xfrm>
          <a:prstGeom prst="rect">
            <a:avLst/>
          </a:prstGeom>
          <a:solidFill>
            <a:srgbClr val="FFFFFF"/>
          </a:solidFill>
          <a:ln w="12700">
            <a:solidFill>
              <a:srgbClr val="E2E8F0"/>
            </a:solidFill>
            <a:prstDash val="solid"/>
          </a:ln>
        </p:spPr>
      </p:sp>
      <p:sp>
        <p:nvSpPr>
          <p:cNvPr id="31" name="Shape 29"/>
          <p:cNvSpPr/>
          <p:nvPr/>
        </p:nvSpPr>
        <p:spPr>
          <a:xfrm>
            <a:off x="548640" y="4572000"/>
            <a:ext cx="2066544" cy="54864"/>
          </a:xfrm>
          <a:prstGeom prst="rect">
            <a:avLst/>
          </a:prstGeom>
          <a:solidFill>
            <a:srgbClr val="00BCEB"/>
          </a:solidFill>
          <a:ln w="12700">
            <a:solidFill>
              <a:srgbClr val="00BCEB"/>
            </a:solidFill>
            <a:prstDash val="solid"/>
          </a:ln>
        </p:spPr>
      </p:sp>
      <p:sp>
        <p:nvSpPr>
          <p:cNvPr id="32" name="Text 30"/>
          <p:cNvSpPr/>
          <p:nvPr/>
        </p:nvSpPr>
        <p:spPr>
          <a:xfrm>
            <a:off x="548640" y="4754880"/>
            <a:ext cx="2066544" cy="365760"/>
          </a:xfrm>
          <a:prstGeom prst="rect">
            <a:avLst/>
          </a:prstGeom>
          <a:noFill/>
          <a:ln/>
        </p:spPr>
        <p:txBody>
          <a:bodyPr wrap="square" lIns="0" tIns="0" rIns="0" bIns="0" rtlCol="0" anchor="ctr"/>
          <a:lstStyle/>
          <a:p>
            <a:pPr algn="ctr" indent="0" marL="0">
              <a:buNone/>
            </a:pPr>
            <a:r>
              <a:rPr lang="en-US" sz="1200" b="1" spc="400" kern="0" dirty="0">
                <a:solidFill>
                  <a:srgbClr val="0A2540"/>
                </a:solidFill>
                <a:latin typeface="Trebuchet MS" pitchFamily="34" charset="0"/>
                <a:ea typeface="Trebuchet MS" pitchFamily="34" charset="-122"/>
                <a:cs typeface="Trebuchet MS" pitchFamily="34" charset="-120"/>
              </a:rPr>
              <a:t>INITIATE</a:t>
            </a:r>
            <a:endParaRPr lang="en-US" sz="1200" dirty="0"/>
          </a:p>
        </p:txBody>
      </p:sp>
      <p:sp>
        <p:nvSpPr>
          <p:cNvPr id="33" name="Text 31"/>
          <p:cNvSpPr/>
          <p:nvPr/>
        </p:nvSpPr>
        <p:spPr>
          <a:xfrm>
            <a:off x="685800" y="5212080"/>
            <a:ext cx="1792224" cy="777240"/>
          </a:xfrm>
          <a:prstGeom prst="rect">
            <a:avLst/>
          </a:prstGeom>
          <a:noFill/>
          <a:ln/>
        </p:spPr>
        <p:txBody>
          <a:bodyPr wrap="square" lIns="0" tIns="0" rIns="0" bIns="0" rtlCol="0" anchor="t"/>
          <a:lstStyle/>
          <a:p>
            <a:pPr algn="ctr" indent="0" marL="0">
              <a:buNone/>
            </a:pPr>
            <a:r>
              <a:rPr lang="en-US" sz="1000" dirty="0">
                <a:solidFill>
                  <a:srgbClr val="334155"/>
                </a:solidFill>
                <a:latin typeface="Trebuchet MS" pitchFamily="34" charset="0"/>
                <a:ea typeface="Trebuchet MS" pitchFamily="34" charset="-122"/>
                <a:cs typeface="Trebuchet MS" pitchFamily="34" charset="-120"/>
              </a:rPr>
              <a:t>Stakeholder analysis  /  PID  /  Risk register</a:t>
            </a:r>
            <a:endParaRPr lang="en-US" sz="1000" dirty="0"/>
          </a:p>
        </p:txBody>
      </p:sp>
      <p:sp>
        <p:nvSpPr>
          <p:cNvPr id="34" name="Shape 32"/>
          <p:cNvSpPr/>
          <p:nvPr/>
        </p:nvSpPr>
        <p:spPr>
          <a:xfrm>
            <a:off x="2798064" y="4572000"/>
            <a:ext cx="2066544" cy="1554480"/>
          </a:xfrm>
          <a:prstGeom prst="rect">
            <a:avLst/>
          </a:prstGeom>
          <a:solidFill>
            <a:srgbClr val="FFFFFF"/>
          </a:solidFill>
          <a:ln w="12700">
            <a:solidFill>
              <a:srgbClr val="E2E8F0"/>
            </a:solidFill>
            <a:prstDash val="solid"/>
          </a:ln>
        </p:spPr>
      </p:sp>
      <p:sp>
        <p:nvSpPr>
          <p:cNvPr id="35" name="Shape 33"/>
          <p:cNvSpPr/>
          <p:nvPr/>
        </p:nvSpPr>
        <p:spPr>
          <a:xfrm>
            <a:off x="2798064" y="4572000"/>
            <a:ext cx="2066544" cy="54864"/>
          </a:xfrm>
          <a:prstGeom prst="rect">
            <a:avLst/>
          </a:prstGeom>
          <a:solidFill>
            <a:srgbClr val="00BCEB"/>
          </a:solidFill>
          <a:ln w="12700">
            <a:solidFill>
              <a:srgbClr val="00BCEB"/>
            </a:solidFill>
            <a:prstDash val="solid"/>
          </a:ln>
        </p:spPr>
      </p:sp>
      <p:sp>
        <p:nvSpPr>
          <p:cNvPr id="36" name="Text 34"/>
          <p:cNvSpPr/>
          <p:nvPr/>
        </p:nvSpPr>
        <p:spPr>
          <a:xfrm>
            <a:off x="2798064" y="4754880"/>
            <a:ext cx="2066544" cy="365760"/>
          </a:xfrm>
          <a:prstGeom prst="rect">
            <a:avLst/>
          </a:prstGeom>
          <a:noFill/>
          <a:ln/>
        </p:spPr>
        <p:txBody>
          <a:bodyPr wrap="square" lIns="0" tIns="0" rIns="0" bIns="0" rtlCol="0" anchor="ctr"/>
          <a:lstStyle/>
          <a:p>
            <a:pPr algn="ctr" indent="0" marL="0">
              <a:buNone/>
            </a:pPr>
            <a:r>
              <a:rPr lang="en-US" sz="1200" b="1" spc="400" kern="0" dirty="0">
                <a:solidFill>
                  <a:srgbClr val="0A2540"/>
                </a:solidFill>
                <a:latin typeface="Trebuchet MS" pitchFamily="34" charset="0"/>
                <a:ea typeface="Trebuchet MS" pitchFamily="34" charset="-122"/>
                <a:cs typeface="Trebuchet MS" pitchFamily="34" charset="-120"/>
              </a:rPr>
              <a:t>DESIGN</a:t>
            </a:r>
            <a:endParaRPr lang="en-US" sz="1200" dirty="0"/>
          </a:p>
        </p:txBody>
      </p:sp>
      <p:sp>
        <p:nvSpPr>
          <p:cNvPr id="37" name="Text 35"/>
          <p:cNvSpPr/>
          <p:nvPr/>
        </p:nvSpPr>
        <p:spPr>
          <a:xfrm>
            <a:off x="2935224" y="5212080"/>
            <a:ext cx="1792224" cy="777240"/>
          </a:xfrm>
          <a:prstGeom prst="rect">
            <a:avLst/>
          </a:prstGeom>
          <a:noFill/>
          <a:ln/>
        </p:spPr>
        <p:txBody>
          <a:bodyPr wrap="square" lIns="0" tIns="0" rIns="0" bIns="0" rtlCol="0" anchor="t"/>
          <a:lstStyle/>
          <a:p>
            <a:pPr algn="ctr" indent="0" marL="0">
              <a:buNone/>
            </a:pPr>
            <a:r>
              <a:rPr lang="en-US" sz="1000" dirty="0">
                <a:solidFill>
                  <a:srgbClr val="334155"/>
                </a:solidFill>
                <a:latin typeface="Trebuchet MS" pitchFamily="34" charset="0"/>
                <a:ea typeface="Trebuchet MS" pitchFamily="34" charset="-122"/>
                <a:cs typeface="Trebuchet MS" pitchFamily="34" charset="-120"/>
              </a:rPr>
              <a:t>Architecture  /  RabbitMQ-then-Kafka  /  Plugin layer</a:t>
            </a:r>
            <a:endParaRPr lang="en-US" sz="1000" dirty="0"/>
          </a:p>
        </p:txBody>
      </p:sp>
      <p:sp>
        <p:nvSpPr>
          <p:cNvPr id="38" name="Shape 36"/>
          <p:cNvSpPr/>
          <p:nvPr/>
        </p:nvSpPr>
        <p:spPr>
          <a:xfrm>
            <a:off x="5047488" y="4572000"/>
            <a:ext cx="2066544" cy="1554480"/>
          </a:xfrm>
          <a:prstGeom prst="rect">
            <a:avLst/>
          </a:prstGeom>
          <a:solidFill>
            <a:srgbClr val="FFFFFF"/>
          </a:solidFill>
          <a:ln w="12700">
            <a:solidFill>
              <a:srgbClr val="E2E8F0"/>
            </a:solidFill>
            <a:prstDash val="solid"/>
          </a:ln>
        </p:spPr>
      </p:sp>
      <p:sp>
        <p:nvSpPr>
          <p:cNvPr id="39" name="Shape 37"/>
          <p:cNvSpPr/>
          <p:nvPr/>
        </p:nvSpPr>
        <p:spPr>
          <a:xfrm>
            <a:off x="5047488" y="4572000"/>
            <a:ext cx="2066544" cy="54864"/>
          </a:xfrm>
          <a:prstGeom prst="rect">
            <a:avLst/>
          </a:prstGeom>
          <a:solidFill>
            <a:srgbClr val="00BCEB"/>
          </a:solidFill>
          <a:ln w="12700">
            <a:solidFill>
              <a:srgbClr val="00BCEB"/>
            </a:solidFill>
            <a:prstDash val="solid"/>
          </a:ln>
        </p:spPr>
      </p:sp>
      <p:sp>
        <p:nvSpPr>
          <p:cNvPr id="40" name="Text 38"/>
          <p:cNvSpPr/>
          <p:nvPr/>
        </p:nvSpPr>
        <p:spPr>
          <a:xfrm>
            <a:off x="5047488" y="4754880"/>
            <a:ext cx="2066544" cy="365760"/>
          </a:xfrm>
          <a:prstGeom prst="rect">
            <a:avLst/>
          </a:prstGeom>
          <a:noFill/>
          <a:ln/>
        </p:spPr>
        <p:txBody>
          <a:bodyPr wrap="square" lIns="0" tIns="0" rIns="0" bIns="0" rtlCol="0" anchor="ctr"/>
          <a:lstStyle/>
          <a:p>
            <a:pPr algn="ctr" indent="0" marL="0">
              <a:buNone/>
            </a:pPr>
            <a:r>
              <a:rPr lang="en-US" sz="1200" b="1" spc="400" kern="0" dirty="0">
                <a:solidFill>
                  <a:srgbClr val="0A2540"/>
                </a:solidFill>
                <a:latin typeface="Trebuchet MS" pitchFamily="34" charset="0"/>
                <a:ea typeface="Trebuchet MS" pitchFamily="34" charset="-122"/>
                <a:cs typeface="Trebuchet MS" pitchFamily="34" charset="-120"/>
              </a:rPr>
              <a:t>DEVELOP</a:t>
            </a:r>
            <a:endParaRPr lang="en-US" sz="1200" dirty="0"/>
          </a:p>
        </p:txBody>
      </p:sp>
      <p:sp>
        <p:nvSpPr>
          <p:cNvPr id="41" name="Text 39"/>
          <p:cNvSpPr/>
          <p:nvPr/>
        </p:nvSpPr>
        <p:spPr>
          <a:xfrm>
            <a:off x="5184648" y="5212080"/>
            <a:ext cx="1792224" cy="777240"/>
          </a:xfrm>
          <a:prstGeom prst="rect">
            <a:avLst/>
          </a:prstGeom>
          <a:noFill/>
          <a:ln/>
        </p:spPr>
        <p:txBody>
          <a:bodyPr wrap="square" lIns="0" tIns="0" rIns="0" bIns="0" rtlCol="0" anchor="t"/>
          <a:lstStyle/>
          <a:p>
            <a:pPr algn="ctr" indent="0" marL="0">
              <a:buNone/>
            </a:pPr>
            <a:r>
              <a:rPr lang="en-US" sz="1000" dirty="0">
                <a:solidFill>
                  <a:srgbClr val="334155"/>
                </a:solidFill>
                <a:latin typeface="Trebuchet MS" pitchFamily="34" charset="0"/>
                <a:ea typeface="Trebuchet MS" pitchFamily="34" charset="-122"/>
                <a:cs typeface="Trebuchet MS" pitchFamily="34" charset="-120"/>
              </a:rPr>
              <a:t>Pipeline  /  Classifier  /  Correlator  /  Diagnostics</a:t>
            </a:r>
            <a:endParaRPr lang="en-US" sz="1000" dirty="0"/>
          </a:p>
        </p:txBody>
      </p:sp>
      <p:sp>
        <p:nvSpPr>
          <p:cNvPr id="42" name="Shape 40"/>
          <p:cNvSpPr/>
          <p:nvPr/>
        </p:nvSpPr>
        <p:spPr>
          <a:xfrm>
            <a:off x="7296912" y="4572000"/>
            <a:ext cx="2066544" cy="1554480"/>
          </a:xfrm>
          <a:prstGeom prst="rect">
            <a:avLst/>
          </a:prstGeom>
          <a:solidFill>
            <a:srgbClr val="FFFFFF"/>
          </a:solidFill>
          <a:ln w="12700">
            <a:solidFill>
              <a:srgbClr val="E2E8F0"/>
            </a:solidFill>
            <a:prstDash val="solid"/>
          </a:ln>
        </p:spPr>
      </p:sp>
      <p:sp>
        <p:nvSpPr>
          <p:cNvPr id="43" name="Shape 41"/>
          <p:cNvSpPr/>
          <p:nvPr/>
        </p:nvSpPr>
        <p:spPr>
          <a:xfrm>
            <a:off x="7296912" y="4572000"/>
            <a:ext cx="2066544" cy="54864"/>
          </a:xfrm>
          <a:prstGeom prst="rect">
            <a:avLst/>
          </a:prstGeom>
          <a:solidFill>
            <a:srgbClr val="00BCEB"/>
          </a:solidFill>
          <a:ln w="12700">
            <a:solidFill>
              <a:srgbClr val="00BCEB"/>
            </a:solidFill>
            <a:prstDash val="solid"/>
          </a:ln>
        </p:spPr>
      </p:sp>
      <p:sp>
        <p:nvSpPr>
          <p:cNvPr id="44" name="Text 42"/>
          <p:cNvSpPr/>
          <p:nvPr/>
        </p:nvSpPr>
        <p:spPr>
          <a:xfrm>
            <a:off x="7296912" y="4754880"/>
            <a:ext cx="2066544" cy="365760"/>
          </a:xfrm>
          <a:prstGeom prst="rect">
            <a:avLst/>
          </a:prstGeom>
          <a:noFill/>
          <a:ln/>
        </p:spPr>
        <p:txBody>
          <a:bodyPr wrap="square" lIns="0" tIns="0" rIns="0" bIns="0" rtlCol="0" anchor="ctr"/>
          <a:lstStyle/>
          <a:p>
            <a:pPr algn="ctr" indent="0" marL="0">
              <a:buNone/>
            </a:pPr>
            <a:r>
              <a:rPr lang="en-US" sz="1200" b="1" spc="400" kern="0" dirty="0">
                <a:solidFill>
                  <a:srgbClr val="0A2540"/>
                </a:solidFill>
                <a:latin typeface="Trebuchet MS" pitchFamily="34" charset="0"/>
                <a:ea typeface="Trebuchet MS" pitchFamily="34" charset="-122"/>
                <a:cs typeface="Trebuchet MS" pitchFamily="34" charset="-120"/>
              </a:rPr>
              <a:t>INTEGRATE</a:t>
            </a:r>
            <a:endParaRPr lang="en-US" sz="1200" dirty="0"/>
          </a:p>
        </p:txBody>
      </p:sp>
      <p:sp>
        <p:nvSpPr>
          <p:cNvPr id="45" name="Text 43"/>
          <p:cNvSpPr/>
          <p:nvPr/>
        </p:nvSpPr>
        <p:spPr>
          <a:xfrm>
            <a:off x="7434072" y="5212080"/>
            <a:ext cx="1792224" cy="777240"/>
          </a:xfrm>
          <a:prstGeom prst="rect">
            <a:avLst/>
          </a:prstGeom>
          <a:noFill/>
          <a:ln/>
        </p:spPr>
        <p:txBody>
          <a:bodyPr wrap="square" lIns="0" tIns="0" rIns="0" bIns="0" rtlCol="0" anchor="t"/>
          <a:lstStyle/>
          <a:p>
            <a:pPr algn="ctr" indent="0" marL="0">
              <a:buNone/>
            </a:pPr>
            <a:r>
              <a:rPr lang="en-US" sz="1000" dirty="0">
                <a:solidFill>
                  <a:srgbClr val="334155"/>
                </a:solidFill>
                <a:latin typeface="Trebuchet MS" pitchFamily="34" charset="0"/>
                <a:ea typeface="Trebuchet MS" pitchFamily="34" charset="-122"/>
                <a:cs typeface="Trebuchet MS" pitchFamily="34" charset="-120"/>
              </a:rPr>
              <a:t>Three-site OpenNMS  /  Ansible playbook  /  Minions</a:t>
            </a:r>
            <a:endParaRPr lang="en-US" sz="1000" dirty="0"/>
          </a:p>
        </p:txBody>
      </p:sp>
      <p:sp>
        <p:nvSpPr>
          <p:cNvPr id="46" name="Shape 44"/>
          <p:cNvSpPr/>
          <p:nvPr/>
        </p:nvSpPr>
        <p:spPr>
          <a:xfrm>
            <a:off x="9546336" y="4572000"/>
            <a:ext cx="2066544" cy="1554480"/>
          </a:xfrm>
          <a:prstGeom prst="rect">
            <a:avLst/>
          </a:prstGeom>
          <a:solidFill>
            <a:srgbClr val="FFFFFF"/>
          </a:solidFill>
          <a:ln w="12700">
            <a:solidFill>
              <a:srgbClr val="E2E8F0"/>
            </a:solidFill>
            <a:prstDash val="solid"/>
          </a:ln>
        </p:spPr>
      </p:sp>
      <p:sp>
        <p:nvSpPr>
          <p:cNvPr id="47" name="Shape 45"/>
          <p:cNvSpPr/>
          <p:nvPr/>
        </p:nvSpPr>
        <p:spPr>
          <a:xfrm>
            <a:off x="9546336" y="4572000"/>
            <a:ext cx="2066544" cy="54864"/>
          </a:xfrm>
          <a:prstGeom prst="rect">
            <a:avLst/>
          </a:prstGeom>
          <a:solidFill>
            <a:srgbClr val="00BCEB"/>
          </a:solidFill>
          <a:ln w="12700">
            <a:solidFill>
              <a:srgbClr val="00BCEB"/>
            </a:solidFill>
            <a:prstDash val="solid"/>
          </a:ln>
        </p:spPr>
      </p:sp>
      <p:sp>
        <p:nvSpPr>
          <p:cNvPr id="48" name="Text 46"/>
          <p:cNvSpPr/>
          <p:nvPr/>
        </p:nvSpPr>
        <p:spPr>
          <a:xfrm>
            <a:off x="9546336" y="4754880"/>
            <a:ext cx="2066544" cy="365760"/>
          </a:xfrm>
          <a:prstGeom prst="rect">
            <a:avLst/>
          </a:prstGeom>
          <a:noFill/>
          <a:ln/>
        </p:spPr>
        <p:txBody>
          <a:bodyPr wrap="square" lIns="0" tIns="0" rIns="0" bIns="0" rtlCol="0" anchor="ctr"/>
          <a:lstStyle/>
          <a:p>
            <a:pPr algn="ctr" indent="0" marL="0">
              <a:buNone/>
            </a:pPr>
            <a:r>
              <a:rPr lang="en-US" sz="1200" b="1" spc="400" kern="0" dirty="0">
                <a:solidFill>
                  <a:srgbClr val="0A2540"/>
                </a:solidFill>
                <a:latin typeface="Trebuchet MS" pitchFamily="34" charset="0"/>
                <a:ea typeface="Trebuchet MS" pitchFamily="34" charset="-122"/>
                <a:cs typeface="Trebuchet MS" pitchFamily="34" charset="-120"/>
              </a:rPr>
              <a:t>VALIDATE</a:t>
            </a:r>
            <a:endParaRPr lang="en-US" sz="1200" dirty="0"/>
          </a:p>
        </p:txBody>
      </p:sp>
      <p:sp>
        <p:nvSpPr>
          <p:cNvPr id="49" name="Text 47"/>
          <p:cNvSpPr/>
          <p:nvPr/>
        </p:nvSpPr>
        <p:spPr>
          <a:xfrm>
            <a:off x="9683496" y="5212080"/>
            <a:ext cx="1792224" cy="777240"/>
          </a:xfrm>
          <a:prstGeom prst="rect">
            <a:avLst/>
          </a:prstGeom>
          <a:noFill/>
          <a:ln/>
        </p:spPr>
        <p:txBody>
          <a:bodyPr wrap="square" lIns="0" tIns="0" rIns="0" bIns="0" rtlCol="0" anchor="t"/>
          <a:lstStyle/>
          <a:p>
            <a:pPr algn="ctr" indent="0" marL="0">
              <a:buNone/>
            </a:pPr>
            <a:r>
              <a:rPr lang="en-US" sz="1000" dirty="0">
                <a:solidFill>
                  <a:srgbClr val="334155"/>
                </a:solidFill>
                <a:latin typeface="Trebuchet MS" pitchFamily="34" charset="0"/>
                <a:ea typeface="Trebuchet MS" pitchFamily="34" charset="-122"/>
                <a:cs typeface="Trebuchet MS" pitchFamily="34" charset="-120"/>
              </a:rPr>
              <a:t>Cold-start verify  /  Cascade test  /  Results report</a:t>
            </a:r>
            <a:endParaRPr lang="en-US" sz="1000" dirty="0"/>
          </a:p>
        </p:txBody>
      </p:sp>
      <p:sp>
        <p:nvSpPr>
          <p:cNvPr id="50" name="Shape 48"/>
          <p:cNvSpPr/>
          <p:nvPr/>
        </p:nvSpPr>
        <p:spPr>
          <a:xfrm>
            <a:off x="0" y="6565392"/>
            <a:ext cx="12161520" cy="292608"/>
          </a:xfrm>
          <a:prstGeom prst="rect">
            <a:avLst/>
          </a:prstGeom>
          <a:solidFill>
            <a:srgbClr val="0A2540"/>
          </a:solidFill>
          <a:ln w="12700">
            <a:solidFill>
              <a:srgbClr val="0A2540"/>
            </a:solidFill>
            <a:prstDash val="solid"/>
          </a:ln>
        </p:spPr>
      </p:sp>
      <p:sp>
        <p:nvSpPr>
          <p:cNvPr id="51" name="Text 49"/>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52" name="Text 50"/>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02  /  LIFECYCLE</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Methodology and Governance</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Agile delivery inside PRINCE2 control - and why the hybrid is honest</a:t>
            </a:r>
            <a:endParaRPr lang="en-US" sz="1400" dirty="0"/>
          </a:p>
        </p:txBody>
      </p:sp>
      <p:sp>
        <p:nvSpPr>
          <p:cNvPr id="9" name="Shape 7"/>
          <p:cNvSpPr/>
          <p:nvPr/>
        </p:nvSpPr>
        <p:spPr>
          <a:xfrm>
            <a:off x="548640" y="2103120"/>
            <a:ext cx="5303520" cy="2834640"/>
          </a:xfrm>
          <a:prstGeom prst="rect">
            <a:avLst/>
          </a:prstGeom>
          <a:solidFill>
            <a:srgbClr val="FFFFFF"/>
          </a:solidFill>
          <a:ln w="12700">
            <a:solidFill>
              <a:srgbClr val="E2E8F0"/>
            </a:solidFill>
            <a:prstDash val="solid"/>
          </a:ln>
        </p:spPr>
      </p:sp>
      <p:sp>
        <p:nvSpPr>
          <p:cNvPr id="10" name="Shape 8"/>
          <p:cNvSpPr/>
          <p:nvPr/>
        </p:nvSpPr>
        <p:spPr>
          <a:xfrm>
            <a:off x="548640" y="2103120"/>
            <a:ext cx="73152" cy="2834640"/>
          </a:xfrm>
          <a:prstGeom prst="rect">
            <a:avLst/>
          </a:prstGeom>
          <a:solidFill>
            <a:srgbClr val="00BCEB"/>
          </a:solidFill>
          <a:ln w="12700">
            <a:solidFill>
              <a:srgbClr val="00BCEB"/>
            </a:solidFill>
            <a:prstDash val="solid"/>
          </a:ln>
        </p:spPr>
      </p:sp>
      <p:sp>
        <p:nvSpPr>
          <p:cNvPr id="11" name="Text 9"/>
          <p:cNvSpPr/>
          <p:nvPr/>
        </p:nvSpPr>
        <p:spPr>
          <a:xfrm>
            <a:off x="822960" y="2240280"/>
            <a:ext cx="4937760" cy="36576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AGILE  /  DELIVERY</a:t>
            </a:r>
            <a:endParaRPr lang="en-US" sz="1200" dirty="0"/>
          </a:p>
        </p:txBody>
      </p:sp>
      <p:sp>
        <p:nvSpPr>
          <p:cNvPr id="12" name="Text 10"/>
          <p:cNvSpPr/>
          <p:nvPr/>
        </p:nvSpPr>
        <p:spPr>
          <a:xfrm>
            <a:off x="822960" y="2697480"/>
            <a:ext cx="4846320" cy="2194560"/>
          </a:xfrm>
          <a:prstGeom prst="rect">
            <a:avLst/>
          </a:prstGeom>
          <a:noFill/>
          <a:ln/>
        </p:spPr>
        <p:txBody>
          <a:bodyPr wrap="square" lIns="0" tIns="0" rIns="0" bIns="0" rtlCol="0" anchor="t"/>
          <a:lstStyle/>
          <a:p>
            <a:pPr indent="0" marL="0">
              <a:spcAft>
                <a:spcPts val="400"/>
              </a:spcAft>
              <a:buNone/>
            </a:pPr>
            <a:r>
              <a:rPr lang="en-US" sz="1100" dirty="0">
                <a:solidFill>
                  <a:srgbClr val="0F172A"/>
                </a:solidFill>
                <a:latin typeface="Trebuchet MS" pitchFamily="34" charset="0"/>
                <a:ea typeface="Trebuchet MS" pitchFamily="34" charset="-122"/>
                <a:cs typeface="Trebuchet MS" pitchFamily="34" charset="-120"/>
              </a:rPr>
              <a:t>Three sprints with sponsor-attended reviews.</a:t>
            </a:r>
            <a:endParaRPr lang="en-US" sz="1100" dirty="0"/>
          </a:p>
          <a:p>
            <a:pPr indent="0" marL="0">
              <a:spcAft>
                <a:spcPts val="400"/>
              </a:spcAft>
              <a:buNone/>
            </a:pPr>
            <a:r>
              <a:rPr lang="en-US" sz="1100" dirty="0">
                <a:solidFill>
                  <a:srgbClr val="334155"/>
                </a:solidFill>
                <a:latin typeface="Trebuchet MS" pitchFamily="34" charset="0"/>
                <a:ea typeface="Trebuchet MS" pitchFamily="34" charset="-122"/>
                <a:cs typeface="Trebuchet MS" pitchFamily="34" charset="-120"/>
              </a:rPr>
              <a:t>Iterative demonstration to James Whale (Cisco).</a:t>
            </a:r>
            <a:endParaRPr lang="en-US" sz="1100" dirty="0"/>
          </a:p>
          <a:p>
            <a:pPr indent="0" marL="0">
              <a:spcAft>
                <a:spcPts val="400"/>
              </a:spcAft>
              <a:buNone/>
            </a:pPr>
            <a:r>
              <a:rPr lang="en-US" sz="1100" dirty="0">
                <a:solidFill>
                  <a:srgbClr val="334155"/>
                </a:solidFill>
                <a:latin typeface="Trebuchet MS" pitchFamily="34" charset="0"/>
                <a:ea typeface="Trebuchet MS" pitchFamily="34" charset="-122"/>
                <a:cs typeface="Trebuchet MS" pitchFamily="34" charset="-120"/>
              </a:rPr>
              <a:t>Backlog managed in dual-remote Git (origin + upstream).</a:t>
            </a:r>
            <a:endParaRPr lang="en-US" sz="1100" dirty="0"/>
          </a:p>
          <a:p>
            <a:pPr indent="0" marL="0">
              <a:spcAft>
                <a:spcPts val="400"/>
              </a:spcAft>
              <a:buNone/>
            </a:pPr>
            <a:r>
              <a:rPr lang="en-US" sz="1100" dirty="0">
                <a:solidFill>
                  <a:srgbClr val="334155"/>
                </a:solidFill>
                <a:latin typeface="Trebuchet MS" pitchFamily="34" charset="0"/>
                <a:ea typeface="Trebuchet MS" pitchFamily="34" charset="-122"/>
                <a:cs typeface="Trebuchet MS" pitchFamily="34" charset="-120"/>
              </a:rPr>
              <a:t>Daily Slack standups + Mattermost incident channel.</a:t>
            </a:r>
            <a:endParaRPr lang="en-US" sz="1100" dirty="0"/>
          </a:p>
        </p:txBody>
      </p:sp>
      <p:sp>
        <p:nvSpPr>
          <p:cNvPr id="13" name="Shape 11"/>
          <p:cNvSpPr/>
          <p:nvPr/>
        </p:nvSpPr>
        <p:spPr>
          <a:xfrm>
            <a:off x="6309360" y="2103120"/>
            <a:ext cx="5303520" cy="2834640"/>
          </a:xfrm>
          <a:prstGeom prst="rect">
            <a:avLst/>
          </a:prstGeom>
          <a:solidFill>
            <a:srgbClr val="FFFFFF"/>
          </a:solidFill>
          <a:ln w="12700">
            <a:solidFill>
              <a:srgbClr val="E2E8F0"/>
            </a:solidFill>
            <a:prstDash val="solid"/>
          </a:ln>
        </p:spPr>
      </p:sp>
      <p:sp>
        <p:nvSpPr>
          <p:cNvPr id="14" name="Shape 12"/>
          <p:cNvSpPr/>
          <p:nvPr/>
        </p:nvSpPr>
        <p:spPr>
          <a:xfrm>
            <a:off x="6309360" y="2103120"/>
            <a:ext cx="73152" cy="2834640"/>
          </a:xfrm>
          <a:prstGeom prst="rect">
            <a:avLst/>
          </a:prstGeom>
          <a:solidFill>
            <a:srgbClr val="1B4965"/>
          </a:solidFill>
          <a:ln w="12700">
            <a:solidFill>
              <a:srgbClr val="1B4965"/>
            </a:solidFill>
            <a:prstDash val="solid"/>
          </a:ln>
        </p:spPr>
      </p:sp>
      <p:sp>
        <p:nvSpPr>
          <p:cNvPr id="15" name="Text 13"/>
          <p:cNvSpPr/>
          <p:nvPr/>
        </p:nvSpPr>
        <p:spPr>
          <a:xfrm>
            <a:off x="6583680" y="2240280"/>
            <a:ext cx="4937760" cy="36576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PRINCE2  /  CONTROL</a:t>
            </a:r>
            <a:endParaRPr lang="en-US" sz="1200" dirty="0"/>
          </a:p>
        </p:txBody>
      </p:sp>
      <p:sp>
        <p:nvSpPr>
          <p:cNvPr id="16" name="Text 14"/>
          <p:cNvSpPr/>
          <p:nvPr/>
        </p:nvSpPr>
        <p:spPr>
          <a:xfrm>
            <a:off x="6583680" y="2697480"/>
            <a:ext cx="4846320" cy="2194560"/>
          </a:xfrm>
          <a:prstGeom prst="rect">
            <a:avLst/>
          </a:prstGeom>
          <a:noFill/>
          <a:ln/>
        </p:spPr>
        <p:txBody>
          <a:bodyPr wrap="square" lIns="0" tIns="0" rIns="0" bIns="0" rtlCol="0" anchor="t"/>
          <a:lstStyle/>
          <a:p>
            <a:pPr indent="0" marL="0">
              <a:spcAft>
                <a:spcPts val="400"/>
              </a:spcAft>
              <a:buNone/>
            </a:pPr>
            <a:r>
              <a:rPr lang="en-US" sz="1100" dirty="0">
                <a:solidFill>
                  <a:srgbClr val="0F172A"/>
                </a:solidFill>
                <a:latin typeface="Trebuchet MS" pitchFamily="34" charset="0"/>
                <a:ea typeface="Trebuchet MS" pitchFamily="34" charset="-122"/>
                <a:cs typeface="Trebuchet MS" pitchFamily="34" charset="-120"/>
              </a:rPr>
              <a:t>Documented risk register (R-001 through R-012).</a:t>
            </a:r>
            <a:endParaRPr lang="en-US" sz="1100" dirty="0"/>
          </a:p>
          <a:p>
            <a:pPr indent="0" marL="0">
              <a:spcAft>
                <a:spcPts val="400"/>
              </a:spcAft>
              <a:buNone/>
            </a:pPr>
            <a:r>
              <a:rPr lang="en-US" sz="1100" dirty="0">
                <a:solidFill>
                  <a:srgbClr val="334155"/>
                </a:solidFill>
                <a:latin typeface="Trebuchet MS" pitchFamily="34" charset="0"/>
                <a:ea typeface="Trebuchet MS" pitchFamily="34" charset="-122"/>
                <a:cs typeface="Trebuchet MS" pitchFamily="34" charset="-120"/>
              </a:rPr>
              <a:t>Change control at sprint boundaries (no informal scope creep).</a:t>
            </a:r>
            <a:endParaRPr lang="en-US" sz="1100" dirty="0"/>
          </a:p>
          <a:p>
            <a:pPr indent="0" marL="0">
              <a:spcAft>
                <a:spcPts val="400"/>
              </a:spcAft>
              <a:buNone/>
            </a:pPr>
            <a:r>
              <a:rPr lang="en-US" sz="1100" dirty="0">
                <a:solidFill>
                  <a:srgbClr val="334155"/>
                </a:solidFill>
                <a:latin typeface="Trebuchet MS" pitchFamily="34" charset="0"/>
                <a:ea typeface="Trebuchet MS" pitchFamily="34" charset="-122"/>
                <a:cs typeface="Trebuchet MS" pitchFamily="34" charset="-120"/>
              </a:rPr>
              <a:t>Defined deliverables with acceptance criteria.</a:t>
            </a:r>
            <a:endParaRPr lang="en-US" sz="1100" dirty="0"/>
          </a:p>
          <a:p>
            <a:pPr indent="0" marL="0">
              <a:spcAft>
                <a:spcPts val="400"/>
              </a:spcAft>
              <a:buNone/>
            </a:pPr>
            <a:r>
              <a:rPr lang="en-US" sz="1100" dirty="0">
                <a:solidFill>
                  <a:srgbClr val="334155"/>
                </a:solidFill>
                <a:latin typeface="Trebuchet MS" pitchFamily="34" charset="0"/>
                <a:ea typeface="Trebuchet MS" pitchFamily="34" charset="-122"/>
                <a:cs typeface="Trebuchet MS" pitchFamily="34" charset="-120"/>
              </a:rPr>
              <a:t>Stakeholder governance: Cisco / Tutor / Team triangle.</a:t>
            </a:r>
            <a:endParaRPr lang="en-US" sz="1100" dirty="0"/>
          </a:p>
        </p:txBody>
      </p:sp>
      <p:sp>
        <p:nvSpPr>
          <p:cNvPr id="17" name="Shape 15"/>
          <p:cNvSpPr/>
          <p:nvPr/>
        </p:nvSpPr>
        <p:spPr>
          <a:xfrm>
            <a:off x="548640" y="5120640"/>
            <a:ext cx="11064240" cy="1188720"/>
          </a:xfrm>
          <a:prstGeom prst="rect">
            <a:avLst/>
          </a:prstGeom>
          <a:solidFill>
            <a:srgbClr val="0A2540"/>
          </a:solidFill>
          <a:ln w="12700">
            <a:solidFill>
              <a:srgbClr val="0A2540"/>
            </a:solidFill>
            <a:prstDash val="solid"/>
          </a:ln>
        </p:spPr>
      </p:sp>
      <p:sp>
        <p:nvSpPr>
          <p:cNvPr id="18" name="Text 16"/>
          <p:cNvSpPr/>
          <p:nvPr/>
        </p:nvSpPr>
        <p:spPr>
          <a:xfrm>
            <a:off x="822960" y="5212080"/>
            <a:ext cx="10515600" cy="365760"/>
          </a:xfrm>
          <a:prstGeom prst="rect">
            <a:avLst/>
          </a:prstGeom>
          <a:noFill/>
          <a:ln/>
        </p:spPr>
        <p:txBody>
          <a:bodyPr wrap="square" lIns="0" tIns="0" rIns="0" bIns="0" rtlCol="0" anchor="ctr"/>
          <a:lstStyle/>
          <a:p>
            <a:pPr indent="0" marL="0">
              <a:buNone/>
            </a:pPr>
            <a:r>
              <a:rPr lang="en-US" sz="1200" b="1" spc="600" kern="0" dirty="0">
                <a:solidFill>
                  <a:srgbClr val="00BCEB"/>
                </a:solidFill>
                <a:latin typeface="Trebuchet MS" pitchFamily="34" charset="0"/>
                <a:ea typeface="Trebuchet MS" pitchFamily="34" charset="-122"/>
                <a:cs typeface="Trebuchet MS" pitchFamily="34" charset="-120"/>
              </a:rPr>
              <a:t>PROFESSIONAL  &amp;  ETHICAL FRAMING</a:t>
            </a:r>
            <a:endParaRPr lang="en-US" sz="1200" dirty="0"/>
          </a:p>
        </p:txBody>
      </p:sp>
      <p:sp>
        <p:nvSpPr>
          <p:cNvPr id="19" name="Text 17"/>
          <p:cNvSpPr/>
          <p:nvPr/>
        </p:nvSpPr>
        <p:spPr>
          <a:xfrm>
            <a:off x="822960" y="5577840"/>
            <a:ext cx="10515600" cy="640080"/>
          </a:xfrm>
          <a:prstGeom prst="rect">
            <a:avLst/>
          </a:prstGeom>
          <a:noFill/>
          <a:ln/>
        </p:spPr>
        <p:txBody>
          <a:bodyPr wrap="square" lIns="0" tIns="0" rIns="0" bIns="0" rtlCol="0" anchor="t"/>
          <a:lstStyle/>
          <a:p>
            <a:pPr indent="0" marL="0">
              <a:buNone/>
            </a:pPr>
            <a:r>
              <a:rPr lang="en-US" sz="1100" b="1" dirty="0">
                <a:solidFill>
                  <a:srgbClr val="FFFFFF"/>
                </a:solidFill>
                <a:latin typeface="Trebuchet MS" pitchFamily="34" charset="0"/>
                <a:ea typeface="Trebuchet MS" pitchFamily="34" charset="-122"/>
                <a:cs typeface="Trebuchet MS" pitchFamily="34" charset="-120"/>
              </a:rPr>
              <a:t xml:space="preserve">Privileged automated SSH access is treated as a duty of care: </a:t>
            </a:r>
            <a:pPr indent="0" marL="0">
              <a:buNone/>
            </a:pPr>
            <a:r>
              <a:rPr lang="en-US" sz="1100" dirty="0">
                <a:solidFill>
                  <a:srgbClr val="E2E8F0"/>
                </a:solidFill>
                <a:latin typeface="Trebuchet MS" pitchFamily="34" charset="0"/>
                <a:ea typeface="Trebuchet MS" pitchFamily="34" charset="-122"/>
                <a:cs typeface="Trebuchet MS" pitchFamily="34" charset="-120"/>
              </a:rPr>
              <a:t xml:space="preserve">BCS Code of Conduct (2022) public-interest clause + IET Rules of Conduct (2023).  </a:t>
            </a:r>
            <a:pPr indent="0" marL="0">
              <a:buNone/>
            </a:pPr>
            <a:r>
              <a:rPr lang="en-US" sz="1100" b="1" dirty="0">
                <a:solidFill>
                  <a:srgbClr val="FFFFFF"/>
                </a:solidFill>
                <a:latin typeface="Trebuchet MS" pitchFamily="34" charset="0"/>
                <a:ea typeface="Trebuchet MS" pitchFamily="34" charset="-122"/>
                <a:cs typeface="Trebuchet MS" pitchFamily="34" charset="-120"/>
              </a:rPr>
              <a:t xml:space="preserve">Human oversight preserved: </a:t>
            </a:r>
            <a:pPr indent="0" marL="0">
              <a:buNone/>
            </a:pPr>
            <a:r>
              <a:rPr lang="en-US" sz="1100" dirty="0">
                <a:solidFill>
                  <a:srgbClr val="E2E8F0"/>
                </a:solidFill>
                <a:latin typeface="Trebuchet MS" pitchFamily="34" charset="0"/>
                <a:ea typeface="Trebuchet MS" pitchFamily="34" charset="-122"/>
                <a:cs typeface="Trebuchet MS" pitchFamily="34" charset="-120"/>
              </a:rPr>
              <a:t xml:space="preserve">every output carries a confidence score; low-confidence events route to a human escalation queue, never auto-actioned.  </a:t>
            </a:r>
            <a:pPr indent="0" marL="0">
              <a:buNone/>
            </a:pPr>
            <a:r>
              <a:rPr lang="en-US" sz="1100" i="1" dirty="0">
                <a:solidFill>
                  <a:srgbClr val="E2E8F0"/>
                </a:solidFill>
                <a:latin typeface="Trebuchet MS" pitchFamily="34" charset="0"/>
                <a:ea typeface="Trebuchet MS" pitchFamily="34" charset="-122"/>
                <a:cs typeface="Trebuchet MS" pitchFamily="34" charset="-120"/>
              </a:rPr>
              <a:t>Bainbridge (1983) referenced in the PID as the explicit reason this design boundary exists.</a:t>
            </a:r>
            <a:endParaRPr lang="en-US" sz="1100" dirty="0"/>
          </a:p>
        </p:txBody>
      </p:sp>
      <p:sp>
        <p:nvSpPr>
          <p:cNvPr id="20" name="Shape 18"/>
          <p:cNvSpPr/>
          <p:nvPr/>
        </p:nvSpPr>
        <p:spPr>
          <a:xfrm>
            <a:off x="0" y="6565392"/>
            <a:ext cx="12161520" cy="292608"/>
          </a:xfrm>
          <a:prstGeom prst="rect">
            <a:avLst/>
          </a:prstGeom>
          <a:solidFill>
            <a:srgbClr val="0A2540"/>
          </a:solidFill>
          <a:ln w="12700">
            <a:solidFill>
              <a:srgbClr val="0A2540"/>
            </a:solidFill>
            <a:prstDash val="solid"/>
          </a:ln>
        </p:spPr>
      </p:sp>
      <p:sp>
        <p:nvSpPr>
          <p:cNvPr id="21" name="Text 19"/>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22" name="Text 20"/>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03  /  ARCHITECTURE</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MARR System Architecture</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Five stages, two planes, one source of truth</a:t>
            </a:r>
            <a:endParaRPr lang="en-US" sz="1400" dirty="0"/>
          </a:p>
        </p:txBody>
      </p:sp>
      <p:sp>
        <p:nvSpPr>
          <p:cNvPr id="9" name="Shape 7"/>
          <p:cNvSpPr/>
          <p:nvPr/>
        </p:nvSpPr>
        <p:spPr>
          <a:xfrm>
            <a:off x="548640" y="2194560"/>
            <a:ext cx="2081174" cy="1280160"/>
          </a:xfrm>
          <a:prstGeom prst="rect">
            <a:avLst/>
          </a:prstGeom>
          <a:solidFill>
            <a:srgbClr val="FFFFFF"/>
          </a:solidFill>
          <a:ln w="12700">
            <a:solidFill>
              <a:srgbClr val="E2E8F0"/>
            </a:solidFill>
            <a:prstDash val="solid"/>
          </a:ln>
        </p:spPr>
      </p:sp>
      <p:sp>
        <p:nvSpPr>
          <p:cNvPr id="10" name="Shape 8"/>
          <p:cNvSpPr/>
          <p:nvPr/>
        </p:nvSpPr>
        <p:spPr>
          <a:xfrm>
            <a:off x="548640" y="2194560"/>
            <a:ext cx="2081174" cy="329184"/>
          </a:xfrm>
          <a:prstGeom prst="rect">
            <a:avLst/>
          </a:prstGeom>
          <a:solidFill>
            <a:srgbClr val="00BCEB"/>
          </a:solidFill>
          <a:ln w="12700">
            <a:solidFill>
              <a:srgbClr val="00BCEB"/>
            </a:solidFill>
            <a:prstDash val="solid"/>
          </a:ln>
        </p:spPr>
      </p:sp>
      <p:sp>
        <p:nvSpPr>
          <p:cNvPr id="11" name="Text 9"/>
          <p:cNvSpPr/>
          <p:nvPr/>
        </p:nvSpPr>
        <p:spPr>
          <a:xfrm>
            <a:off x="548640" y="2212848"/>
            <a:ext cx="2081174" cy="292608"/>
          </a:xfrm>
          <a:prstGeom prst="rect">
            <a:avLst/>
          </a:prstGeom>
          <a:noFill/>
          <a:ln/>
        </p:spPr>
        <p:txBody>
          <a:bodyPr wrap="square" lIns="0" tIns="0" rIns="0" bIns="0" rtlCol="0" anchor="ctr"/>
          <a:lstStyle/>
          <a:p>
            <a:pPr algn="ctr" indent="0" marL="0">
              <a:buNone/>
            </a:pPr>
            <a:r>
              <a:rPr lang="en-US" sz="900" b="1" spc="500" kern="0" dirty="0">
                <a:solidFill>
                  <a:srgbClr val="FFFFFF"/>
                </a:solidFill>
                <a:latin typeface="Trebuchet MS" pitchFamily="34" charset="0"/>
                <a:ea typeface="Trebuchet MS" pitchFamily="34" charset="-122"/>
                <a:cs typeface="Trebuchet MS" pitchFamily="34" charset="-120"/>
              </a:rPr>
              <a:t>STAGE 1</a:t>
            </a:r>
            <a:endParaRPr lang="en-US" sz="900" dirty="0"/>
          </a:p>
        </p:txBody>
      </p:sp>
      <p:sp>
        <p:nvSpPr>
          <p:cNvPr id="12" name="Text 10"/>
          <p:cNvSpPr/>
          <p:nvPr/>
        </p:nvSpPr>
        <p:spPr>
          <a:xfrm>
            <a:off x="548640" y="2606040"/>
            <a:ext cx="2081174" cy="365760"/>
          </a:xfrm>
          <a:prstGeom prst="rect">
            <a:avLst/>
          </a:prstGeom>
          <a:noFill/>
          <a:ln/>
        </p:spPr>
        <p:txBody>
          <a:bodyPr wrap="square" lIns="0" tIns="0" rIns="0" bIns="0" rtlCol="0" anchor="ctr"/>
          <a:lstStyle/>
          <a:p>
            <a:pPr algn="ctr" indent="0" marL="0">
              <a:buNone/>
            </a:pPr>
            <a:r>
              <a:rPr lang="en-US" sz="1200" b="1" dirty="0">
                <a:solidFill>
                  <a:srgbClr val="0A2540"/>
                </a:solidFill>
                <a:latin typeface="Trebuchet MS" pitchFamily="34" charset="0"/>
                <a:ea typeface="Trebuchet MS" pitchFamily="34" charset="-122"/>
                <a:cs typeface="Trebuchet MS" pitchFamily="34" charset="-120"/>
              </a:rPr>
              <a:t>INGESTION</a:t>
            </a:r>
            <a:endParaRPr lang="en-US" sz="1200" dirty="0"/>
          </a:p>
        </p:txBody>
      </p:sp>
      <p:sp>
        <p:nvSpPr>
          <p:cNvPr id="13" name="Text 11"/>
          <p:cNvSpPr/>
          <p:nvPr/>
        </p:nvSpPr>
        <p:spPr>
          <a:xfrm>
            <a:off x="640080" y="2971800"/>
            <a:ext cx="1898294" cy="411480"/>
          </a:xfrm>
          <a:prstGeom prst="rect">
            <a:avLst/>
          </a:prstGeom>
          <a:noFill/>
          <a:ln/>
        </p:spPr>
        <p:txBody>
          <a:bodyPr wrap="square" lIns="0" tIns="0" rIns="0" bIns="0" rtlCol="0" anchor="t"/>
          <a:lstStyle/>
          <a:p>
            <a:pPr algn="ctr" indent="0" marL="0">
              <a:buNone/>
            </a:pPr>
            <a:r>
              <a:rPr lang="en-US" sz="800" dirty="0">
                <a:solidFill>
                  <a:srgbClr val="334155"/>
                </a:solidFill>
                <a:latin typeface="Courier New" pitchFamily="34" charset="0"/>
                <a:ea typeface="Courier New" pitchFamily="34" charset="-122"/>
                <a:cs typeface="Courier New" pitchFamily="34" charset="-120"/>
              </a:rPr>
              <a:t>snmp-notifier  /  syslog systemd</a:t>
            </a:r>
            <a:endParaRPr lang="en-US" sz="800" dirty="0"/>
          </a:p>
        </p:txBody>
      </p:sp>
      <p:sp>
        <p:nvSpPr>
          <p:cNvPr id="14" name="Shape 12"/>
          <p:cNvSpPr/>
          <p:nvPr/>
        </p:nvSpPr>
        <p:spPr>
          <a:xfrm>
            <a:off x="2794406" y="2194560"/>
            <a:ext cx="2081174" cy="1280160"/>
          </a:xfrm>
          <a:prstGeom prst="rect">
            <a:avLst/>
          </a:prstGeom>
          <a:solidFill>
            <a:srgbClr val="FFFFFF"/>
          </a:solidFill>
          <a:ln w="12700">
            <a:solidFill>
              <a:srgbClr val="E2E8F0"/>
            </a:solidFill>
            <a:prstDash val="solid"/>
          </a:ln>
        </p:spPr>
      </p:sp>
      <p:sp>
        <p:nvSpPr>
          <p:cNvPr id="15" name="Shape 13"/>
          <p:cNvSpPr/>
          <p:nvPr/>
        </p:nvSpPr>
        <p:spPr>
          <a:xfrm>
            <a:off x="2794406" y="2194560"/>
            <a:ext cx="2081174" cy="329184"/>
          </a:xfrm>
          <a:prstGeom prst="rect">
            <a:avLst/>
          </a:prstGeom>
          <a:solidFill>
            <a:srgbClr val="1B4965"/>
          </a:solidFill>
          <a:ln w="12700">
            <a:solidFill>
              <a:srgbClr val="1B4965"/>
            </a:solidFill>
            <a:prstDash val="solid"/>
          </a:ln>
        </p:spPr>
      </p:sp>
      <p:sp>
        <p:nvSpPr>
          <p:cNvPr id="16" name="Text 14"/>
          <p:cNvSpPr/>
          <p:nvPr/>
        </p:nvSpPr>
        <p:spPr>
          <a:xfrm>
            <a:off x="2794406" y="2212848"/>
            <a:ext cx="2081174" cy="292608"/>
          </a:xfrm>
          <a:prstGeom prst="rect">
            <a:avLst/>
          </a:prstGeom>
          <a:noFill/>
          <a:ln/>
        </p:spPr>
        <p:txBody>
          <a:bodyPr wrap="square" lIns="0" tIns="0" rIns="0" bIns="0" rtlCol="0" anchor="ctr"/>
          <a:lstStyle/>
          <a:p>
            <a:pPr algn="ctr" indent="0" marL="0">
              <a:buNone/>
            </a:pPr>
            <a:r>
              <a:rPr lang="en-US" sz="900" b="1" spc="500" kern="0" dirty="0">
                <a:solidFill>
                  <a:srgbClr val="FFFFFF"/>
                </a:solidFill>
                <a:latin typeface="Trebuchet MS" pitchFamily="34" charset="0"/>
                <a:ea typeface="Trebuchet MS" pitchFamily="34" charset="-122"/>
                <a:cs typeface="Trebuchet MS" pitchFamily="34" charset="-120"/>
              </a:rPr>
              <a:t>STAGE 2</a:t>
            </a:r>
            <a:endParaRPr lang="en-US" sz="900" dirty="0"/>
          </a:p>
        </p:txBody>
      </p:sp>
      <p:sp>
        <p:nvSpPr>
          <p:cNvPr id="17" name="Text 15"/>
          <p:cNvSpPr/>
          <p:nvPr/>
        </p:nvSpPr>
        <p:spPr>
          <a:xfrm>
            <a:off x="2794406" y="2606040"/>
            <a:ext cx="2081174" cy="365760"/>
          </a:xfrm>
          <a:prstGeom prst="rect">
            <a:avLst/>
          </a:prstGeom>
          <a:noFill/>
          <a:ln/>
        </p:spPr>
        <p:txBody>
          <a:bodyPr wrap="square" lIns="0" tIns="0" rIns="0" bIns="0" rtlCol="0" anchor="ctr"/>
          <a:lstStyle/>
          <a:p>
            <a:pPr algn="ctr" indent="0" marL="0">
              <a:buNone/>
            </a:pPr>
            <a:r>
              <a:rPr lang="en-US" sz="1200" b="1" dirty="0">
                <a:solidFill>
                  <a:srgbClr val="0A2540"/>
                </a:solidFill>
                <a:latin typeface="Trebuchet MS" pitchFamily="34" charset="0"/>
                <a:ea typeface="Trebuchet MS" pitchFamily="34" charset="-122"/>
                <a:cs typeface="Trebuchet MS" pitchFamily="34" charset="-120"/>
              </a:rPr>
              <a:t>CATEGORISATION</a:t>
            </a:r>
            <a:endParaRPr lang="en-US" sz="1200" dirty="0"/>
          </a:p>
        </p:txBody>
      </p:sp>
      <p:sp>
        <p:nvSpPr>
          <p:cNvPr id="18" name="Text 16"/>
          <p:cNvSpPr/>
          <p:nvPr/>
        </p:nvSpPr>
        <p:spPr>
          <a:xfrm>
            <a:off x="2885846" y="2971800"/>
            <a:ext cx="1898294" cy="411480"/>
          </a:xfrm>
          <a:prstGeom prst="rect">
            <a:avLst/>
          </a:prstGeom>
          <a:noFill/>
          <a:ln/>
        </p:spPr>
        <p:txBody>
          <a:bodyPr wrap="square" lIns="0" tIns="0" rIns="0" bIns="0" rtlCol="0" anchor="t"/>
          <a:lstStyle/>
          <a:p>
            <a:pPr algn="ctr" indent="0" marL="0">
              <a:buNone/>
            </a:pPr>
            <a:r>
              <a:rPr lang="en-US" sz="800" dirty="0">
                <a:solidFill>
                  <a:srgbClr val="334155"/>
                </a:solidFill>
                <a:latin typeface="Courier New" pitchFamily="34" charset="0"/>
                <a:ea typeface="Courier New" pitchFamily="34" charset="-122"/>
                <a:cs typeface="Courier New" pitchFamily="34" charset="-120"/>
              </a:rPr>
              <a:t>alert_receiver.py  /  YAML rulesets</a:t>
            </a:r>
            <a:endParaRPr lang="en-US" sz="800" dirty="0"/>
          </a:p>
        </p:txBody>
      </p:sp>
      <p:sp>
        <p:nvSpPr>
          <p:cNvPr id="19" name="Shape 17"/>
          <p:cNvSpPr/>
          <p:nvPr/>
        </p:nvSpPr>
        <p:spPr>
          <a:xfrm>
            <a:off x="5040173" y="2194560"/>
            <a:ext cx="2081174" cy="1280160"/>
          </a:xfrm>
          <a:prstGeom prst="rect">
            <a:avLst/>
          </a:prstGeom>
          <a:solidFill>
            <a:srgbClr val="FFFFFF"/>
          </a:solidFill>
          <a:ln w="12700">
            <a:solidFill>
              <a:srgbClr val="E2E8F0"/>
            </a:solidFill>
            <a:prstDash val="solid"/>
          </a:ln>
        </p:spPr>
      </p:sp>
      <p:sp>
        <p:nvSpPr>
          <p:cNvPr id="20" name="Shape 18"/>
          <p:cNvSpPr/>
          <p:nvPr/>
        </p:nvSpPr>
        <p:spPr>
          <a:xfrm>
            <a:off x="5040173" y="2194560"/>
            <a:ext cx="2081174" cy="329184"/>
          </a:xfrm>
          <a:prstGeom prst="rect">
            <a:avLst/>
          </a:prstGeom>
          <a:solidFill>
            <a:srgbClr val="8B5CF6"/>
          </a:solidFill>
          <a:ln w="12700">
            <a:solidFill>
              <a:srgbClr val="8B5CF6"/>
            </a:solidFill>
            <a:prstDash val="solid"/>
          </a:ln>
        </p:spPr>
      </p:sp>
      <p:sp>
        <p:nvSpPr>
          <p:cNvPr id="21" name="Text 19"/>
          <p:cNvSpPr/>
          <p:nvPr/>
        </p:nvSpPr>
        <p:spPr>
          <a:xfrm>
            <a:off x="5040173" y="2212848"/>
            <a:ext cx="2081174" cy="292608"/>
          </a:xfrm>
          <a:prstGeom prst="rect">
            <a:avLst/>
          </a:prstGeom>
          <a:noFill/>
          <a:ln/>
        </p:spPr>
        <p:txBody>
          <a:bodyPr wrap="square" lIns="0" tIns="0" rIns="0" bIns="0" rtlCol="0" anchor="ctr"/>
          <a:lstStyle/>
          <a:p>
            <a:pPr algn="ctr" indent="0" marL="0">
              <a:buNone/>
            </a:pPr>
            <a:r>
              <a:rPr lang="en-US" sz="900" b="1" spc="500" kern="0" dirty="0">
                <a:solidFill>
                  <a:srgbClr val="FFFFFF"/>
                </a:solidFill>
                <a:latin typeface="Trebuchet MS" pitchFamily="34" charset="0"/>
                <a:ea typeface="Trebuchet MS" pitchFamily="34" charset="-122"/>
                <a:cs typeface="Trebuchet MS" pitchFamily="34" charset="-120"/>
              </a:rPr>
              <a:t>STAGE 3</a:t>
            </a:r>
            <a:endParaRPr lang="en-US" sz="900" dirty="0"/>
          </a:p>
        </p:txBody>
      </p:sp>
      <p:sp>
        <p:nvSpPr>
          <p:cNvPr id="22" name="Text 20"/>
          <p:cNvSpPr/>
          <p:nvPr/>
        </p:nvSpPr>
        <p:spPr>
          <a:xfrm>
            <a:off x="5040173" y="2606040"/>
            <a:ext cx="2081174" cy="365760"/>
          </a:xfrm>
          <a:prstGeom prst="rect">
            <a:avLst/>
          </a:prstGeom>
          <a:noFill/>
          <a:ln/>
        </p:spPr>
        <p:txBody>
          <a:bodyPr wrap="square" lIns="0" tIns="0" rIns="0" bIns="0" rtlCol="0" anchor="ctr"/>
          <a:lstStyle/>
          <a:p>
            <a:pPr algn="ctr" indent="0" marL="0">
              <a:buNone/>
            </a:pPr>
            <a:r>
              <a:rPr lang="en-US" sz="1200" b="1" dirty="0">
                <a:solidFill>
                  <a:srgbClr val="0A2540"/>
                </a:solidFill>
                <a:latin typeface="Trebuchet MS" pitchFamily="34" charset="0"/>
                <a:ea typeface="Trebuchet MS" pitchFamily="34" charset="-122"/>
                <a:cs typeface="Trebuchet MS" pitchFamily="34" charset="-120"/>
              </a:rPr>
              <a:t>CORRELATION</a:t>
            </a:r>
            <a:endParaRPr lang="en-US" sz="1200" dirty="0"/>
          </a:p>
        </p:txBody>
      </p:sp>
      <p:sp>
        <p:nvSpPr>
          <p:cNvPr id="23" name="Text 21"/>
          <p:cNvSpPr/>
          <p:nvPr/>
        </p:nvSpPr>
        <p:spPr>
          <a:xfrm>
            <a:off x="5131613" y="2971800"/>
            <a:ext cx="1898294" cy="411480"/>
          </a:xfrm>
          <a:prstGeom prst="rect">
            <a:avLst/>
          </a:prstGeom>
          <a:noFill/>
          <a:ln/>
        </p:spPr>
        <p:txBody>
          <a:bodyPr wrap="square" lIns="0" tIns="0" rIns="0" bIns="0" rtlCol="0" anchor="t"/>
          <a:lstStyle/>
          <a:p>
            <a:pPr algn="ctr" indent="0" marL="0">
              <a:buNone/>
            </a:pPr>
            <a:r>
              <a:rPr lang="en-US" sz="800" dirty="0">
                <a:solidFill>
                  <a:srgbClr val="334155"/>
                </a:solidFill>
                <a:latin typeface="Courier New" pitchFamily="34" charset="0"/>
                <a:ea typeface="Courier New" pitchFamily="34" charset="-122"/>
                <a:cs typeface="Courier New" pitchFamily="34" charset="-120"/>
              </a:rPr>
              <a:t>marr-correlator + Redis (window/lease/group)</a:t>
            </a:r>
            <a:endParaRPr lang="en-US" sz="800" dirty="0"/>
          </a:p>
        </p:txBody>
      </p:sp>
      <p:sp>
        <p:nvSpPr>
          <p:cNvPr id="24" name="Shape 22"/>
          <p:cNvSpPr/>
          <p:nvPr/>
        </p:nvSpPr>
        <p:spPr>
          <a:xfrm>
            <a:off x="7285939" y="2194560"/>
            <a:ext cx="2081174" cy="1280160"/>
          </a:xfrm>
          <a:prstGeom prst="rect">
            <a:avLst/>
          </a:prstGeom>
          <a:solidFill>
            <a:srgbClr val="FFFFFF"/>
          </a:solidFill>
          <a:ln w="12700">
            <a:solidFill>
              <a:srgbClr val="E2E8F0"/>
            </a:solidFill>
            <a:prstDash val="solid"/>
          </a:ln>
        </p:spPr>
      </p:sp>
      <p:sp>
        <p:nvSpPr>
          <p:cNvPr id="25" name="Shape 23"/>
          <p:cNvSpPr/>
          <p:nvPr/>
        </p:nvSpPr>
        <p:spPr>
          <a:xfrm>
            <a:off x="7285939" y="2194560"/>
            <a:ext cx="2081174" cy="329184"/>
          </a:xfrm>
          <a:prstGeom prst="rect">
            <a:avLst/>
          </a:prstGeom>
          <a:solidFill>
            <a:srgbClr val="F59E0B"/>
          </a:solidFill>
          <a:ln w="12700">
            <a:solidFill>
              <a:srgbClr val="F59E0B"/>
            </a:solidFill>
            <a:prstDash val="solid"/>
          </a:ln>
        </p:spPr>
      </p:sp>
      <p:sp>
        <p:nvSpPr>
          <p:cNvPr id="26" name="Text 24"/>
          <p:cNvSpPr/>
          <p:nvPr/>
        </p:nvSpPr>
        <p:spPr>
          <a:xfrm>
            <a:off x="7285939" y="2212848"/>
            <a:ext cx="2081174" cy="292608"/>
          </a:xfrm>
          <a:prstGeom prst="rect">
            <a:avLst/>
          </a:prstGeom>
          <a:noFill/>
          <a:ln/>
        </p:spPr>
        <p:txBody>
          <a:bodyPr wrap="square" lIns="0" tIns="0" rIns="0" bIns="0" rtlCol="0" anchor="ctr"/>
          <a:lstStyle/>
          <a:p>
            <a:pPr algn="ctr" indent="0" marL="0">
              <a:buNone/>
            </a:pPr>
            <a:r>
              <a:rPr lang="en-US" sz="900" b="1" spc="500" kern="0" dirty="0">
                <a:solidFill>
                  <a:srgbClr val="FFFFFF"/>
                </a:solidFill>
                <a:latin typeface="Trebuchet MS" pitchFamily="34" charset="0"/>
                <a:ea typeface="Trebuchet MS" pitchFamily="34" charset="-122"/>
                <a:cs typeface="Trebuchet MS" pitchFamily="34" charset="-120"/>
              </a:rPr>
              <a:t>STAGE 4</a:t>
            </a:r>
            <a:endParaRPr lang="en-US" sz="900" dirty="0"/>
          </a:p>
        </p:txBody>
      </p:sp>
      <p:sp>
        <p:nvSpPr>
          <p:cNvPr id="27" name="Text 25"/>
          <p:cNvSpPr/>
          <p:nvPr/>
        </p:nvSpPr>
        <p:spPr>
          <a:xfrm>
            <a:off x="7285939" y="2606040"/>
            <a:ext cx="2081174" cy="365760"/>
          </a:xfrm>
          <a:prstGeom prst="rect">
            <a:avLst/>
          </a:prstGeom>
          <a:noFill/>
          <a:ln/>
        </p:spPr>
        <p:txBody>
          <a:bodyPr wrap="square" lIns="0" tIns="0" rIns="0" bIns="0" rtlCol="0" anchor="ctr"/>
          <a:lstStyle/>
          <a:p>
            <a:pPr algn="ctr" indent="0" marL="0">
              <a:buNone/>
            </a:pPr>
            <a:r>
              <a:rPr lang="en-US" sz="1200" b="1" dirty="0">
                <a:solidFill>
                  <a:srgbClr val="0A2540"/>
                </a:solidFill>
                <a:latin typeface="Trebuchet MS" pitchFamily="34" charset="0"/>
                <a:ea typeface="Trebuchet MS" pitchFamily="34" charset="-122"/>
                <a:cs typeface="Trebuchet MS" pitchFamily="34" charset="-120"/>
              </a:rPr>
              <a:t>DIAGNOSTICS</a:t>
            </a:r>
            <a:endParaRPr lang="en-US" sz="1200" dirty="0"/>
          </a:p>
        </p:txBody>
      </p:sp>
      <p:sp>
        <p:nvSpPr>
          <p:cNvPr id="28" name="Text 26"/>
          <p:cNvSpPr/>
          <p:nvPr/>
        </p:nvSpPr>
        <p:spPr>
          <a:xfrm>
            <a:off x="7377379" y="2971800"/>
            <a:ext cx="1898294" cy="411480"/>
          </a:xfrm>
          <a:prstGeom prst="rect">
            <a:avLst/>
          </a:prstGeom>
          <a:noFill/>
          <a:ln/>
        </p:spPr>
        <p:txBody>
          <a:bodyPr wrap="square" lIns="0" tIns="0" rIns="0" bIns="0" rtlCol="0" anchor="t"/>
          <a:lstStyle/>
          <a:p>
            <a:pPr algn="ctr" indent="0" marL="0">
              <a:buNone/>
            </a:pPr>
            <a:r>
              <a:rPr lang="en-US" sz="800" dirty="0">
                <a:solidFill>
                  <a:srgbClr val="334155"/>
                </a:solidFill>
                <a:latin typeface="Courier New" pitchFamily="34" charset="0"/>
                <a:ea typeface="Courier New" pitchFamily="34" charset="-122"/>
                <a:cs typeface="Courier New" pitchFamily="34" charset="-120"/>
              </a:rPr>
              <a:t>Ansible community.docker.docker_container_exec</a:t>
            </a:r>
            <a:endParaRPr lang="en-US" sz="800" dirty="0"/>
          </a:p>
        </p:txBody>
      </p:sp>
      <p:sp>
        <p:nvSpPr>
          <p:cNvPr id="29" name="Shape 27"/>
          <p:cNvSpPr/>
          <p:nvPr/>
        </p:nvSpPr>
        <p:spPr>
          <a:xfrm>
            <a:off x="9531706" y="2194560"/>
            <a:ext cx="2081174" cy="1280160"/>
          </a:xfrm>
          <a:prstGeom prst="rect">
            <a:avLst/>
          </a:prstGeom>
          <a:solidFill>
            <a:srgbClr val="FFFFFF"/>
          </a:solidFill>
          <a:ln w="12700">
            <a:solidFill>
              <a:srgbClr val="E2E8F0"/>
            </a:solidFill>
            <a:prstDash val="solid"/>
          </a:ln>
        </p:spPr>
      </p:sp>
      <p:sp>
        <p:nvSpPr>
          <p:cNvPr id="30" name="Shape 28"/>
          <p:cNvSpPr/>
          <p:nvPr/>
        </p:nvSpPr>
        <p:spPr>
          <a:xfrm>
            <a:off x="9531706" y="2194560"/>
            <a:ext cx="2081174" cy="329184"/>
          </a:xfrm>
          <a:prstGeom prst="rect">
            <a:avLst/>
          </a:prstGeom>
          <a:solidFill>
            <a:srgbClr val="10B981"/>
          </a:solidFill>
          <a:ln w="12700">
            <a:solidFill>
              <a:srgbClr val="10B981"/>
            </a:solidFill>
            <a:prstDash val="solid"/>
          </a:ln>
        </p:spPr>
      </p:sp>
      <p:sp>
        <p:nvSpPr>
          <p:cNvPr id="31" name="Text 29"/>
          <p:cNvSpPr/>
          <p:nvPr/>
        </p:nvSpPr>
        <p:spPr>
          <a:xfrm>
            <a:off x="9531706" y="2212848"/>
            <a:ext cx="2081174" cy="292608"/>
          </a:xfrm>
          <a:prstGeom prst="rect">
            <a:avLst/>
          </a:prstGeom>
          <a:noFill/>
          <a:ln/>
        </p:spPr>
        <p:txBody>
          <a:bodyPr wrap="square" lIns="0" tIns="0" rIns="0" bIns="0" rtlCol="0" anchor="ctr"/>
          <a:lstStyle/>
          <a:p>
            <a:pPr algn="ctr" indent="0" marL="0">
              <a:buNone/>
            </a:pPr>
            <a:r>
              <a:rPr lang="en-US" sz="900" b="1" spc="500" kern="0" dirty="0">
                <a:solidFill>
                  <a:srgbClr val="FFFFFF"/>
                </a:solidFill>
                <a:latin typeface="Trebuchet MS" pitchFamily="34" charset="0"/>
                <a:ea typeface="Trebuchet MS" pitchFamily="34" charset="-122"/>
                <a:cs typeface="Trebuchet MS" pitchFamily="34" charset="-120"/>
              </a:rPr>
              <a:t>STAGE 5</a:t>
            </a:r>
            <a:endParaRPr lang="en-US" sz="900" dirty="0"/>
          </a:p>
        </p:txBody>
      </p:sp>
      <p:sp>
        <p:nvSpPr>
          <p:cNvPr id="32" name="Text 30"/>
          <p:cNvSpPr/>
          <p:nvPr/>
        </p:nvSpPr>
        <p:spPr>
          <a:xfrm>
            <a:off x="9531706" y="2606040"/>
            <a:ext cx="2081174" cy="365760"/>
          </a:xfrm>
          <a:prstGeom prst="rect">
            <a:avLst/>
          </a:prstGeom>
          <a:noFill/>
          <a:ln/>
        </p:spPr>
        <p:txBody>
          <a:bodyPr wrap="square" lIns="0" tIns="0" rIns="0" bIns="0" rtlCol="0" anchor="ctr"/>
          <a:lstStyle/>
          <a:p>
            <a:pPr algn="ctr" indent="0" marL="0">
              <a:buNone/>
            </a:pPr>
            <a:r>
              <a:rPr lang="en-US" sz="1200" b="1" dirty="0">
                <a:solidFill>
                  <a:srgbClr val="0A2540"/>
                </a:solidFill>
                <a:latin typeface="Trebuchet MS" pitchFamily="34" charset="0"/>
                <a:ea typeface="Trebuchet MS" pitchFamily="34" charset="-122"/>
                <a:cs typeface="Trebuchet MS" pitchFamily="34" charset="-120"/>
              </a:rPr>
              <a:t>REPORTING</a:t>
            </a:r>
            <a:endParaRPr lang="en-US" sz="1200" dirty="0"/>
          </a:p>
        </p:txBody>
      </p:sp>
      <p:sp>
        <p:nvSpPr>
          <p:cNvPr id="33" name="Text 31"/>
          <p:cNvSpPr/>
          <p:nvPr/>
        </p:nvSpPr>
        <p:spPr>
          <a:xfrm>
            <a:off x="9623146" y="2971800"/>
            <a:ext cx="1898294" cy="411480"/>
          </a:xfrm>
          <a:prstGeom prst="rect">
            <a:avLst/>
          </a:prstGeom>
          <a:noFill/>
          <a:ln/>
        </p:spPr>
        <p:txBody>
          <a:bodyPr wrap="square" lIns="0" tIns="0" rIns="0" bIns="0" rtlCol="0" anchor="t"/>
          <a:lstStyle/>
          <a:p>
            <a:pPr algn="ctr" indent="0" marL="0">
              <a:buNone/>
            </a:pPr>
            <a:r>
              <a:rPr lang="en-US" sz="800" dirty="0">
                <a:solidFill>
                  <a:srgbClr val="334155"/>
                </a:solidFill>
                <a:latin typeface="Courier New" pitchFamily="34" charset="0"/>
                <a:ea typeface="Courier New" pitchFamily="34" charset="-122"/>
                <a:cs typeface="Courier New" pitchFamily="34" charset="-120"/>
              </a:rPr>
              <a:t>Mattermost webhook  /  network-alerts channel</a:t>
            </a:r>
            <a:endParaRPr lang="en-US" sz="800" dirty="0"/>
          </a:p>
        </p:txBody>
      </p:sp>
      <p:sp>
        <p:nvSpPr>
          <p:cNvPr id="34" name="Shape 32"/>
          <p:cNvSpPr/>
          <p:nvPr/>
        </p:nvSpPr>
        <p:spPr>
          <a:xfrm>
            <a:off x="548640" y="3840480"/>
            <a:ext cx="5440680" cy="2194560"/>
          </a:xfrm>
          <a:prstGeom prst="rect">
            <a:avLst/>
          </a:prstGeom>
          <a:solidFill>
            <a:srgbClr val="FFFFFF"/>
          </a:solidFill>
          <a:ln w="12700">
            <a:solidFill>
              <a:srgbClr val="E2E8F0"/>
            </a:solidFill>
            <a:prstDash val="solid"/>
          </a:ln>
        </p:spPr>
      </p:sp>
      <p:sp>
        <p:nvSpPr>
          <p:cNvPr id="35" name="Shape 33"/>
          <p:cNvSpPr/>
          <p:nvPr/>
        </p:nvSpPr>
        <p:spPr>
          <a:xfrm>
            <a:off x="548640" y="3840480"/>
            <a:ext cx="73152" cy="2194560"/>
          </a:xfrm>
          <a:prstGeom prst="rect">
            <a:avLst/>
          </a:prstGeom>
          <a:solidFill>
            <a:srgbClr val="00BCEB"/>
          </a:solidFill>
          <a:ln w="12700">
            <a:solidFill>
              <a:srgbClr val="00BCEB"/>
            </a:solidFill>
            <a:prstDash val="solid"/>
          </a:ln>
        </p:spPr>
      </p:sp>
      <p:sp>
        <p:nvSpPr>
          <p:cNvPr id="36" name="Text 34"/>
          <p:cNvSpPr/>
          <p:nvPr/>
        </p:nvSpPr>
        <p:spPr>
          <a:xfrm>
            <a:off x="777240" y="3977640"/>
            <a:ext cx="5212080" cy="365760"/>
          </a:xfrm>
          <a:prstGeom prst="rect">
            <a:avLst/>
          </a:prstGeom>
          <a:noFill/>
          <a:ln/>
        </p:spPr>
        <p:txBody>
          <a:bodyPr wrap="square" lIns="0" tIns="0" rIns="0" bIns="0" rtlCol="0" anchor="ctr"/>
          <a:lstStyle/>
          <a:p>
            <a:pPr indent="0" marL="0">
              <a:buNone/>
            </a:pPr>
            <a:r>
              <a:rPr lang="en-US" sz="1100" b="1" spc="300" kern="0" dirty="0">
                <a:solidFill>
                  <a:srgbClr val="0A2540"/>
                </a:solidFill>
                <a:latin typeface="Trebuchet MS" pitchFamily="34" charset="0"/>
                <a:ea typeface="Trebuchet MS" pitchFamily="34" charset="-122"/>
                <a:cs typeface="Trebuchet MS" pitchFamily="34" charset="-120"/>
              </a:rPr>
              <a:t>OPERATIONAL PLANE  -  marr-net  -  172.21.0.0/16</a:t>
            </a:r>
            <a:endParaRPr lang="en-US" sz="1100" dirty="0"/>
          </a:p>
        </p:txBody>
      </p:sp>
      <p:sp>
        <p:nvSpPr>
          <p:cNvPr id="37" name="Text 35"/>
          <p:cNvSpPr/>
          <p:nvPr/>
        </p:nvSpPr>
        <p:spPr>
          <a:xfrm>
            <a:off x="868680" y="4343400"/>
            <a:ext cx="5029200" cy="1554480"/>
          </a:xfrm>
          <a:prstGeom prst="rect">
            <a:avLst/>
          </a:prstGeom>
          <a:noFill/>
          <a:ln/>
        </p:spPr>
        <p:txBody>
          <a:bodyPr wrap="square" lIns="0" tIns="0" rIns="0" bIns="0" rtlCol="0" anchor="t"/>
          <a:lstStyle/>
          <a:p>
            <a:pPr indent="0" marL="0">
              <a:spcAft>
                <a:spcPts val="300"/>
              </a:spcAft>
              <a:buNone/>
            </a:pPr>
            <a:r>
              <a:rPr lang="en-US" sz="1100" dirty="0">
                <a:solidFill>
                  <a:srgbClr val="0F172A"/>
                </a:solidFill>
                <a:latin typeface="Trebuchet MS" pitchFamily="34" charset="0"/>
                <a:ea typeface="Trebuchet MS" pitchFamily="34" charset="-122"/>
                <a:cs typeface="Trebuchet MS" pitchFamily="34" charset="-120"/>
              </a:rPr>
              <a:t>OpenNMS Horizon 33.0.2 (Main Solent)</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ActiveMQ 5.18.3 - Minion IPC</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PostgreSQL 14 - OpenNMS DB</a:t>
            </a:r>
            <a:endParaRPr lang="en-US" sz="1100" dirty="0"/>
          </a:p>
          <a:p>
            <a:pPr indent="0" marL="0">
              <a:spcAft>
                <a:spcPts val="300"/>
              </a:spcAft>
              <a:buNone/>
            </a:pPr>
            <a:r>
              <a:rPr lang="en-US" sz="1100" b="1" dirty="0">
                <a:solidFill>
                  <a:srgbClr val="334155"/>
                </a:solidFill>
                <a:latin typeface="Trebuchet MS" pitchFamily="34" charset="0"/>
                <a:ea typeface="Trebuchet MS" pitchFamily="34" charset="-122"/>
                <a:cs typeface="Trebuchet MS" pitchFamily="34" charset="-120"/>
              </a:rPr>
              <a:t>Two remote OpenNMS Minions:</a:t>
            </a:r>
            <a:endParaRPr lang="en-US" sz="1100" dirty="0"/>
          </a:p>
          <a:p>
            <a:pPr indent="0" marL="0">
              <a:spcAft>
                <a:spcPts val="300"/>
              </a:spcAft>
              <a:buNone/>
            </a:pPr>
            <a:r>
              <a:rPr lang="en-US" sz="1100" dirty="0">
                <a:solidFill>
                  <a:srgbClr val="0A2540"/>
                </a:solidFill>
                <a:latin typeface="Trebuchet MS" pitchFamily="34" charset="0"/>
                <a:ea typeface="Trebuchet MS" pitchFamily="34" charset="-122"/>
                <a:cs typeface="Trebuchet MS" pitchFamily="34" charset="-120"/>
              </a:rPr>
              <a:t xml:space="preserve">  solent-1-minion-01 (Solent-1)</a:t>
            </a:r>
            <a:endParaRPr lang="en-US" sz="1100" dirty="0"/>
          </a:p>
          <a:p>
            <a:pPr indent="0" marL="0">
              <a:spcAft>
                <a:spcPts val="300"/>
              </a:spcAft>
              <a:buNone/>
            </a:pPr>
            <a:r>
              <a:rPr lang="en-US" sz="1100" dirty="0">
                <a:solidFill>
                  <a:srgbClr val="0A2540"/>
                </a:solidFill>
                <a:latin typeface="Trebuchet MS" pitchFamily="34" charset="0"/>
                <a:ea typeface="Trebuchet MS" pitchFamily="34" charset="-122"/>
                <a:cs typeface="Trebuchet MS" pitchFamily="34" charset="-120"/>
              </a:rPr>
              <a:t xml:space="preserve">  solent-2-minion-01 (Solent-2)</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FRR routers, Mattermost, snmp-notifier</a:t>
            </a:r>
            <a:endParaRPr lang="en-US" sz="1100" dirty="0"/>
          </a:p>
        </p:txBody>
      </p:sp>
      <p:sp>
        <p:nvSpPr>
          <p:cNvPr id="38" name="Shape 36"/>
          <p:cNvSpPr/>
          <p:nvPr/>
        </p:nvSpPr>
        <p:spPr>
          <a:xfrm>
            <a:off x="6172200" y="3840480"/>
            <a:ext cx="5440680" cy="2194560"/>
          </a:xfrm>
          <a:prstGeom prst="rect">
            <a:avLst/>
          </a:prstGeom>
          <a:solidFill>
            <a:srgbClr val="FFFFFF"/>
          </a:solidFill>
          <a:ln w="12700">
            <a:solidFill>
              <a:srgbClr val="E2E8F0"/>
            </a:solidFill>
            <a:prstDash val="solid"/>
          </a:ln>
        </p:spPr>
      </p:sp>
      <p:sp>
        <p:nvSpPr>
          <p:cNvPr id="39" name="Shape 37"/>
          <p:cNvSpPr/>
          <p:nvPr/>
        </p:nvSpPr>
        <p:spPr>
          <a:xfrm>
            <a:off x="6172200" y="3840480"/>
            <a:ext cx="73152" cy="2194560"/>
          </a:xfrm>
          <a:prstGeom prst="rect">
            <a:avLst/>
          </a:prstGeom>
          <a:solidFill>
            <a:srgbClr val="10B981"/>
          </a:solidFill>
          <a:ln w="12700">
            <a:solidFill>
              <a:srgbClr val="10B981"/>
            </a:solidFill>
            <a:prstDash val="solid"/>
          </a:ln>
        </p:spPr>
      </p:sp>
      <p:sp>
        <p:nvSpPr>
          <p:cNvPr id="40" name="Text 38"/>
          <p:cNvSpPr/>
          <p:nvPr/>
        </p:nvSpPr>
        <p:spPr>
          <a:xfrm>
            <a:off x="6400800" y="3977640"/>
            <a:ext cx="5212080" cy="365760"/>
          </a:xfrm>
          <a:prstGeom prst="rect">
            <a:avLst/>
          </a:prstGeom>
          <a:noFill/>
          <a:ln/>
        </p:spPr>
        <p:txBody>
          <a:bodyPr wrap="square" lIns="0" tIns="0" rIns="0" bIns="0" rtlCol="0" anchor="ctr"/>
          <a:lstStyle/>
          <a:p>
            <a:pPr indent="0" marL="0">
              <a:buNone/>
            </a:pPr>
            <a:r>
              <a:rPr lang="en-US" sz="1100" b="1" spc="300" kern="0" dirty="0">
                <a:solidFill>
                  <a:srgbClr val="0A2540"/>
                </a:solidFill>
                <a:latin typeface="Trebuchet MS" pitchFamily="34" charset="0"/>
                <a:ea typeface="Trebuchet MS" pitchFamily="34" charset="-122"/>
                <a:cs typeface="Trebuchet MS" pitchFamily="34" charset="-120"/>
              </a:rPr>
              <a:t>OBSERVABILITY PLANE  -  marr-reporting  -  172.22.0.0/24</a:t>
            </a:r>
            <a:endParaRPr lang="en-US" sz="1100" dirty="0"/>
          </a:p>
        </p:txBody>
      </p:sp>
      <p:sp>
        <p:nvSpPr>
          <p:cNvPr id="41" name="Text 39"/>
          <p:cNvSpPr/>
          <p:nvPr/>
        </p:nvSpPr>
        <p:spPr>
          <a:xfrm>
            <a:off x="6492240" y="4343400"/>
            <a:ext cx="5029200" cy="1554480"/>
          </a:xfrm>
          <a:prstGeom prst="rect">
            <a:avLst/>
          </a:prstGeom>
          <a:noFill/>
          <a:ln/>
        </p:spPr>
        <p:txBody>
          <a:bodyPr wrap="square" lIns="0" tIns="0" rIns="0" bIns="0" rtlCol="0" anchor="t"/>
          <a:lstStyle/>
          <a:p>
            <a:pPr indent="0" marL="0">
              <a:spcAft>
                <a:spcPts val="300"/>
              </a:spcAft>
              <a:buNone/>
            </a:pPr>
            <a:r>
              <a:rPr lang="en-US" sz="1100" dirty="0">
                <a:solidFill>
                  <a:srgbClr val="0F172A"/>
                </a:solidFill>
                <a:latin typeface="Trebuchet MS" pitchFamily="34" charset="0"/>
                <a:ea typeface="Trebuchet MS" pitchFamily="34" charset="-122"/>
                <a:cs typeface="Trebuchet MS" pitchFamily="34" charset="-120"/>
              </a:rPr>
              <a:t>Apache Kafka 7.6.0  -  alert event bus</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 xml:space="preserve">  Topics: raw.alerts / snmp.traps / syslog.events</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Prometheus 2.51 - platform telemetry</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Grafana 10.4 - operator dashboards</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HashiCorp Vault 1.16 - credential mgmt</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Redis 7.2 - correlator state store</a:t>
            </a:r>
            <a:endParaRPr lang="en-US" sz="1100" dirty="0"/>
          </a:p>
          <a:p>
            <a:pPr indent="0" marL="0">
              <a:spcAft>
                <a:spcPts val="300"/>
              </a:spcAft>
              <a:buNone/>
            </a:pPr>
            <a:r>
              <a:rPr lang="en-US" sz="1100" i="1" dirty="0">
                <a:solidFill>
                  <a:srgbClr val="64748B"/>
                </a:solidFill>
                <a:latin typeface="Trebuchet MS" pitchFamily="34" charset="0"/>
                <a:ea typeface="Trebuchet MS" pitchFamily="34" charset="-122"/>
                <a:cs typeface="Trebuchet MS" pitchFamily="34" charset="-120"/>
              </a:rPr>
              <a:t>Decoupled from operational plane by design.</a:t>
            </a:r>
            <a:endParaRPr lang="en-US" sz="1100" dirty="0"/>
          </a:p>
        </p:txBody>
      </p:sp>
      <p:sp>
        <p:nvSpPr>
          <p:cNvPr id="42" name="Shape 40"/>
          <p:cNvSpPr/>
          <p:nvPr/>
        </p:nvSpPr>
        <p:spPr>
          <a:xfrm>
            <a:off x="0" y="6565392"/>
            <a:ext cx="12161520" cy="292608"/>
          </a:xfrm>
          <a:prstGeom prst="rect">
            <a:avLst/>
          </a:prstGeom>
          <a:solidFill>
            <a:srgbClr val="0A2540"/>
          </a:solidFill>
          <a:ln w="12700">
            <a:solidFill>
              <a:srgbClr val="0A2540"/>
            </a:solidFill>
            <a:prstDash val="solid"/>
          </a:ln>
        </p:spPr>
      </p:sp>
      <p:sp>
        <p:nvSpPr>
          <p:cNvPr id="43" name="Text 41"/>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44" name="Text 42"/>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04  /  RESULTS</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Lab Evidence (v4.1, 4 May 2026)</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Verified outcomes, with explicit internal-vs-external validity boundary</a:t>
            </a:r>
            <a:endParaRPr lang="en-US" sz="1400" dirty="0"/>
          </a:p>
        </p:txBody>
      </p:sp>
      <p:sp>
        <p:nvSpPr>
          <p:cNvPr id="9" name="Shape 7"/>
          <p:cNvSpPr/>
          <p:nvPr/>
        </p:nvSpPr>
        <p:spPr>
          <a:xfrm>
            <a:off x="457200" y="2011680"/>
            <a:ext cx="3566160" cy="20116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457200" y="2011680"/>
            <a:ext cx="3566160" cy="73152"/>
          </a:xfrm>
          <a:prstGeom prst="rect">
            <a:avLst/>
          </a:prstGeom>
          <a:solidFill>
            <a:srgbClr val="10B981"/>
          </a:solidFill>
          <a:ln w="12700">
            <a:solidFill>
              <a:srgbClr val="10B981"/>
            </a:solidFill>
            <a:prstDash val="solid"/>
          </a:ln>
        </p:spPr>
      </p:sp>
      <p:sp>
        <p:nvSpPr>
          <p:cNvPr id="11" name="Text 9"/>
          <p:cNvSpPr/>
          <p:nvPr/>
        </p:nvSpPr>
        <p:spPr>
          <a:xfrm>
            <a:off x="457200" y="2194560"/>
            <a:ext cx="3566160" cy="868680"/>
          </a:xfrm>
          <a:prstGeom prst="rect">
            <a:avLst/>
          </a:prstGeom>
          <a:noFill/>
          <a:ln/>
        </p:spPr>
        <p:txBody>
          <a:bodyPr wrap="square" lIns="0" tIns="0" rIns="0" bIns="0" rtlCol="0" anchor="ctr"/>
          <a:lstStyle/>
          <a:p>
            <a:pPr algn="ctr" indent="0" marL="0">
              <a:buNone/>
            </a:pPr>
            <a:r>
              <a:rPr lang="en-US" sz="5600" b="1" dirty="0">
                <a:solidFill>
                  <a:srgbClr val="10B981"/>
                </a:solidFill>
                <a:latin typeface="Trebuchet MS" pitchFamily="34" charset="0"/>
                <a:ea typeface="Trebuchet MS" pitchFamily="34" charset="-122"/>
                <a:cs typeface="Trebuchet MS" pitchFamily="34" charset="-120"/>
              </a:rPr>
              <a:t>43</a:t>
            </a:r>
            <a:endParaRPr lang="en-US" sz="5600" dirty="0"/>
          </a:p>
        </p:txBody>
      </p:sp>
      <p:sp>
        <p:nvSpPr>
          <p:cNvPr id="12" name="Text 10"/>
          <p:cNvSpPr/>
          <p:nvPr/>
        </p:nvSpPr>
        <p:spPr>
          <a:xfrm>
            <a:off x="457200" y="3017520"/>
            <a:ext cx="3566160" cy="274320"/>
          </a:xfrm>
          <a:prstGeom prst="rect">
            <a:avLst/>
          </a:prstGeom>
          <a:noFill/>
          <a:ln/>
        </p:spPr>
        <p:txBody>
          <a:bodyPr wrap="square" lIns="0" tIns="0" rIns="0" bIns="0" rtlCol="0" anchor="ctr"/>
          <a:lstStyle/>
          <a:p>
            <a:pPr algn="ctr" indent="0" marL="0">
              <a:buNone/>
            </a:pPr>
            <a:r>
              <a:rPr lang="en-US" sz="1100" i="1" dirty="0">
                <a:solidFill>
                  <a:srgbClr val="334155"/>
                </a:solidFill>
                <a:latin typeface="Trebuchet MS" pitchFamily="34" charset="0"/>
                <a:ea typeface="Trebuchet MS" pitchFamily="34" charset="-122"/>
                <a:cs typeface="Trebuchet MS" pitchFamily="34" charset="-120"/>
              </a:rPr>
              <a:t>ok / 0 failed</a:t>
            </a:r>
            <a:endParaRPr lang="en-US" sz="1100" dirty="0"/>
          </a:p>
        </p:txBody>
      </p:sp>
      <p:sp>
        <p:nvSpPr>
          <p:cNvPr id="13" name="Text 11"/>
          <p:cNvSpPr/>
          <p:nvPr/>
        </p:nvSpPr>
        <p:spPr>
          <a:xfrm>
            <a:off x="457200" y="3383280"/>
            <a:ext cx="3566160" cy="274320"/>
          </a:xfrm>
          <a:prstGeom prst="rect">
            <a:avLst/>
          </a:prstGeom>
          <a:noFill/>
          <a:ln/>
        </p:spPr>
        <p:txBody>
          <a:bodyPr wrap="square" lIns="0" tIns="0" rIns="0" bIns="0" rtlCol="0" anchor="ctr"/>
          <a:lstStyle/>
          <a:p>
            <a:pPr algn="ctr" indent="0" marL="0">
              <a:buNone/>
            </a:pPr>
            <a:r>
              <a:rPr lang="en-US" sz="1100" b="1" spc="400" kern="0" dirty="0">
                <a:solidFill>
                  <a:srgbClr val="0A2540"/>
                </a:solidFill>
                <a:latin typeface="Trebuchet MS" pitchFamily="34" charset="0"/>
                <a:ea typeface="Trebuchet MS" pitchFamily="34" charset="-122"/>
                <a:cs typeface="Trebuchet MS" pitchFamily="34" charset="-120"/>
              </a:rPr>
              <a:t>ANSIBLE COLD START</a:t>
            </a:r>
            <a:endParaRPr lang="en-US" sz="1100" dirty="0"/>
          </a:p>
        </p:txBody>
      </p:sp>
      <p:sp>
        <p:nvSpPr>
          <p:cNvPr id="14" name="Text 12"/>
          <p:cNvSpPr/>
          <p:nvPr/>
        </p:nvSpPr>
        <p:spPr>
          <a:xfrm>
            <a:off x="594360" y="3657600"/>
            <a:ext cx="3291840" cy="320040"/>
          </a:xfrm>
          <a:prstGeom prst="rect">
            <a:avLst/>
          </a:prstGeom>
          <a:noFill/>
          <a:ln/>
        </p:spPr>
        <p:txBody>
          <a:bodyPr wrap="square" lIns="0" tIns="0" rIns="0" bIns="0"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ansible-playbook scripts/lab-start.yml</a:t>
            </a:r>
            <a:endParaRPr lang="en-US" sz="800" dirty="0"/>
          </a:p>
        </p:txBody>
      </p:sp>
      <p:sp>
        <p:nvSpPr>
          <p:cNvPr id="15" name="Shape 13"/>
          <p:cNvSpPr/>
          <p:nvPr/>
        </p:nvSpPr>
        <p:spPr>
          <a:xfrm>
            <a:off x="4297680" y="2011680"/>
            <a:ext cx="3566160" cy="20116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6000"/>
              </a:srgbClr>
            </a:outerShdw>
          </a:effectLst>
        </p:spPr>
      </p:sp>
      <p:sp>
        <p:nvSpPr>
          <p:cNvPr id="16" name="Shape 14"/>
          <p:cNvSpPr/>
          <p:nvPr/>
        </p:nvSpPr>
        <p:spPr>
          <a:xfrm>
            <a:off x="4297680" y="2011680"/>
            <a:ext cx="3566160" cy="73152"/>
          </a:xfrm>
          <a:prstGeom prst="rect">
            <a:avLst/>
          </a:prstGeom>
          <a:solidFill>
            <a:srgbClr val="00BCEB"/>
          </a:solidFill>
          <a:ln w="12700">
            <a:solidFill>
              <a:srgbClr val="00BCEB"/>
            </a:solidFill>
            <a:prstDash val="solid"/>
          </a:ln>
        </p:spPr>
      </p:sp>
      <p:sp>
        <p:nvSpPr>
          <p:cNvPr id="17" name="Text 15"/>
          <p:cNvSpPr/>
          <p:nvPr/>
        </p:nvSpPr>
        <p:spPr>
          <a:xfrm>
            <a:off x="4297680" y="2194560"/>
            <a:ext cx="3566160" cy="868680"/>
          </a:xfrm>
          <a:prstGeom prst="rect">
            <a:avLst/>
          </a:prstGeom>
          <a:noFill/>
          <a:ln/>
        </p:spPr>
        <p:txBody>
          <a:bodyPr wrap="square" lIns="0" tIns="0" rIns="0" bIns="0" rtlCol="0" anchor="ctr"/>
          <a:lstStyle/>
          <a:p>
            <a:pPr algn="ctr" indent="0" marL="0">
              <a:buNone/>
            </a:pPr>
            <a:r>
              <a:rPr lang="en-US" sz="5600" b="1" dirty="0">
                <a:solidFill>
                  <a:srgbClr val="00BCEB"/>
                </a:solidFill>
                <a:latin typeface="Trebuchet MS" pitchFamily="34" charset="0"/>
                <a:ea typeface="Trebuchet MS" pitchFamily="34" charset="-122"/>
                <a:cs typeface="Trebuchet MS" pitchFamily="34" charset="-120"/>
              </a:rPr>
              <a:t>2 / 2</a:t>
            </a:r>
            <a:endParaRPr lang="en-US" sz="5600" dirty="0"/>
          </a:p>
        </p:txBody>
      </p:sp>
      <p:sp>
        <p:nvSpPr>
          <p:cNvPr id="18" name="Text 16"/>
          <p:cNvSpPr/>
          <p:nvPr/>
        </p:nvSpPr>
        <p:spPr>
          <a:xfrm>
            <a:off x="4297680" y="3017520"/>
            <a:ext cx="3566160" cy="274320"/>
          </a:xfrm>
          <a:prstGeom prst="rect">
            <a:avLst/>
          </a:prstGeom>
          <a:noFill/>
          <a:ln/>
        </p:spPr>
        <p:txBody>
          <a:bodyPr wrap="square" lIns="0" tIns="0" rIns="0" bIns="0" rtlCol="0" anchor="ctr"/>
          <a:lstStyle/>
          <a:p>
            <a:pPr algn="ctr" indent="0" marL="0">
              <a:buNone/>
            </a:pPr>
            <a:r>
              <a:rPr lang="en-US" sz="1100" i="1" dirty="0">
                <a:solidFill>
                  <a:srgbClr val="334155"/>
                </a:solidFill>
                <a:latin typeface="Trebuchet MS" pitchFamily="34" charset="0"/>
                <a:ea typeface="Trebuchet MS" pitchFamily="34" charset="-122"/>
                <a:cs typeface="Trebuchet MS" pitchFamily="34" charset="-120"/>
              </a:rPr>
              <a:t>minions up</a:t>
            </a:r>
            <a:endParaRPr lang="en-US" sz="1100" dirty="0"/>
          </a:p>
        </p:txBody>
      </p:sp>
      <p:sp>
        <p:nvSpPr>
          <p:cNvPr id="19" name="Text 17"/>
          <p:cNvSpPr/>
          <p:nvPr/>
        </p:nvSpPr>
        <p:spPr>
          <a:xfrm>
            <a:off x="4297680" y="3383280"/>
            <a:ext cx="3566160" cy="274320"/>
          </a:xfrm>
          <a:prstGeom prst="rect">
            <a:avLst/>
          </a:prstGeom>
          <a:noFill/>
          <a:ln/>
        </p:spPr>
        <p:txBody>
          <a:bodyPr wrap="square" lIns="0" tIns="0" rIns="0" bIns="0" rtlCol="0" anchor="ctr"/>
          <a:lstStyle/>
          <a:p>
            <a:pPr algn="ctr" indent="0" marL="0">
              <a:buNone/>
            </a:pPr>
            <a:r>
              <a:rPr lang="en-US" sz="1100" b="1" spc="400" kern="0" dirty="0">
                <a:solidFill>
                  <a:srgbClr val="0A2540"/>
                </a:solidFill>
                <a:latin typeface="Trebuchet MS" pitchFamily="34" charset="0"/>
                <a:ea typeface="Trebuchet MS" pitchFamily="34" charset="-122"/>
                <a:cs typeface="Trebuchet MS" pitchFamily="34" charset="-120"/>
              </a:rPr>
              <a:t>REGISTRATION</a:t>
            </a:r>
            <a:endParaRPr lang="en-US" sz="1100" dirty="0"/>
          </a:p>
        </p:txBody>
      </p:sp>
      <p:sp>
        <p:nvSpPr>
          <p:cNvPr id="20" name="Text 18"/>
          <p:cNvSpPr/>
          <p:nvPr/>
        </p:nvSpPr>
        <p:spPr>
          <a:xfrm>
            <a:off x="4434840" y="3657600"/>
            <a:ext cx="3291840" cy="320040"/>
          </a:xfrm>
          <a:prstGeom prst="rect">
            <a:avLst/>
          </a:prstGeom>
          <a:noFill/>
          <a:ln/>
        </p:spPr>
        <p:txBody>
          <a:bodyPr wrap="square" lIns="0" tIns="0" rIns="0" bIns="0"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REST /opennms/rest/minions  -  status=up</a:t>
            </a:r>
            <a:endParaRPr lang="en-US" sz="800" dirty="0"/>
          </a:p>
        </p:txBody>
      </p:sp>
      <p:sp>
        <p:nvSpPr>
          <p:cNvPr id="21" name="Shape 19"/>
          <p:cNvSpPr/>
          <p:nvPr/>
        </p:nvSpPr>
        <p:spPr>
          <a:xfrm>
            <a:off x="8138160" y="2011680"/>
            <a:ext cx="3566160" cy="20116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6000"/>
              </a:srgbClr>
            </a:outerShdw>
          </a:effectLst>
        </p:spPr>
      </p:sp>
      <p:sp>
        <p:nvSpPr>
          <p:cNvPr id="22" name="Shape 20"/>
          <p:cNvSpPr/>
          <p:nvPr/>
        </p:nvSpPr>
        <p:spPr>
          <a:xfrm>
            <a:off x="8138160" y="2011680"/>
            <a:ext cx="3566160" cy="73152"/>
          </a:xfrm>
          <a:prstGeom prst="rect">
            <a:avLst/>
          </a:prstGeom>
          <a:solidFill>
            <a:srgbClr val="1B4965"/>
          </a:solidFill>
          <a:ln w="12700">
            <a:solidFill>
              <a:srgbClr val="1B4965"/>
            </a:solidFill>
            <a:prstDash val="solid"/>
          </a:ln>
        </p:spPr>
      </p:sp>
      <p:sp>
        <p:nvSpPr>
          <p:cNvPr id="23" name="Text 21"/>
          <p:cNvSpPr/>
          <p:nvPr/>
        </p:nvSpPr>
        <p:spPr>
          <a:xfrm>
            <a:off x="8138160" y="2194560"/>
            <a:ext cx="3566160" cy="868680"/>
          </a:xfrm>
          <a:prstGeom prst="rect">
            <a:avLst/>
          </a:prstGeom>
          <a:noFill/>
          <a:ln/>
        </p:spPr>
        <p:txBody>
          <a:bodyPr wrap="square" lIns="0" tIns="0" rIns="0" bIns="0" rtlCol="0" anchor="ctr"/>
          <a:lstStyle/>
          <a:p>
            <a:pPr algn="ctr" indent="0" marL="0">
              <a:buNone/>
            </a:pPr>
            <a:r>
              <a:rPr lang="en-US" sz="5600" b="1" dirty="0">
                <a:solidFill>
                  <a:srgbClr val="1B4965"/>
                </a:solidFill>
                <a:latin typeface="Trebuchet MS" pitchFamily="34" charset="0"/>
                <a:ea typeface="Trebuchet MS" pitchFamily="34" charset="-122"/>
                <a:cs typeface="Trebuchet MS" pitchFamily="34" charset="-120"/>
              </a:rPr>
              <a:t>94%</a:t>
            </a:r>
            <a:endParaRPr lang="en-US" sz="5600" dirty="0"/>
          </a:p>
        </p:txBody>
      </p:sp>
      <p:sp>
        <p:nvSpPr>
          <p:cNvPr id="24" name="Text 22"/>
          <p:cNvSpPr/>
          <p:nvPr/>
        </p:nvSpPr>
        <p:spPr>
          <a:xfrm>
            <a:off x="8138160" y="3017520"/>
            <a:ext cx="3566160" cy="274320"/>
          </a:xfrm>
          <a:prstGeom prst="rect">
            <a:avLst/>
          </a:prstGeom>
          <a:noFill/>
          <a:ln/>
        </p:spPr>
        <p:txBody>
          <a:bodyPr wrap="square" lIns="0" tIns="0" rIns="0" bIns="0" rtlCol="0" anchor="ctr"/>
          <a:lstStyle/>
          <a:p>
            <a:pPr algn="ctr" indent="0" marL="0">
              <a:buNone/>
            </a:pPr>
            <a:r>
              <a:rPr lang="en-US" sz="1100" i="1" dirty="0">
                <a:solidFill>
                  <a:srgbClr val="334155"/>
                </a:solidFill>
                <a:latin typeface="Trebuchet MS" pitchFamily="34" charset="0"/>
                <a:ea typeface="Trebuchet MS" pitchFamily="34" charset="-122"/>
                <a:cs typeface="Trebuchet MS" pitchFamily="34" charset="-120"/>
              </a:rPr>
              <a:t>categorisation</a:t>
            </a:r>
            <a:endParaRPr lang="en-US" sz="1100" dirty="0"/>
          </a:p>
        </p:txBody>
      </p:sp>
      <p:sp>
        <p:nvSpPr>
          <p:cNvPr id="25" name="Text 23"/>
          <p:cNvSpPr/>
          <p:nvPr/>
        </p:nvSpPr>
        <p:spPr>
          <a:xfrm>
            <a:off x="8138160" y="3383280"/>
            <a:ext cx="3566160" cy="274320"/>
          </a:xfrm>
          <a:prstGeom prst="rect">
            <a:avLst/>
          </a:prstGeom>
          <a:noFill/>
          <a:ln/>
        </p:spPr>
        <p:txBody>
          <a:bodyPr wrap="square" lIns="0" tIns="0" rIns="0" bIns="0" rtlCol="0" anchor="ctr"/>
          <a:lstStyle/>
          <a:p>
            <a:pPr algn="ctr" indent="0" marL="0">
              <a:buNone/>
            </a:pPr>
            <a:r>
              <a:rPr lang="en-US" sz="1100" b="1" spc="400" kern="0" dirty="0">
                <a:solidFill>
                  <a:srgbClr val="0A2540"/>
                </a:solidFill>
                <a:latin typeface="Trebuchet MS" pitchFamily="34" charset="0"/>
                <a:ea typeface="Trebuchet MS" pitchFamily="34" charset="-122"/>
                <a:cs typeface="Trebuchet MS" pitchFamily="34" charset="-120"/>
              </a:rPr>
              <a:t>INTERNAL ACCURACY</a:t>
            </a:r>
            <a:endParaRPr lang="en-US" sz="1100" dirty="0"/>
          </a:p>
        </p:txBody>
      </p:sp>
      <p:sp>
        <p:nvSpPr>
          <p:cNvPr id="26" name="Text 24"/>
          <p:cNvSpPr/>
          <p:nvPr/>
        </p:nvSpPr>
        <p:spPr>
          <a:xfrm>
            <a:off x="8275320" y="3657600"/>
            <a:ext cx="3291840" cy="320040"/>
          </a:xfrm>
          <a:prstGeom prst="rect">
            <a:avLst/>
          </a:prstGeom>
          <a:noFill/>
          <a:ln/>
        </p:spPr>
        <p:txBody>
          <a:bodyPr wrap="square" lIns="0" tIns="0" rIns="0" bIns="0" rtlCol="0" anchor="ctr"/>
          <a:lstStyle/>
          <a:p>
            <a:pPr algn="ctr" indent="0" marL="0">
              <a:buNone/>
            </a:pPr>
            <a:r>
              <a:rPr lang="en-US" sz="800" dirty="0">
                <a:solidFill>
                  <a:srgbClr val="64748B"/>
                </a:solidFill>
                <a:latin typeface="Courier New" pitchFamily="34" charset="0"/>
                <a:ea typeface="Courier New" pitchFamily="34" charset="-122"/>
                <a:cs typeface="Courier New" pitchFamily="34" charset="-120"/>
              </a:rPr>
              <a:t>linkDown / OSPF-5-ADJCHG / BGP-5-ADJCHANGE</a:t>
            </a:r>
            <a:endParaRPr lang="en-US" sz="800" dirty="0"/>
          </a:p>
        </p:txBody>
      </p:sp>
      <p:sp>
        <p:nvSpPr>
          <p:cNvPr id="27" name="Shape 25"/>
          <p:cNvSpPr/>
          <p:nvPr/>
        </p:nvSpPr>
        <p:spPr>
          <a:xfrm>
            <a:off x="548640" y="4297680"/>
            <a:ext cx="11064240" cy="2011680"/>
          </a:xfrm>
          <a:prstGeom prst="rect">
            <a:avLst/>
          </a:prstGeom>
          <a:solidFill>
            <a:srgbClr val="0A2540"/>
          </a:solidFill>
          <a:ln w="12700">
            <a:solidFill>
              <a:srgbClr val="0A2540"/>
            </a:solidFill>
            <a:prstDash val="solid"/>
          </a:ln>
        </p:spPr>
      </p:sp>
      <p:sp>
        <p:nvSpPr>
          <p:cNvPr id="28" name="Text 26"/>
          <p:cNvSpPr/>
          <p:nvPr/>
        </p:nvSpPr>
        <p:spPr>
          <a:xfrm>
            <a:off x="822960" y="4434840"/>
            <a:ext cx="10515600" cy="320040"/>
          </a:xfrm>
          <a:prstGeom prst="rect">
            <a:avLst/>
          </a:prstGeom>
          <a:noFill/>
          <a:ln/>
        </p:spPr>
        <p:txBody>
          <a:bodyPr wrap="square" lIns="0" tIns="0" rIns="0" bIns="0" rtlCol="0" anchor="ctr"/>
          <a:lstStyle/>
          <a:p>
            <a:pPr indent="0" marL="0">
              <a:buNone/>
            </a:pPr>
            <a:r>
              <a:rPr lang="en-US" sz="1100" b="1" spc="600" kern="0" dirty="0">
                <a:solidFill>
                  <a:srgbClr val="F59E0B"/>
                </a:solidFill>
                <a:latin typeface="Trebuchet MS" pitchFamily="34" charset="0"/>
                <a:ea typeface="Trebuchet MS" pitchFamily="34" charset="-122"/>
                <a:cs typeface="Trebuchet MS" pitchFamily="34" charset="-120"/>
              </a:rPr>
              <a:t>METHODOLOGICAL HONESTY</a:t>
            </a:r>
            <a:endParaRPr lang="en-US" sz="1100" dirty="0"/>
          </a:p>
        </p:txBody>
      </p:sp>
      <p:sp>
        <p:nvSpPr>
          <p:cNvPr id="29" name="Text 27"/>
          <p:cNvSpPr/>
          <p:nvPr/>
        </p:nvSpPr>
        <p:spPr>
          <a:xfrm>
            <a:off x="822960" y="4800600"/>
            <a:ext cx="10515600" cy="1417320"/>
          </a:xfrm>
          <a:prstGeom prst="rect">
            <a:avLst/>
          </a:prstGeom>
          <a:noFill/>
          <a:ln/>
        </p:spPr>
        <p:txBody>
          <a:bodyPr wrap="square" lIns="0" tIns="0" rIns="0" bIns="0" rtlCol="0" anchor="t"/>
          <a:lstStyle/>
          <a:p>
            <a:pPr indent="0" marL="0">
              <a:buNone/>
            </a:pPr>
            <a:r>
              <a:rPr lang="en-US" sz="1100" dirty="0">
                <a:solidFill>
                  <a:srgbClr val="FFFFFF"/>
                </a:solidFill>
                <a:latin typeface="Trebuchet MS" pitchFamily="34" charset="0"/>
                <a:ea typeface="Trebuchet MS" pitchFamily="34" charset="-122"/>
                <a:cs typeface="Trebuchet MS" pitchFamily="34" charset="-120"/>
              </a:rPr>
              <a:t xml:space="preserve">These figures are </a:t>
            </a:r>
            <a:pPr indent="0" marL="0">
              <a:buNone/>
            </a:pPr>
            <a:r>
              <a:rPr lang="en-US" sz="1100" b="1" dirty="0">
                <a:solidFill>
                  <a:srgbClr val="00BCEB"/>
                </a:solidFill>
                <a:latin typeface="Trebuchet MS" pitchFamily="34" charset="0"/>
                <a:ea typeface="Trebuchet MS" pitchFamily="34" charset="-122"/>
                <a:cs typeface="Trebuchet MS" pitchFamily="34" charset="-120"/>
              </a:rPr>
              <a:t>internal consistency results</a:t>
            </a:r>
            <a:pPr indent="0" marL="0">
              <a:buNone/>
            </a:pPr>
            <a:r>
              <a:rPr lang="en-US" sz="1100" dirty="0">
                <a:solidFill>
                  <a:srgbClr val="FFFFFF"/>
                </a:solidFill>
                <a:latin typeface="Trebuchet MS" pitchFamily="34" charset="0"/>
                <a:ea typeface="Trebuchet MS" pitchFamily="34" charset="-122"/>
                <a:cs typeface="Trebuchet MS" pitchFamily="34" charset="-120"/>
              </a:rPr>
              <a:t>, not predictions of production performance.</a:t>
            </a:r>
            <a:endParaRPr lang="en-US" sz="1100" dirty="0"/>
          </a:p>
          <a:p>
            <a:pPr indent="0" marL="0">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buNone/>
            </a:pPr>
            <a:r>
              <a:rPr lang="en-US" sz="1100" dirty="0">
                <a:solidFill>
                  <a:srgbClr val="E2E8F0"/>
                </a:solidFill>
                <a:latin typeface="Trebuchet MS" pitchFamily="34" charset="0"/>
                <a:ea typeface="Trebuchet MS" pitchFamily="34" charset="-122"/>
                <a:cs typeface="Trebuchet MS" pitchFamily="34" charset="-120"/>
              </a:rPr>
              <a:t xml:space="preserve">The test corpus was authored by the team. The topology uses FRRouting (Containerlab), not Cisco IOS. Synthetic data cannot reproduce real syslog format variation, real temporal clustering, or ambiguous causality (Wohlin et al. 2012). </a:t>
            </a:r>
            <a:pPr indent="0" marL="0">
              <a:buNone/>
            </a:pPr>
            <a:r>
              <a:rPr lang="en-US" sz="1100" i="1" dirty="0">
                <a:solidFill>
                  <a:srgbClr val="E2E8F0"/>
                </a:solidFill>
                <a:latin typeface="Trebuchet MS" pitchFamily="34" charset="0"/>
                <a:ea typeface="Trebuchet MS" pitchFamily="34" charset="-122"/>
                <a:cs typeface="Trebuchet MS" pitchFamily="34" charset="-120"/>
              </a:rPr>
              <a:t xml:space="preserve">PID Section 10.3 makes this explicit. </a:t>
            </a:r>
            <a:endParaRPr lang="en-US" sz="1100" dirty="0"/>
          </a:p>
          <a:p>
            <a:pPr indent="0" marL="0">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buNone/>
            </a:pPr>
            <a:r>
              <a:rPr lang="en-US" sz="1100" dirty="0">
                <a:solidFill>
                  <a:srgbClr val="FFFFFF"/>
                </a:solidFill>
                <a:latin typeface="Trebuchet MS" pitchFamily="34" charset="0"/>
                <a:ea typeface="Trebuchet MS" pitchFamily="34" charset="-122"/>
                <a:cs typeface="Trebuchet MS" pitchFamily="34" charset="-120"/>
              </a:rPr>
              <a:t xml:space="preserve">Production validity requires labelled Cisco IOS samples and externally-constructed ground truth, neither available within the academic timeline. </a:t>
            </a:r>
            <a:pPr indent="0" marL="0">
              <a:buNone/>
            </a:pPr>
            <a:r>
              <a:rPr lang="en-US" sz="1100" b="1" dirty="0">
                <a:solidFill>
                  <a:srgbClr val="F59E0B"/>
                </a:solidFill>
                <a:latin typeface="Trebuchet MS" pitchFamily="34" charset="0"/>
                <a:ea typeface="Trebuchet MS" pitchFamily="34" charset="-122"/>
                <a:cs typeface="Trebuchet MS" pitchFamily="34" charset="-120"/>
              </a:rPr>
              <a:t>We do not claim what the evidence does not support.</a:t>
            </a:r>
            <a:endParaRPr lang="en-US" sz="1100" dirty="0"/>
          </a:p>
        </p:txBody>
      </p:sp>
      <p:sp>
        <p:nvSpPr>
          <p:cNvPr id="30" name="Shape 28"/>
          <p:cNvSpPr/>
          <p:nvPr/>
        </p:nvSpPr>
        <p:spPr>
          <a:xfrm>
            <a:off x="0" y="6565392"/>
            <a:ext cx="12161520" cy="292608"/>
          </a:xfrm>
          <a:prstGeom prst="rect">
            <a:avLst/>
          </a:prstGeom>
          <a:solidFill>
            <a:srgbClr val="0A2540"/>
          </a:solidFill>
          <a:ln w="12700">
            <a:solidFill>
              <a:srgbClr val="0A2540"/>
            </a:solidFill>
            <a:prstDash val="solid"/>
          </a:ln>
        </p:spPr>
      </p:sp>
      <p:sp>
        <p:nvSpPr>
          <p:cNvPr id="31" name="Text 29"/>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32" name="Text 30"/>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05  /  DECISIONS</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Critical Decisions</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What we built, what we deliberately rejected, and why</a:t>
            </a:r>
            <a:endParaRPr lang="en-US" sz="1400" dirty="0"/>
          </a:p>
        </p:txBody>
      </p:sp>
      <p:sp>
        <p:nvSpPr>
          <p:cNvPr id="9" name="Shape 7"/>
          <p:cNvSpPr/>
          <p:nvPr/>
        </p:nvSpPr>
        <p:spPr>
          <a:xfrm>
            <a:off x="548640" y="2103120"/>
            <a:ext cx="11064240" cy="713232"/>
          </a:xfrm>
          <a:prstGeom prst="rect">
            <a:avLst/>
          </a:prstGeom>
          <a:solidFill>
            <a:srgbClr val="FFFFFF"/>
          </a:solidFill>
          <a:ln w="12700">
            <a:solidFill>
              <a:srgbClr val="E2E8F0"/>
            </a:solidFill>
            <a:prstDash val="solid"/>
          </a:ln>
        </p:spPr>
      </p:sp>
      <p:sp>
        <p:nvSpPr>
          <p:cNvPr id="10" name="Shape 8"/>
          <p:cNvSpPr/>
          <p:nvPr/>
        </p:nvSpPr>
        <p:spPr>
          <a:xfrm>
            <a:off x="548640" y="2103120"/>
            <a:ext cx="73152" cy="713232"/>
          </a:xfrm>
          <a:prstGeom prst="rect">
            <a:avLst/>
          </a:prstGeom>
          <a:solidFill>
            <a:srgbClr val="00BCEB"/>
          </a:solidFill>
          <a:ln w="12700">
            <a:solidFill>
              <a:srgbClr val="00BCEB"/>
            </a:solidFill>
            <a:prstDash val="solid"/>
          </a:ln>
        </p:spPr>
      </p:sp>
      <p:sp>
        <p:nvSpPr>
          <p:cNvPr id="11" name="Text 9"/>
          <p:cNvSpPr/>
          <p:nvPr/>
        </p:nvSpPr>
        <p:spPr>
          <a:xfrm>
            <a:off x="777240" y="2157984"/>
            <a:ext cx="914400" cy="228600"/>
          </a:xfrm>
          <a:prstGeom prst="rect">
            <a:avLst/>
          </a:prstGeom>
          <a:noFill/>
          <a:ln/>
        </p:spPr>
        <p:txBody>
          <a:bodyPr wrap="square" lIns="0" tIns="0" rIns="0" bIns="0" rtlCol="0" anchor="ctr"/>
          <a:lstStyle/>
          <a:p>
            <a:pPr indent="0" marL="0">
              <a:buNone/>
            </a:pPr>
            <a:r>
              <a:rPr lang="en-US" sz="800" b="1" spc="400" kern="0" dirty="0">
                <a:solidFill>
                  <a:srgbClr val="00BCEB"/>
                </a:solidFill>
                <a:latin typeface="Trebuchet MS" pitchFamily="34" charset="0"/>
                <a:ea typeface="Trebuchet MS" pitchFamily="34" charset="-122"/>
                <a:cs typeface="Trebuchet MS" pitchFamily="34" charset="-120"/>
              </a:rPr>
              <a:t>BUILT</a:t>
            </a:r>
            <a:endParaRPr lang="en-US" sz="800" dirty="0"/>
          </a:p>
        </p:txBody>
      </p:sp>
      <p:sp>
        <p:nvSpPr>
          <p:cNvPr id="12" name="Text 10"/>
          <p:cNvSpPr/>
          <p:nvPr/>
        </p:nvSpPr>
        <p:spPr>
          <a:xfrm>
            <a:off x="777240" y="2377440"/>
            <a:ext cx="2286000" cy="411480"/>
          </a:xfrm>
          <a:prstGeom prst="rect">
            <a:avLst/>
          </a:prstGeom>
          <a:noFill/>
          <a:ln/>
        </p:spPr>
        <p:txBody>
          <a:bodyPr wrap="square" lIns="0" tIns="0" rIns="0" bIns="0" rtlCol="0" anchor="t"/>
          <a:lstStyle/>
          <a:p>
            <a:pPr indent="0" marL="0">
              <a:buNone/>
            </a:pPr>
            <a:r>
              <a:rPr lang="en-US" sz="1200" b="1" dirty="0">
                <a:solidFill>
                  <a:srgbClr val="0A2540"/>
                </a:solidFill>
                <a:latin typeface="Trebuchet MS" pitchFamily="34" charset="0"/>
                <a:ea typeface="Trebuchet MS" pitchFamily="34" charset="-122"/>
                <a:cs typeface="Trebuchet MS" pitchFamily="34" charset="-120"/>
              </a:rPr>
              <a:t>Rule-based correlator</a:t>
            </a:r>
            <a:endParaRPr lang="en-US" sz="1200" dirty="0"/>
          </a:p>
        </p:txBody>
      </p:sp>
      <p:sp>
        <p:nvSpPr>
          <p:cNvPr id="13" name="Text 11"/>
          <p:cNvSpPr/>
          <p:nvPr/>
        </p:nvSpPr>
        <p:spPr>
          <a:xfrm>
            <a:off x="3200400" y="2157984"/>
            <a:ext cx="128016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REJECTED</a:t>
            </a:r>
            <a:endParaRPr lang="en-US" sz="800" dirty="0"/>
          </a:p>
        </p:txBody>
      </p:sp>
      <p:sp>
        <p:nvSpPr>
          <p:cNvPr id="14" name="Text 12"/>
          <p:cNvSpPr/>
          <p:nvPr/>
        </p:nvSpPr>
        <p:spPr>
          <a:xfrm>
            <a:off x="3200400" y="2377440"/>
            <a:ext cx="2377440" cy="411480"/>
          </a:xfrm>
          <a:prstGeom prst="rect">
            <a:avLst/>
          </a:prstGeom>
          <a:noFill/>
          <a:ln/>
        </p:spPr>
        <p:txBody>
          <a:bodyPr wrap="square" lIns="0" tIns="0" rIns="0" bIns="0" rtlCol="0" anchor="t"/>
          <a:lstStyle/>
          <a:p>
            <a:pPr indent="0" marL="0">
              <a:buNone/>
            </a:pPr>
            <a:r>
              <a:rPr lang="en-US" sz="1200" i="1" dirty="0">
                <a:solidFill>
                  <a:srgbClr val="334155"/>
                </a:solidFill>
                <a:latin typeface="Trebuchet MS" pitchFamily="34" charset="0"/>
                <a:ea typeface="Trebuchet MS" pitchFamily="34" charset="-122"/>
                <a:cs typeface="Trebuchet MS" pitchFamily="34" charset="-120"/>
              </a:rPr>
              <a:t>ML-based correlation</a:t>
            </a:r>
            <a:endParaRPr lang="en-US" sz="1200" dirty="0"/>
          </a:p>
        </p:txBody>
      </p:sp>
      <p:sp>
        <p:nvSpPr>
          <p:cNvPr id="15" name="Text 13"/>
          <p:cNvSpPr/>
          <p:nvPr/>
        </p:nvSpPr>
        <p:spPr>
          <a:xfrm>
            <a:off x="5669280" y="2157984"/>
            <a:ext cx="73152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WHY</a:t>
            </a:r>
            <a:endParaRPr lang="en-US" sz="800" dirty="0"/>
          </a:p>
        </p:txBody>
      </p:sp>
      <p:sp>
        <p:nvSpPr>
          <p:cNvPr id="16" name="Text 14"/>
          <p:cNvSpPr/>
          <p:nvPr/>
        </p:nvSpPr>
        <p:spPr>
          <a:xfrm>
            <a:off x="5669280" y="2377440"/>
            <a:ext cx="5760720" cy="411480"/>
          </a:xfrm>
          <a:prstGeom prst="rect">
            <a:avLst/>
          </a:prstGeom>
          <a:noFill/>
          <a:ln/>
        </p:spPr>
        <p:txBody>
          <a:bodyPr wrap="square" lIns="0" tIns="0" rIns="0" bIns="0" rtlCol="0" anchor="t"/>
          <a:lstStyle/>
          <a:p>
            <a:pPr indent="0" marL="0">
              <a:buNone/>
            </a:pPr>
            <a:r>
              <a:rPr lang="en-US" sz="1000" dirty="0">
                <a:solidFill>
                  <a:srgbClr val="334155"/>
                </a:solidFill>
                <a:latin typeface="Trebuchet MS" pitchFamily="34" charset="0"/>
                <a:ea typeface="Trebuchet MS" pitchFamily="34" charset="-122"/>
                <a:cs typeface="Trebuchet MS" pitchFamily="34" charset="-120"/>
              </a:rPr>
              <a:t>ML fails statistically; rules fail in readable, debuggable ways. Plugin slot reserved for v1 once labelled production data exists.</a:t>
            </a:r>
            <a:endParaRPr lang="en-US" sz="1000" dirty="0"/>
          </a:p>
        </p:txBody>
      </p:sp>
      <p:sp>
        <p:nvSpPr>
          <p:cNvPr id="17" name="Shape 15"/>
          <p:cNvSpPr/>
          <p:nvPr/>
        </p:nvSpPr>
        <p:spPr>
          <a:xfrm>
            <a:off x="548640" y="2871216"/>
            <a:ext cx="11064240" cy="713232"/>
          </a:xfrm>
          <a:prstGeom prst="rect">
            <a:avLst/>
          </a:prstGeom>
          <a:solidFill>
            <a:srgbClr val="FFFFFF"/>
          </a:solidFill>
          <a:ln w="12700">
            <a:solidFill>
              <a:srgbClr val="E2E8F0"/>
            </a:solidFill>
            <a:prstDash val="solid"/>
          </a:ln>
        </p:spPr>
      </p:sp>
      <p:sp>
        <p:nvSpPr>
          <p:cNvPr id="18" name="Shape 16"/>
          <p:cNvSpPr/>
          <p:nvPr/>
        </p:nvSpPr>
        <p:spPr>
          <a:xfrm>
            <a:off x="548640" y="2871216"/>
            <a:ext cx="73152" cy="713232"/>
          </a:xfrm>
          <a:prstGeom prst="rect">
            <a:avLst/>
          </a:prstGeom>
          <a:solidFill>
            <a:srgbClr val="F59E0B"/>
          </a:solidFill>
          <a:ln w="12700">
            <a:solidFill>
              <a:srgbClr val="F59E0B"/>
            </a:solidFill>
            <a:prstDash val="solid"/>
          </a:ln>
        </p:spPr>
      </p:sp>
      <p:sp>
        <p:nvSpPr>
          <p:cNvPr id="19" name="Text 17"/>
          <p:cNvSpPr/>
          <p:nvPr/>
        </p:nvSpPr>
        <p:spPr>
          <a:xfrm>
            <a:off x="777240" y="2926080"/>
            <a:ext cx="914400" cy="228600"/>
          </a:xfrm>
          <a:prstGeom prst="rect">
            <a:avLst/>
          </a:prstGeom>
          <a:noFill/>
          <a:ln/>
        </p:spPr>
        <p:txBody>
          <a:bodyPr wrap="square" lIns="0" tIns="0" rIns="0" bIns="0" rtlCol="0" anchor="ctr"/>
          <a:lstStyle/>
          <a:p>
            <a:pPr indent="0" marL="0">
              <a:buNone/>
            </a:pPr>
            <a:r>
              <a:rPr lang="en-US" sz="800" b="1" spc="400" kern="0" dirty="0">
                <a:solidFill>
                  <a:srgbClr val="F59E0B"/>
                </a:solidFill>
                <a:latin typeface="Trebuchet MS" pitchFamily="34" charset="0"/>
                <a:ea typeface="Trebuchet MS" pitchFamily="34" charset="-122"/>
                <a:cs typeface="Trebuchet MS" pitchFamily="34" charset="-120"/>
              </a:rPr>
              <a:t>BUILT</a:t>
            </a:r>
            <a:endParaRPr lang="en-US" sz="800" dirty="0"/>
          </a:p>
        </p:txBody>
      </p:sp>
      <p:sp>
        <p:nvSpPr>
          <p:cNvPr id="20" name="Text 18"/>
          <p:cNvSpPr/>
          <p:nvPr/>
        </p:nvSpPr>
        <p:spPr>
          <a:xfrm>
            <a:off x="777240" y="3145536"/>
            <a:ext cx="2286000" cy="411480"/>
          </a:xfrm>
          <a:prstGeom prst="rect">
            <a:avLst/>
          </a:prstGeom>
          <a:noFill/>
          <a:ln/>
        </p:spPr>
        <p:txBody>
          <a:bodyPr wrap="square" lIns="0" tIns="0" rIns="0" bIns="0" rtlCol="0" anchor="t"/>
          <a:lstStyle/>
          <a:p>
            <a:pPr indent="0" marL="0">
              <a:buNone/>
            </a:pPr>
            <a:r>
              <a:rPr lang="en-US" sz="1200" b="1" dirty="0">
                <a:solidFill>
                  <a:srgbClr val="0A2540"/>
                </a:solidFill>
                <a:latin typeface="Trebuchet MS" pitchFamily="34" charset="0"/>
                <a:ea typeface="Trebuchet MS" pitchFamily="34" charset="-122"/>
                <a:cs typeface="Trebuchet MS" pitchFamily="34" charset="-120"/>
              </a:rPr>
              <a:t>Read-only diagnostics</a:t>
            </a:r>
            <a:endParaRPr lang="en-US" sz="1200" dirty="0"/>
          </a:p>
        </p:txBody>
      </p:sp>
      <p:sp>
        <p:nvSpPr>
          <p:cNvPr id="21" name="Text 19"/>
          <p:cNvSpPr/>
          <p:nvPr/>
        </p:nvSpPr>
        <p:spPr>
          <a:xfrm>
            <a:off x="3200400" y="2926080"/>
            <a:ext cx="128016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REJECTED</a:t>
            </a:r>
            <a:endParaRPr lang="en-US" sz="800" dirty="0"/>
          </a:p>
        </p:txBody>
      </p:sp>
      <p:sp>
        <p:nvSpPr>
          <p:cNvPr id="22" name="Text 20"/>
          <p:cNvSpPr/>
          <p:nvPr/>
        </p:nvSpPr>
        <p:spPr>
          <a:xfrm>
            <a:off x="3200400" y="3145536"/>
            <a:ext cx="2377440" cy="411480"/>
          </a:xfrm>
          <a:prstGeom prst="rect">
            <a:avLst/>
          </a:prstGeom>
          <a:noFill/>
          <a:ln/>
        </p:spPr>
        <p:txBody>
          <a:bodyPr wrap="square" lIns="0" tIns="0" rIns="0" bIns="0" rtlCol="0" anchor="t"/>
          <a:lstStyle/>
          <a:p>
            <a:pPr indent="0" marL="0">
              <a:buNone/>
            </a:pPr>
            <a:r>
              <a:rPr lang="en-US" sz="1200" i="1" dirty="0">
                <a:solidFill>
                  <a:srgbClr val="334155"/>
                </a:solidFill>
                <a:latin typeface="Trebuchet MS" pitchFamily="34" charset="0"/>
                <a:ea typeface="Trebuchet MS" pitchFamily="34" charset="-122"/>
                <a:cs typeface="Trebuchet MS" pitchFamily="34" charset="-120"/>
              </a:rPr>
              <a:t>Autonomous remediation</a:t>
            </a:r>
            <a:endParaRPr lang="en-US" sz="1200" dirty="0"/>
          </a:p>
        </p:txBody>
      </p:sp>
      <p:sp>
        <p:nvSpPr>
          <p:cNvPr id="23" name="Text 21"/>
          <p:cNvSpPr/>
          <p:nvPr/>
        </p:nvSpPr>
        <p:spPr>
          <a:xfrm>
            <a:off x="5669280" y="2926080"/>
            <a:ext cx="73152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WHY</a:t>
            </a:r>
            <a:endParaRPr lang="en-US" sz="800" dirty="0"/>
          </a:p>
        </p:txBody>
      </p:sp>
      <p:sp>
        <p:nvSpPr>
          <p:cNvPr id="24" name="Text 22"/>
          <p:cNvSpPr/>
          <p:nvPr/>
        </p:nvSpPr>
        <p:spPr>
          <a:xfrm>
            <a:off x="5669280" y="3145536"/>
            <a:ext cx="5760720" cy="411480"/>
          </a:xfrm>
          <a:prstGeom prst="rect">
            <a:avLst/>
          </a:prstGeom>
          <a:noFill/>
          <a:ln/>
        </p:spPr>
        <p:txBody>
          <a:bodyPr wrap="square" lIns="0" tIns="0" rIns="0" bIns="0" rtlCol="0" anchor="t"/>
          <a:lstStyle/>
          <a:p>
            <a:pPr indent="0" marL="0">
              <a:buNone/>
            </a:pPr>
            <a:r>
              <a:rPr lang="en-US" sz="1000" dirty="0">
                <a:solidFill>
                  <a:srgbClr val="334155"/>
                </a:solidFill>
                <a:latin typeface="Trebuchet MS" pitchFamily="34" charset="0"/>
                <a:ea typeface="Trebuchet MS" pitchFamily="34" charset="-122"/>
                <a:cs typeface="Trebuchet MS" pitchFamily="34" charset="-120"/>
              </a:rPr>
              <a:t>An incorrect automated remediation can cause the outage it was meant to prevent. Architectural boundary enforced at the API layer.</a:t>
            </a:r>
            <a:endParaRPr lang="en-US" sz="1000" dirty="0"/>
          </a:p>
        </p:txBody>
      </p:sp>
      <p:sp>
        <p:nvSpPr>
          <p:cNvPr id="25" name="Shape 23"/>
          <p:cNvSpPr/>
          <p:nvPr/>
        </p:nvSpPr>
        <p:spPr>
          <a:xfrm>
            <a:off x="548640" y="3639312"/>
            <a:ext cx="11064240" cy="713232"/>
          </a:xfrm>
          <a:prstGeom prst="rect">
            <a:avLst/>
          </a:prstGeom>
          <a:solidFill>
            <a:srgbClr val="FFFFFF"/>
          </a:solidFill>
          <a:ln w="12700">
            <a:solidFill>
              <a:srgbClr val="E2E8F0"/>
            </a:solidFill>
            <a:prstDash val="solid"/>
          </a:ln>
        </p:spPr>
      </p:sp>
      <p:sp>
        <p:nvSpPr>
          <p:cNvPr id="26" name="Shape 24"/>
          <p:cNvSpPr/>
          <p:nvPr/>
        </p:nvSpPr>
        <p:spPr>
          <a:xfrm>
            <a:off x="548640" y="3639312"/>
            <a:ext cx="73152" cy="713232"/>
          </a:xfrm>
          <a:prstGeom prst="rect">
            <a:avLst/>
          </a:prstGeom>
          <a:solidFill>
            <a:srgbClr val="1B4965"/>
          </a:solidFill>
          <a:ln w="12700">
            <a:solidFill>
              <a:srgbClr val="1B4965"/>
            </a:solidFill>
            <a:prstDash val="solid"/>
          </a:ln>
        </p:spPr>
      </p:sp>
      <p:sp>
        <p:nvSpPr>
          <p:cNvPr id="27" name="Text 25"/>
          <p:cNvSpPr/>
          <p:nvPr/>
        </p:nvSpPr>
        <p:spPr>
          <a:xfrm>
            <a:off x="777240" y="3694176"/>
            <a:ext cx="914400" cy="228600"/>
          </a:xfrm>
          <a:prstGeom prst="rect">
            <a:avLst/>
          </a:prstGeom>
          <a:noFill/>
          <a:ln/>
        </p:spPr>
        <p:txBody>
          <a:bodyPr wrap="square" lIns="0" tIns="0" rIns="0" bIns="0" rtlCol="0" anchor="ctr"/>
          <a:lstStyle/>
          <a:p>
            <a:pPr indent="0" marL="0">
              <a:buNone/>
            </a:pPr>
            <a:r>
              <a:rPr lang="en-US" sz="800" b="1" spc="400" kern="0" dirty="0">
                <a:solidFill>
                  <a:srgbClr val="1B4965"/>
                </a:solidFill>
                <a:latin typeface="Trebuchet MS" pitchFamily="34" charset="0"/>
                <a:ea typeface="Trebuchet MS" pitchFamily="34" charset="-122"/>
                <a:cs typeface="Trebuchet MS" pitchFamily="34" charset="-120"/>
              </a:rPr>
              <a:t>BUILT</a:t>
            </a:r>
            <a:endParaRPr lang="en-US" sz="800" dirty="0"/>
          </a:p>
        </p:txBody>
      </p:sp>
      <p:sp>
        <p:nvSpPr>
          <p:cNvPr id="28" name="Text 26"/>
          <p:cNvSpPr/>
          <p:nvPr/>
        </p:nvSpPr>
        <p:spPr>
          <a:xfrm>
            <a:off x="777240" y="3913632"/>
            <a:ext cx="2286000" cy="411480"/>
          </a:xfrm>
          <a:prstGeom prst="rect">
            <a:avLst/>
          </a:prstGeom>
          <a:noFill/>
          <a:ln/>
        </p:spPr>
        <p:txBody>
          <a:bodyPr wrap="square" lIns="0" tIns="0" rIns="0" bIns="0" rtlCol="0" anchor="t"/>
          <a:lstStyle/>
          <a:p>
            <a:pPr indent="0" marL="0">
              <a:buNone/>
            </a:pPr>
            <a:r>
              <a:rPr lang="en-US" sz="1200" b="1" dirty="0">
                <a:solidFill>
                  <a:srgbClr val="0A2540"/>
                </a:solidFill>
                <a:latin typeface="Trebuchet MS" pitchFamily="34" charset="0"/>
                <a:ea typeface="Trebuchet MS" pitchFamily="34" charset="-122"/>
                <a:cs typeface="Trebuchet MS" pitchFamily="34" charset="-120"/>
              </a:rPr>
              <a:t>Synthetic Containerlab/FRR</a:t>
            </a:r>
            <a:endParaRPr lang="en-US" sz="1200" dirty="0"/>
          </a:p>
        </p:txBody>
      </p:sp>
      <p:sp>
        <p:nvSpPr>
          <p:cNvPr id="29" name="Text 27"/>
          <p:cNvSpPr/>
          <p:nvPr/>
        </p:nvSpPr>
        <p:spPr>
          <a:xfrm>
            <a:off x="3200400" y="3694176"/>
            <a:ext cx="128016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REJECTED</a:t>
            </a:r>
            <a:endParaRPr lang="en-US" sz="800" dirty="0"/>
          </a:p>
        </p:txBody>
      </p:sp>
      <p:sp>
        <p:nvSpPr>
          <p:cNvPr id="30" name="Text 28"/>
          <p:cNvSpPr/>
          <p:nvPr/>
        </p:nvSpPr>
        <p:spPr>
          <a:xfrm>
            <a:off x="3200400" y="3913632"/>
            <a:ext cx="2377440" cy="411480"/>
          </a:xfrm>
          <a:prstGeom prst="rect">
            <a:avLst/>
          </a:prstGeom>
          <a:noFill/>
          <a:ln/>
        </p:spPr>
        <p:txBody>
          <a:bodyPr wrap="square" lIns="0" tIns="0" rIns="0" bIns="0" rtlCol="0" anchor="t"/>
          <a:lstStyle/>
          <a:p>
            <a:pPr indent="0" marL="0">
              <a:buNone/>
            </a:pPr>
            <a:r>
              <a:rPr lang="en-US" sz="1200" i="1" dirty="0">
                <a:solidFill>
                  <a:srgbClr val="334155"/>
                </a:solidFill>
                <a:latin typeface="Trebuchet MS" pitchFamily="34" charset="0"/>
                <a:ea typeface="Trebuchet MS" pitchFamily="34" charset="-122"/>
                <a:cs typeface="Trebuchet MS" pitchFamily="34" charset="-120"/>
              </a:rPr>
              <a:t>Live Cisco IOS testing</a:t>
            </a:r>
            <a:endParaRPr lang="en-US" sz="1200" dirty="0"/>
          </a:p>
        </p:txBody>
      </p:sp>
      <p:sp>
        <p:nvSpPr>
          <p:cNvPr id="31" name="Text 29"/>
          <p:cNvSpPr/>
          <p:nvPr/>
        </p:nvSpPr>
        <p:spPr>
          <a:xfrm>
            <a:off x="5669280" y="3694176"/>
            <a:ext cx="73152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WHY</a:t>
            </a:r>
            <a:endParaRPr lang="en-US" sz="800" dirty="0"/>
          </a:p>
        </p:txBody>
      </p:sp>
      <p:sp>
        <p:nvSpPr>
          <p:cNvPr id="32" name="Text 30"/>
          <p:cNvSpPr/>
          <p:nvPr/>
        </p:nvSpPr>
        <p:spPr>
          <a:xfrm>
            <a:off x="5669280" y="3913632"/>
            <a:ext cx="5760720" cy="411480"/>
          </a:xfrm>
          <a:prstGeom prst="rect">
            <a:avLst/>
          </a:prstGeom>
          <a:noFill/>
          <a:ln/>
        </p:spPr>
        <p:txBody>
          <a:bodyPr wrap="square" lIns="0" tIns="0" rIns="0" bIns="0" rtlCol="0" anchor="t"/>
          <a:lstStyle/>
          <a:p>
            <a:pPr indent="0" marL="0">
              <a:buNone/>
            </a:pPr>
            <a:r>
              <a:rPr lang="en-US" sz="1000" dirty="0">
                <a:solidFill>
                  <a:srgbClr val="334155"/>
                </a:solidFill>
                <a:latin typeface="Trebuchet MS" pitchFamily="34" charset="0"/>
                <a:ea typeface="Trebuchet MS" pitchFamily="34" charset="-122"/>
                <a:cs typeface="Trebuchet MS" pitchFamily="34" charset="-120"/>
              </a:rPr>
              <a:t>Outside academic scope. The cost is named openly: rules need vendor-syslog adaptation before production use (Risk R-001).</a:t>
            </a:r>
            <a:endParaRPr lang="en-US" sz="1000" dirty="0"/>
          </a:p>
        </p:txBody>
      </p:sp>
      <p:sp>
        <p:nvSpPr>
          <p:cNvPr id="33" name="Shape 31"/>
          <p:cNvSpPr/>
          <p:nvPr/>
        </p:nvSpPr>
        <p:spPr>
          <a:xfrm>
            <a:off x="548640" y="4407408"/>
            <a:ext cx="11064240" cy="713232"/>
          </a:xfrm>
          <a:prstGeom prst="rect">
            <a:avLst/>
          </a:prstGeom>
          <a:solidFill>
            <a:srgbClr val="FFFFFF"/>
          </a:solidFill>
          <a:ln w="12700">
            <a:solidFill>
              <a:srgbClr val="E2E8F0"/>
            </a:solidFill>
            <a:prstDash val="solid"/>
          </a:ln>
        </p:spPr>
      </p:sp>
      <p:sp>
        <p:nvSpPr>
          <p:cNvPr id="34" name="Shape 32"/>
          <p:cNvSpPr/>
          <p:nvPr/>
        </p:nvSpPr>
        <p:spPr>
          <a:xfrm>
            <a:off x="548640" y="4407408"/>
            <a:ext cx="73152" cy="713232"/>
          </a:xfrm>
          <a:prstGeom prst="rect">
            <a:avLst/>
          </a:prstGeom>
          <a:solidFill>
            <a:srgbClr val="8B5CF6"/>
          </a:solidFill>
          <a:ln w="12700">
            <a:solidFill>
              <a:srgbClr val="8B5CF6"/>
            </a:solidFill>
            <a:prstDash val="solid"/>
          </a:ln>
        </p:spPr>
      </p:sp>
      <p:sp>
        <p:nvSpPr>
          <p:cNvPr id="35" name="Text 33"/>
          <p:cNvSpPr/>
          <p:nvPr/>
        </p:nvSpPr>
        <p:spPr>
          <a:xfrm>
            <a:off x="777240" y="4462272"/>
            <a:ext cx="914400" cy="228600"/>
          </a:xfrm>
          <a:prstGeom prst="rect">
            <a:avLst/>
          </a:prstGeom>
          <a:noFill/>
          <a:ln/>
        </p:spPr>
        <p:txBody>
          <a:bodyPr wrap="square" lIns="0" tIns="0" rIns="0" bIns="0" rtlCol="0" anchor="ctr"/>
          <a:lstStyle/>
          <a:p>
            <a:pPr indent="0" marL="0">
              <a:buNone/>
            </a:pPr>
            <a:r>
              <a:rPr lang="en-US" sz="800" b="1" spc="400" kern="0" dirty="0">
                <a:solidFill>
                  <a:srgbClr val="8B5CF6"/>
                </a:solidFill>
                <a:latin typeface="Trebuchet MS" pitchFamily="34" charset="0"/>
                <a:ea typeface="Trebuchet MS" pitchFamily="34" charset="-122"/>
                <a:cs typeface="Trebuchet MS" pitchFamily="34" charset="-120"/>
              </a:rPr>
              <a:t>BUILT</a:t>
            </a:r>
            <a:endParaRPr lang="en-US" sz="800" dirty="0"/>
          </a:p>
        </p:txBody>
      </p:sp>
      <p:sp>
        <p:nvSpPr>
          <p:cNvPr id="36" name="Text 34"/>
          <p:cNvSpPr/>
          <p:nvPr/>
        </p:nvSpPr>
        <p:spPr>
          <a:xfrm>
            <a:off x="777240" y="4681728"/>
            <a:ext cx="2286000" cy="411480"/>
          </a:xfrm>
          <a:prstGeom prst="rect">
            <a:avLst/>
          </a:prstGeom>
          <a:noFill/>
          <a:ln/>
        </p:spPr>
        <p:txBody>
          <a:bodyPr wrap="square" lIns="0" tIns="0" rIns="0" bIns="0" rtlCol="0" anchor="t"/>
          <a:lstStyle/>
          <a:p>
            <a:pPr indent="0" marL="0">
              <a:buNone/>
            </a:pPr>
            <a:r>
              <a:rPr lang="en-US" sz="1200" b="1" dirty="0">
                <a:solidFill>
                  <a:srgbClr val="0A2540"/>
                </a:solidFill>
                <a:latin typeface="Trebuchet MS" pitchFamily="34" charset="0"/>
                <a:ea typeface="Trebuchet MS" pitchFamily="34" charset="-122"/>
                <a:cs typeface="Trebuchet MS" pitchFamily="34" charset="-120"/>
              </a:rPr>
              <a:t>RabbitMQ then Kafka</a:t>
            </a:r>
            <a:endParaRPr lang="en-US" sz="1200" dirty="0"/>
          </a:p>
        </p:txBody>
      </p:sp>
      <p:sp>
        <p:nvSpPr>
          <p:cNvPr id="37" name="Text 35"/>
          <p:cNvSpPr/>
          <p:nvPr/>
        </p:nvSpPr>
        <p:spPr>
          <a:xfrm>
            <a:off x="3200400" y="4462272"/>
            <a:ext cx="128016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REJECTED</a:t>
            </a:r>
            <a:endParaRPr lang="en-US" sz="800" dirty="0"/>
          </a:p>
        </p:txBody>
      </p:sp>
      <p:sp>
        <p:nvSpPr>
          <p:cNvPr id="38" name="Text 36"/>
          <p:cNvSpPr/>
          <p:nvPr/>
        </p:nvSpPr>
        <p:spPr>
          <a:xfrm>
            <a:off x="3200400" y="4681728"/>
            <a:ext cx="2377440" cy="411480"/>
          </a:xfrm>
          <a:prstGeom prst="rect">
            <a:avLst/>
          </a:prstGeom>
          <a:noFill/>
          <a:ln/>
        </p:spPr>
        <p:txBody>
          <a:bodyPr wrap="square" lIns="0" tIns="0" rIns="0" bIns="0" rtlCol="0" anchor="t"/>
          <a:lstStyle/>
          <a:p>
            <a:pPr indent="0" marL="0">
              <a:buNone/>
            </a:pPr>
            <a:r>
              <a:rPr lang="en-US" sz="1200" i="1" dirty="0">
                <a:solidFill>
                  <a:srgbClr val="334155"/>
                </a:solidFill>
                <a:latin typeface="Trebuchet MS" pitchFamily="34" charset="0"/>
                <a:ea typeface="Trebuchet MS" pitchFamily="34" charset="-122"/>
                <a:cs typeface="Trebuchet MS" pitchFamily="34" charset="-120"/>
              </a:rPr>
              <a:t>Kafka from day one</a:t>
            </a:r>
            <a:endParaRPr lang="en-US" sz="1200" dirty="0"/>
          </a:p>
        </p:txBody>
      </p:sp>
      <p:sp>
        <p:nvSpPr>
          <p:cNvPr id="39" name="Text 37"/>
          <p:cNvSpPr/>
          <p:nvPr/>
        </p:nvSpPr>
        <p:spPr>
          <a:xfrm>
            <a:off x="5669280" y="4462272"/>
            <a:ext cx="73152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WHY</a:t>
            </a:r>
            <a:endParaRPr lang="en-US" sz="800" dirty="0"/>
          </a:p>
        </p:txBody>
      </p:sp>
      <p:sp>
        <p:nvSpPr>
          <p:cNvPr id="40" name="Text 38"/>
          <p:cNvSpPr/>
          <p:nvPr/>
        </p:nvSpPr>
        <p:spPr>
          <a:xfrm>
            <a:off x="5669280" y="4681728"/>
            <a:ext cx="5760720" cy="411480"/>
          </a:xfrm>
          <a:prstGeom prst="rect">
            <a:avLst/>
          </a:prstGeom>
          <a:noFill/>
          <a:ln/>
        </p:spPr>
        <p:txBody>
          <a:bodyPr wrap="square" lIns="0" tIns="0" rIns="0" bIns="0" rtlCol="0" anchor="t"/>
          <a:lstStyle/>
          <a:p>
            <a:pPr indent="0" marL="0">
              <a:buNone/>
            </a:pPr>
            <a:r>
              <a:rPr lang="en-US" sz="1000" dirty="0">
                <a:solidFill>
                  <a:srgbClr val="334155"/>
                </a:solidFill>
                <a:latin typeface="Trebuchet MS" pitchFamily="34" charset="0"/>
                <a:ea typeface="Trebuchet MS" pitchFamily="34" charset="-122"/>
                <a:cs typeface="Trebuchet MS" pitchFamily="34" charset="-120"/>
              </a:rPr>
              <a:t>Kafka complexity outweighs benefit at MVP scale. Switched mid-Sprint 3 once the correlator emerged - architectural fit, not chasing fashion.</a:t>
            </a:r>
            <a:endParaRPr lang="en-US" sz="1000" dirty="0"/>
          </a:p>
        </p:txBody>
      </p:sp>
      <p:sp>
        <p:nvSpPr>
          <p:cNvPr id="41" name="Shape 39"/>
          <p:cNvSpPr/>
          <p:nvPr/>
        </p:nvSpPr>
        <p:spPr>
          <a:xfrm>
            <a:off x="548640" y="5175504"/>
            <a:ext cx="11064240" cy="713232"/>
          </a:xfrm>
          <a:prstGeom prst="rect">
            <a:avLst/>
          </a:prstGeom>
          <a:solidFill>
            <a:srgbClr val="FFFFFF"/>
          </a:solidFill>
          <a:ln w="12700">
            <a:solidFill>
              <a:srgbClr val="E2E8F0"/>
            </a:solidFill>
            <a:prstDash val="solid"/>
          </a:ln>
        </p:spPr>
      </p:sp>
      <p:sp>
        <p:nvSpPr>
          <p:cNvPr id="42" name="Shape 40"/>
          <p:cNvSpPr/>
          <p:nvPr/>
        </p:nvSpPr>
        <p:spPr>
          <a:xfrm>
            <a:off x="548640" y="5175504"/>
            <a:ext cx="73152" cy="713232"/>
          </a:xfrm>
          <a:prstGeom prst="rect">
            <a:avLst/>
          </a:prstGeom>
          <a:solidFill>
            <a:srgbClr val="10B981"/>
          </a:solidFill>
          <a:ln w="12700">
            <a:solidFill>
              <a:srgbClr val="10B981"/>
            </a:solidFill>
            <a:prstDash val="solid"/>
          </a:ln>
        </p:spPr>
      </p:sp>
      <p:sp>
        <p:nvSpPr>
          <p:cNvPr id="43" name="Text 41"/>
          <p:cNvSpPr/>
          <p:nvPr/>
        </p:nvSpPr>
        <p:spPr>
          <a:xfrm>
            <a:off x="777240" y="5230368"/>
            <a:ext cx="914400" cy="228600"/>
          </a:xfrm>
          <a:prstGeom prst="rect">
            <a:avLst/>
          </a:prstGeom>
          <a:noFill/>
          <a:ln/>
        </p:spPr>
        <p:txBody>
          <a:bodyPr wrap="square" lIns="0" tIns="0" rIns="0" bIns="0" rtlCol="0" anchor="ctr"/>
          <a:lstStyle/>
          <a:p>
            <a:pPr indent="0" marL="0">
              <a:buNone/>
            </a:pPr>
            <a:r>
              <a:rPr lang="en-US" sz="800" b="1" spc="400" kern="0" dirty="0">
                <a:solidFill>
                  <a:srgbClr val="10B981"/>
                </a:solidFill>
                <a:latin typeface="Trebuchet MS" pitchFamily="34" charset="0"/>
                <a:ea typeface="Trebuchet MS" pitchFamily="34" charset="-122"/>
                <a:cs typeface="Trebuchet MS" pitchFamily="34" charset="-120"/>
              </a:rPr>
              <a:t>BUILT</a:t>
            </a:r>
            <a:endParaRPr lang="en-US" sz="800" dirty="0"/>
          </a:p>
        </p:txBody>
      </p:sp>
      <p:sp>
        <p:nvSpPr>
          <p:cNvPr id="44" name="Text 42"/>
          <p:cNvSpPr/>
          <p:nvPr/>
        </p:nvSpPr>
        <p:spPr>
          <a:xfrm>
            <a:off x="777240" y="5449824"/>
            <a:ext cx="2286000" cy="411480"/>
          </a:xfrm>
          <a:prstGeom prst="rect">
            <a:avLst/>
          </a:prstGeom>
          <a:noFill/>
          <a:ln/>
        </p:spPr>
        <p:txBody>
          <a:bodyPr wrap="square" lIns="0" tIns="0" rIns="0" bIns="0" rtlCol="0" anchor="t"/>
          <a:lstStyle/>
          <a:p>
            <a:pPr indent="0" marL="0">
              <a:buNone/>
            </a:pPr>
            <a:r>
              <a:rPr lang="en-US" sz="1200" b="1" dirty="0">
                <a:solidFill>
                  <a:srgbClr val="0A2540"/>
                </a:solidFill>
                <a:latin typeface="Trebuchet MS" pitchFamily="34" charset="0"/>
                <a:ea typeface="Trebuchet MS" pitchFamily="34" charset="-122"/>
                <a:cs typeface="Trebuchet MS" pitchFamily="34" charset="-120"/>
              </a:rPr>
              <a:t>Ansible docker_exec</a:t>
            </a:r>
            <a:endParaRPr lang="en-US" sz="1200" dirty="0"/>
          </a:p>
        </p:txBody>
      </p:sp>
      <p:sp>
        <p:nvSpPr>
          <p:cNvPr id="45" name="Text 43"/>
          <p:cNvSpPr/>
          <p:nvPr/>
        </p:nvSpPr>
        <p:spPr>
          <a:xfrm>
            <a:off x="3200400" y="5230368"/>
            <a:ext cx="128016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REJECTED</a:t>
            </a:r>
            <a:endParaRPr lang="en-US" sz="800" dirty="0"/>
          </a:p>
        </p:txBody>
      </p:sp>
      <p:sp>
        <p:nvSpPr>
          <p:cNvPr id="46" name="Text 44"/>
          <p:cNvSpPr/>
          <p:nvPr/>
        </p:nvSpPr>
        <p:spPr>
          <a:xfrm>
            <a:off x="3200400" y="5449824"/>
            <a:ext cx="2377440" cy="411480"/>
          </a:xfrm>
          <a:prstGeom prst="rect">
            <a:avLst/>
          </a:prstGeom>
          <a:noFill/>
          <a:ln/>
        </p:spPr>
        <p:txBody>
          <a:bodyPr wrap="square" lIns="0" tIns="0" rIns="0" bIns="0" rtlCol="0" anchor="t"/>
          <a:lstStyle/>
          <a:p>
            <a:pPr indent="0" marL="0">
              <a:buNone/>
            </a:pPr>
            <a:r>
              <a:rPr lang="en-US" sz="1200" i="1" dirty="0">
                <a:solidFill>
                  <a:srgbClr val="334155"/>
                </a:solidFill>
                <a:latin typeface="Trebuchet MS" pitchFamily="34" charset="0"/>
                <a:ea typeface="Trebuchet MS" pitchFamily="34" charset="-122"/>
                <a:cs typeface="Trebuchet MS" pitchFamily="34" charset="-120"/>
              </a:rPr>
              <a:t>Netmiko SSH (initially planned)</a:t>
            </a:r>
            <a:endParaRPr lang="en-US" sz="1200" dirty="0"/>
          </a:p>
        </p:txBody>
      </p:sp>
      <p:sp>
        <p:nvSpPr>
          <p:cNvPr id="47" name="Text 45"/>
          <p:cNvSpPr/>
          <p:nvPr/>
        </p:nvSpPr>
        <p:spPr>
          <a:xfrm>
            <a:off x="5669280" y="5230368"/>
            <a:ext cx="731520" cy="228600"/>
          </a:xfrm>
          <a:prstGeom prst="rect">
            <a:avLst/>
          </a:prstGeom>
          <a:noFill/>
          <a:ln/>
        </p:spPr>
        <p:txBody>
          <a:bodyPr wrap="square" lIns="0" tIns="0" rIns="0" bIns="0" rtlCol="0" anchor="ctr"/>
          <a:lstStyle/>
          <a:p>
            <a:pPr indent="0" marL="0">
              <a:buNone/>
            </a:pPr>
            <a:r>
              <a:rPr lang="en-US" sz="800" b="1" spc="400" kern="0" dirty="0">
                <a:solidFill>
                  <a:srgbClr val="64748B"/>
                </a:solidFill>
                <a:latin typeface="Trebuchet MS" pitchFamily="34" charset="0"/>
                <a:ea typeface="Trebuchet MS" pitchFamily="34" charset="-122"/>
                <a:cs typeface="Trebuchet MS" pitchFamily="34" charset="-120"/>
              </a:rPr>
              <a:t>WHY</a:t>
            </a:r>
            <a:endParaRPr lang="en-US" sz="800" dirty="0"/>
          </a:p>
        </p:txBody>
      </p:sp>
      <p:sp>
        <p:nvSpPr>
          <p:cNvPr id="48" name="Text 46"/>
          <p:cNvSpPr/>
          <p:nvPr/>
        </p:nvSpPr>
        <p:spPr>
          <a:xfrm>
            <a:off x="5669280" y="5449824"/>
            <a:ext cx="5760720" cy="411480"/>
          </a:xfrm>
          <a:prstGeom prst="rect">
            <a:avLst/>
          </a:prstGeom>
          <a:noFill/>
          <a:ln/>
        </p:spPr>
        <p:txBody>
          <a:bodyPr wrap="square" lIns="0" tIns="0" rIns="0" bIns="0" rtlCol="0" anchor="t"/>
          <a:lstStyle/>
          <a:p>
            <a:pPr indent="0" marL="0">
              <a:buNone/>
            </a:pPr>
            <a:r>
              <a:rPr lang="en-US" sz="1000" dirty="0">
                <a:solidFill>
                  <a:srgbClr val="334155"/>
                </a:solidFill>
                <a:latin typeface="Trebuchet MS" pitchFamily="34" charset="0"/>
                <a:ea typeface="Trebuchet MS" pitchFamily="34" charset="-122"/>
                <a:cs typeface="Trebuchet MS" pitchFamily="34" charset="-120"/>
              </a:rPr>
              <a:t>v1.0 simulation MVP: read-only enforcement is a static review of YAML. Netmiko reserved for v1 production deployment to physical devices.</a:t>
            </a:r>
            <a:endParaRPr lang="en-US" sz="1000" dirty="0"/>
          </a:p>
        </p:txBody>
      </p:sp>
      <p:sp>
        <p:nvSpPr>
          <p:cNvPr id="49" name="Shape 47"/>
          <p:cNvSpPr/>
          <p:nvPr/>
        </p:nvSpPr>
        <p:spPr>
          <a:xfrm>
            <a:off x="0" y="6565392"/>
            <a:ext cx="12161520" cy="292608"/>
          </a:xfrm>
          <a:prstGeom prst="rect">
            <a:avLst/>
          </a:prstGeom>
          <a:solidFill>
            <a:srgbClr val="0A2540"/>
          </a:solidFill>
          <a:ln w="12700">
            <a:solidFill>
              <a:srgbClr val="0A2540"/>
            </a:solidFill>
            <a:prstDash val="solid"/>
          </a:ln>
        </p:spPr>
      </p:sp>
      <p:sp>
        <p:nvSpPr>
          <p:cNvPr id="50" name="Text 48"/>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51" name="Text 49"/>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05  /  DECISIONS</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Methodological Discipline</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The uncomfortable findings we documented rather than buried</a:t>
            </a:r>
            <a:endParaRPr lang="en-US" sz="1400" dirty="0"/>
          </a:p>
        </p:txBody>
      </p:sp>
      <p:sp>
        <p:nvSpPr>
          <p:cNvPr id="9" name="Shape 7"/>
          <p:cNvSpPr/>
          <p:nvPr/>
        </p:nvSpPr>
        <p:spPr>
          <a:xfrm>
            <a:off x="548640" y="2103120"/>
            <a:ext cx="11064240" cy="1005840"/>
          </a:xfrm>
          <a:prstGeom prst="rect">
            <a:avLst/>
          </a:prstGeom>
          <a:solidFill>
            <a:srgbClr val="FFFFFF"/>
          </a:solidFill>
          <a:ln w="12700">
            <a:solidFill>
              <a:srgbClr val="E2E8F0"/>
            </a:solidFill>
            <a:prstDash val="solid"/>
          </a:ln>
        </p:spPr>
      </p:sp>
      <p:sp>
        <p:nvSpPr>
          <p:cNvPr id="10" name="Shape 8"/>
          <p:cNvSpPr/>
          <p:nvPr/>
        </p:nvSpPr>
        <p:spPr>
          <a:xfrm>
            <a:off x="548640" y="2103120"/>
            <a:ext cx="73152" cy="1005840"/>
          </a:xfrm>
          <a:prstGeom prst="rect">
            <a:avLst/>
          </a:prstGeom>
          <a:solidFill>
            <a:srgbClr val="F59E0B"/>
          </a:solidFill>
          <a:ln w="12700">
            <a:solidFill>
              <a:srgbClr val="F59E0B"/>
            </a:solidFill>
            <a:prstDash val="solid"/>
          </a:ln>
        </p:spPr>
      </p:sp>
      <p:sp>
        <p:nvSpPr>
          <p:cNvPr id="11" name="Text 9"/>
          <p:cNvSpPr/>
          <p:nvPr/>
        </p:nvSpPr>
        <p:spPr>
          <a:xfrm>
            <a:off x="777240" y="2194560"/>
            <a:ext cx="10607040" cy="365760"/>
          </a:xfrm>
          <a:prstGeom prst="rect">
            <a:avLst/>
          </a:prstGeom>
          <a:noFill/>
          <a:ln/>
        </p:spPr>
        <p:txBody>
          <a:bodyPr wrap="square" lIns="0" tIns="0" rIns="0" bIns="0" rtlCol="0" anchor="ctr"/>
          <a:lstStyle/>
          <a:p>
            <a:pPr indent="0" marL="0">
              <a:buNone/>
            </a:pPr>
            <a:r>
              <a:rPr lang="en-US" sz="1300" b="1" dirty="0">
                <a:solidFill>
                  <a:srgbClr val="0A2540"/>
                </a:solidFill>
                <a:latin typeface="Trebuchet MS" pitchFamily="34" charset="0"/>
                <a:ea typeface="Trebuchet MS" pitchFamily="34" charset="-122"/>
                <a:cs typeface="Trebuchet MS" pitchFamily="34" charset="-120"/>
              </a:rPr>
              <a:t>OpenNMS REST DELETE 405</a:t>
            </a:r>
            <a:endParaRPr lang="en-US" sz="1300" dirty="0"/>
          </a:p>
        </p:txBody>
      </p:sp>
      <p:sp>
        <p:nvSpPr>
          <p:cNvPr id="12" name="Text 10"/>
          <p:cNvSpPr/>
          <p:nvPr/>
        </p:nvSpPr>
        <p:spPr>
          <a:xfrm>
            <a:off x="777240" y="2560320"/>
            <a:ext cx="10607040" cy="502920"/>
          </a:xfrm>
          <a:prstGeom prst="rect">
            <a:avLst/>
          </a:prstGeom>
          <a:noFill/>
          <a:ln/>
        </p:spPr>
        <p:txBody>
          <a:bodyPr wrap="square" lIns="0" tIns="0" rIns="0" bIns="0" rtlCol="0" anchor="t"/>
          <a:lstStyle/>
          <a:p>
            <a:pPr indent="0" marL="0">
              <a:buNone/>
            </a:pPr>
            <a:r>
              <a:rPr lang="en-US" sz="1050" dirty="0">
                <a:solidFill>
                  <a:srgbClr val="334155"/>
                </a:solidFill>
                <a:latin typeface="Trebuchet MS" pitchFamily="34" charset="0"/>
                <a:ea typeface="Trebuchet MS" pitchFamily="34" charset="-122"/>
                <a:cs typeface="Trebuchet MS" pitchFamily="34" charset="-120"/>
              </a:rPr>
              <a:t>OPTIONS reported DELETE allowed; the verb itself returned HTTP 405. We did not work around it - we diagnosed (auto-generated OPTIONS metadata) and documented the gap, then used a transactional database DELETE with verification.</a:t>
            </a:r>
            <a:endParaRPr lang="en-US" sz="1050" dirty="0"/>
          </a:p>
        </p:txBody>
      </p:sp>
      <p:sp>
        <p:nvSpPr>
          <p:cNvPr id="13" name="Shape 11"/>
          <p:cNvSpPr/>
          <p:nvPr/>
        </p:nvSpPr>
        <p:spPr>
          <a:xfrm>
            <a:off x="548640" y="3182112"/>
            <a:ext cx="11064240" cy="1005840"/>
          </a:xfrm>
          <a:prstGeom prst="rect">
            <a:avLst/>
          </a:prstGeom>
          <a:solidFill>
            <a:srgbClr val="FFFFFF"/>
          </a:solidFill>
          <a:ln w="12700">
            <a:solidFill>
              <a:srgbClr val="E2E8F0"/>
            </a:solidFill>
            <a:prstDash val="solid"/>
          </a:ln>
        </p:spPr>
      </p:sp>
      <p:sp>
        <p:nvSpPr>
          <p:cNvPr id="14" name="Shape 12"/>
          <p:cNvSpPr/>
          <p:nvPr/>
        </p:nvSpPr>
        <p:spPr>
          <a:xfrm>
            <a:off x="548640" y="3182112"/>
            <a:ext cx="73152" cy="1005840"/>
          </a:xfrm>
          <a:prstGeom prst="rect">
            <a:avLst/>
          </a:prstGeom>
          <a:solidFill>
            <a:srgbClr val="1B4965"/>
          </a:solidFill>
          <a:ln w="12700">
            <a:solidFill>
              <a:srgbClr val="1B4965"/>
            </a:solidFill>
            <a:prstDash val="solid"/>
          </a:ln>
        </p:spPr>
      </p:sp>
      <p:sp>
        <p:nvSpPr>
          <p:cNvPr id="15" name="Text 13"/>
          <p:cNvSpPr/>
          <p:nvPr/>
        </p:nvSpPr>
        <p:spPr>
          <a:xfrm>
            <a:off x="777240" y="3273552"/>
            <a:ext cx="10607040" cy="365760"/>
          </a:xfrm>
          <a:prstGeom prst="rect">
            <a:avLst/>
          </a:prstGeom>
          <a:noFill/>
          <a:ln/>
        </p:spPr>
        <p:txBody>
          <a:bodyPr wrap="square" lIns="0" tIns="0" rIns="0" bIns="0" rtlCol="0" anchor="ctr"/>
          <a:lstStyle/>
          <a:p>
            <a:pPr indent="0" marL="0">
              <a:buNone/>
            </a:pPr>
            <a:r>
              <a:rPr lang="en-US" sz="1300" b="1" dirty="0">
                <a:solidFill>
                  <a:srgbClr val="0A2540"/>
                </a:solidFill>
                <a:latin typeface="Trebuchet MS" pitchFamily="34" charset="0"/>
                <a:ea typeface="Trebuchet MS" pitchFamily="34" charset="-122"/>
                <a:cs typeface="Trebuchet MS" pitchFamily="34" charset="-120"/>
              </a:rPr>
              <a:t>Generator drift discovered</a:t>
            </a:r>
            <a:endParaRPr lang="en-US" sz="1300" dirty="0"/>
          </a:p>
        </p:txBody>
      </p:sp>
      <p:sp>
        <p:nvSpPr>
          <p:cNvPr id="16" name="Text 14"/>
          <p:cNvSpPr/>
          <p:nvPr/>
        </p:nvSpPr>
        <p:spPr>
          <a:xfrm>
            <a:off x="777240" y="3639312"/>
            <a:ext cx="10607040" cy="502920"/>
          </a:xfrm>
          <a:prstGeom prst="rect">
            <a:avLst/>
          </a:prstGeom>
          <a:noFill/>
          <a:ln/>
        </p:spPr>
        <p:txBody>
          <a:bodyPr wrap="square" lIns="0" tIns="0" rIns="0" bIns="0" rtlCol="0" anchor="t"/>
          <a:lstStyle/>
          <a:p>
            <a:pPr indent="0" marL="0">
              <a:buNone/>
            </a:pPr>
            <a:r>
              <a:rPr lang="en-US" sz="1050" dirty="0">
                <a:solidFill>
                  <a:srgbClr val="334155"/>
                </a:solidFill>
                <a:latin typeface="Trebuchet MS" pitchFamily="34" charset="0"/>
                <a:ea typeface="Trebuchet MS" pitchFamily="34" charset="-122"/>
                <a:cs typeface="Trebuchet MS" pitchFamily="34" charset="-120"/>
              </a:rPr>
              <a:t>scripts/write_readme.py was an architectural generation behind reality - missing three sections and still describing Netmiko diagnostics. We archived it rather than silently perpetuate divergence. README is now single source of truth.</a:t>
            </a:r>
            <a:endParaRPr lang="en-US" sz="1050" dirty="0"/>
          </a:p>
        </p:txBody>
      </p:sp>
      <p:sp>
        <p:nvSpPr>
          <p:cNvPr id="17" name="Shape 15"/>
          <p:cNvSpPr/>
          <p:nvPr/>
        </p:nvSpPr>
        <p:spPr>
          <a:xfrm>
            <a:off x="548640" y="4261104"/>
            <a:ext cx="11064240" cy="1005840"/>
          </a:xfrm>
          <a:prstGeom prst="rect">
            <a:avLst/>
          </a:prstGeom>
          <a:solidFill>
            <a:srgbClr val="FFFFFF"/>
          </a:solidFill>
          <a:ln w="12700">
            <a:solidFill>
              <a:srgbClr val="E2E8F0"/>
            </a:solidFill>
            <a:prstDash val="solid"/>
          </a:ln>
        </p:spPr>
      </p:sp>
      <p:sp>
        <p:nvSpPr>
          <p:cNvPr id="18" name="Shape 16"/>
          <p:cNvSpPr/>
          <p:nvPr/>
        </p:nvSpPr>
        <p:spPr>
          <a:xfrm>
            <a:off x="548640" y="4261104"/>
            <a:ext cx="73152" cy="1005840"/>
          </a:xfrm>
          <a:prstGeom prst="rect">
            <a:avLst/>
          </a:prstGeom>
          <a:solidFill>
            <a:srgbClr val="00BCEB"/>
          </a:solidFill>
          <a:ln w="12700">
            <a:solidFill>
              <a:srgbClr val="00BCEB"/>
            </a:solidFill>
            <a:prstDash val="solid"/>
          </a:ln>
        </p:spPr>
      </p:sp>
      <p:sp>
        <p:nvSpPr>
          <p:cNvPr id="19" name="Text 17"/>
          <p:cNvSpPr/>
          <p:nvPr/>
        </p:nvSpPr>
        <p:spPr>
          <a:xfrm>
            <a:off x="777240" y="4352544"/>
            <a:ext cx="10607040" cy="365760"/>
          </a:xfrm>
          <a:prstGeom prst="rect">
            <a:avLst/>
          </a:prstGeom>
          <a:noFill/>
          <a:ln/>
        </p:spPr>
        <p:txBody>
          <a:bodyPr wrap="square" lIns="0" tIns="0" rIns="0" bIns="0" rtlCol="0" anchor="ctr"/>
          <a:lstStyle/>
          <a:p>
            <a:pPr indent="0" marL="0">
              <a:buNone/>
            </a:pPr>
            <a:r>
              <a:rPr lang="en-US" sz="1300" b="1" dirty="0">
                <a:solidFill>
                  <a:srgbClr val="0A2540"/>
                </a:solidFill>
                <a:latin typeface="Trebuchet MS" pitchFamily="34" charset="0"/>
                <a:ea typeface="Trebuchet MS" pitchFamily="34" charset="-122"/>
                <a:cs typeface="Trebuchet MS" pitchFamily="34" charset="-120"/>
              </a:rPr>
              <a:t>OpenNMS UI banner reality</a:t>
            </a:r>
            <a:endParaRPr lang="en-US" sz="1300" dirty="0"/>
          </a:p>
        </p:txBody>
      </p:sp>
      <p:sp>
        <p:nvSpPr>
          <p:cNvPr id="20" name="Text 18"/>
          <p:cNvSpPr/>
          <p:nvPr/>
        </p:nvSpPr>
        <p:spPr>
          <a:xfrm>
            <a:off x="777240" y="4718304"/>
            <a:ext cx="10607040" cy="502920"/>
          </a:xfrm>
          <a:prstGeom prst="rect">
            <a:avLst/>
          </a:prstGeom>
          <a:noFill/>
          <a:ln/>
        </p:spPr>
        <p:txBody>
          <a:bodyPr wrap="square" lIns="0" tIns="0" rIns="0" bIns="0" rtlCol="0" anchor="t"/>
          <a:lstStyle/>
          <a:p>
            <a:pPr indent="0" marL="0">
              <a:buNone/>
            </a:pPr>
            <a:r>
              <a:rPr lang="en-US" sz="1050" dirty="0">
                <a:solidFill>
                  <a:srgbClr val="334155"/>
                </a:solidFill>
                <a:latin typeface="Trebuchet MS" pitchFamily="34" charset="0"/>
                <a:ea typeface="Trebuchet MS" pitchFamily="34" charset="-122"/>
                <a:cs typeface="Trebuchet MS" pitchFamily="34" charset="-120"/>
              </a:rPr>
              <a:t>Earlier drafts implied Main Solent appears in the dashboard banner. On verification, the property does not surface there in Horizon 33.0.2. We corrected the claim and used the Node List view (which does show the rename) as evidence instead.</a:t>
            </a:r>
            <a:endParaRPr lang="en-US" sz="1050" dirty="0"/>
          </a:p>
        </p:txBody>
      </p:sp>
      <p:sp>
        <p:nvSpPr>
          <p:cNvPr id="21" name="Shape 19"/>
          <p:cNvSpPr/>
          <p:nvPr/>
        </p:nvSpPr>
        <p:spPr>
          <a:xfrm>
            <a:off x="548640" y="5340096"/>
            <a:ext cx="11064240" cy="1005840"/>
          </a:xfrm>
          <a:prstGeom prst="rect">
            <a:avLst/>
          </a:prstGeom>
          <a:solidFill>
            <a:srgbClr val="FFFFFF"/>
          </a:solidFill>
          <a:ln w="12700">
            <a:solidFill>
              <a:srgbClr val="E2E8F0"/>
            </a:solidFill>
            <a:prstDash val="solid"/>
          </a:ln>
        </p:spPr>
      </p:sp>
      <p:sp>
        <p:nvSpPr>
          <p:cNvPr id="22" name="Shape 20"/>
          <p:cNvSpPr/>
          <p:nvPr/>
        </p:nvSpPr>
        <p:spPr>
          <a:xfrm>
            <a:off x="548640" y="5340096"/>
            <a:ext cx="73152" cy="1005840"/>
          </a:xfrm>
          <a:prstGeom prst="rect">
            <a:avLst/>
          </a:prstGeom>
          <a:solidFill>
            <a:srgbClr val="10B981"/>
          </a:solidFill>
          <a:ln w="12700">
            <a:solidFill>
              <a:srgbClr val="10B981"/>
            </a:solidFill>
            <a:prstDash val="solid"/>
          </a:ln>
        </p:spPr>
      </p:sp>
      <p:sp>
        <p:nvSpPr>
          <p:cNvPr id="23" name="Text 21"/>
          <p:cNvSpPr/>
          <p:nvPr/>
        </p:nvSpPr>
        <p:spPr>
          <a:xfrm>
            <a:off x="777240" y="5431536"/>
            <a:ext cx="10607040" cy="365760"/>
          </a:xfrm>
          <a:prstGeom prst="rect">
            <a:avLst/>
          </a:prstGeom>
          <a:noFill/>
          <a:ln/>
        </p:spPr>
        <p:txBody>
          <a:bodyPr wrap="square" lIns="0" tIns="0" rIns="0" bIns="0" rtlCol="0" anchor="ctr"/>
          <a:lstStyle/>
          <a:p>
            <a:pPr indent="0" marL="0">
              <a:buNone/>
            </a:pPr>
            <a:r>
              <a:rPr lang="en-US" sz="1300" b="1" dirty="0">
                <a:solidFill>
                  <a:srgbClr val="0A2540"/>
                </a:solidFill>
                <a:latin typeface="Trebuchet MS" pitchFamily="34" charset="0"/>
                <a:ea typeface="Trebuchet MS" pitchFamily="34" charset="-122"/>
                <a:cs typeface="Trebuchet MS" pitchFamily="34" charset="-120"/>
              </a:rPr>
              <a:t>Synthetic ceiling, applied recursively</a:t>
            </a:r>
            <a:endParaRPr lang="en-US" sz="1300" dirty="0"/>
          </a:p>
        </p:txBody>
      </p:sp>
      <p:sp>
        <p:nvSpPr>
          <p:cNvPr id="24" name="Text 22"/>
          <p:cNvSpPr/>
          <p:nvPr/>
        </p:nvSpPr>
        <p:spPr>
          <a:xfrm>
            <a:off x="777240" y="5797296"/>
            <a:ext cx="10607040" cy="502920"/>
          </a:xfrm>
          <a:prstGeom prst="rect">
            <a:avLst/>
          </a:prstGeom>
          <a:noFill/>
          <a:ln/>
        </p:spPr>
        <p:txBody>
          <a:bodyPr wrap="square" lIns="0" tIns="0" rIns="0" bIns="0" rtlCol="0" anchor="t"/>
          <a:lstStyle/>
          <a:p>
            <a:pPr indent="0" marL="0">
              <a:buNone/>
            </a:pPr>
            <a:r>
              <a:rPr lang="en-US" sz="1050" dirty="0">
                <a:solidFill>
                  <a:srgbClr val="334155"/>
                </a:solidFill>
                <a:latin typeface="Trebuchet MS" pitchFamily="34" charset="0"/>
                <a:ea typeface="Trebuchet MS" pitchFamily="34" charset="-122"/>
                <a:cs typeface="Trebuchet MS" pitchFamily="34" charset="-120"/>
              </a:rPr>
              <a:t>The v4.1 rename verification used our own test environment, our own procedures. 43-of-43 success is internal consistency. We do not claim production-equivalent confidence for the rename, only that internal validity is established.</a:t>
            </a:r>
            <a:endParaRPr lang="en-US" sz="1050" dirty="0"/>
          </a:p>
        </p:txBody>
      </p:sp>
      <p:sp>
        <p:nvSpPr>
          <p:cNvPr id="25" name="Shape 23"/>
          <p:cNvSpPr/>
          <p:nvPr/>
        </p:nvSpPr>
        <p:spPr>
          <a:xfrm>
            <a:off x="0" y="6565392"/>
            <a:ext cx="12161520" cy="292608"/>
          </a:xfrm>
          <a:prstGeom prst="rect">
            <a:avLst/>
          </a:prstGeom>
          <a:solidFill>
            <a:srgbClr val="0A2540"/>
          </a:solidFill>
          <a:ln w="12700">
            <a:solidFill>
              <a:srgbClr val="0A2540"/>
            </a:solidFill>
            <a:prstDash val="solid"/>
          </a:ln>
        </p:spPr>
      </p:sp>
      <p:sp>
        <p:nvSpPr>
          <p:cNvPr id="26" name="Text 24"/>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27" name="Text 25"/>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06  /  RISK</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Risk Register: Selected</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Twelve risks tracked; six shown here at High rating with active mitigation</a:t>
            </a:r>
            <a:endParaRPr lang="en-US" sz="1400" dirty="0"/>
          </a:p>
        </p:txBody>
      </p:sp>
      <p:sp>
        <p:nvSpPr>
          <p:cNvPr id="9" name="Shape 7"/>
          <p:cNvSpPr/>
          <p:nvPr/>
        </p:nvSpPr>
        <p:spPr>
          <a:xfrm>
            <a:off x="548640" y="2103120"/>
            <a:ext cx="11064240" cy="365760"/>
          </a:xfrm>
          <a:prstGeom prst="rect">
            <a:avLst/>
          </a:prstGeom>
          <a:solidFill>
            <a:srgbClr val="0A2540"/>
          </a:solidFill>
          <a:ln w="12700">
            <a:solidFill>
              <a:srgbClr val="0A2540"/>
            </a:solidFill>
            <a:prstDash val="solid"/>
          </a:ln>
        </p:spPr>
      </p:sp>
      <p:sp>
        <p:nvSpPr>
          <p:cNvPr id="10" name="Text 8"/>
          <p:cNvSpPr/>
          <p:nvPr/>
        </p:nvSpPr>
        <p:spPr>
          <a:xfrm>
            <a:off x="640080" y="2103120"/>
            <a:ext cx="640080" cy="365760"/>
          </a:xfrm>
          <a:prstGeom prst="rect">
            <a:avLst/>
          </a:prstGeom>
          <a:noFill/>
          <a:ln/>
        </p:spPr>
        <p:txBody>
          <a:bodyPr wrap="square" lIns="0" tIns="0" rIns="0" bIns="0" rtlCol="0" anchor="ctr"/>
          <a:lstStyle/>
          <a:p>
            <a:pPr indent="0" marL="0">
              <a:buNone/>
            </a:pPr>
            <a:r>
              <a:rPr lang="en-US" sz="1100" b="1" spc="300" kern="0" dirty="0">
                <a:solidFill>
                  <a:srgbClr val="00BCEB"/>
                </a:solidFill>
                <a:latin typeface="Trebuchet MS" pitchFamily="34" charset="0"/>
                <a:ea typeface="Trebuchet MS" pitchFamily="34" charset="-122"/>
                <a:cs typeface="Trebuchet MS" pitchFamily="34" charset="-120"/>
              </a:rPr>
              <a:t>ID</a:t>
            </a:r>
            <a:endParaRPr lang="en-US" sz="1100" dirty="0"/>
          </a:p>
        </p:txBody>
      </p:sp>
      <p:sp>
        <p:nvSpPr>
          <p:cNvPr id="11" name="Text 9"/>
          <p:cNvSpPr/>
          <p:nvPr/>
        </p:nvSpPr>
        <p:spPr>
          <a:xfrm>
            <a:off x="1280160" y="2103120"/>
            <a:ext cx="4114800" cy="365760"/>
          </a:xfrm>
          <a:prstGeom prst="rect">
            <a:avLst/>
          </a:prstGeom>
          <a:noFill/>
          <a:ln/>
        </p:spPr>
        <p:txBody>
          <a:bodyPr wrap="square" lIns="0" tIns="0" rIns="0" bIns="0" rtlCol="0" anchor="ctr"/>
          <a:lstStyle/>
          <a:p>
            <a:pPr indent="0" marL="0">
              <a:buNone/>
            </a:pPr>
            <a:r>
              <a:rPr lang="en-US" sz="1100" b="1" spc="300" kern="0" dirty="0">
                <a:solidFill>
                  <a:srgbClr val="00BCEB"/>
                </a:solidFill>
                <a:latin typeface="Trebuchet MS" pitchFamily="34" charset="0"/>
                <a:ea typeface="Trebuchet MS" pitchFamily="34" charset="-122"/>
                <a:cs typeface="Trebuchet MS" pitchFamily="34" charset="-120"/>
              </a:rPr>
              <a:t>RISK</a:t>
            </a:r>
            <a:endParaRPr lang="en-US" sz="1100" dirty="0"/>
          </a:p>
        </p:txBody>
      </p:sp>
      <p:sp>
        <p:nvSpPr>
          <p:cNvPr id="12" name="Text 10"/>
          <p:cNvSpPr/>
          <p:nvPr/>
        </p:nvSpPr>
        <p:spPr>
          <a:xfrm>
            <a:off x="5440680" y="2103120"/>
            <a:ext cx="5120640" cy="365760"/>
          </a:xfrm>
          <a:prstGeom prst="rect">
            <a:avLst/>
          </a:prstGeom>
          <a:noFill/>
          <a:ln/>
        </p:spPr>
        <p:txBody>
          <a:bodyPr wrap="square" lIns="0" tIns="0" rIns="0" bIns="0" rtlCol="0" anchor="ctr"/>
          <a:lstStyle/>
          <a:p>
            <a:pPr indent="0" marL="0">
              <a:buNone/>
            </a:pPr>
            <a:r>
              <a:rPr lang="en-US" sz="1100" b="1" spc="300" kern="0" dirty="0">
                <a:solidFill>
                  <a:srgbClr val="00BCEB"/>
                </a:solidFill>
                <a:latin typeface="Trebuchet MS" pitchFamily="34" charset="0"/>
                <a:ea typeface="Trebuchet MS" pitchFamily="34" charset="-122"/>
                <a:cs typeface="Trebuchet MS" pitchFamily="34" charset="-120"/>
              </a:rPr>
              <a:t>MITIGATION</a:t>
            </a:r>
            <a:endParaRPr lang="en-US" sz="1100" dirty="0"/>
          </a:p>
        </p:txBody>
      </p:sp>
      <p:sp>
        <p:nvSpPr>
          <p:cNvPr id="13" name="Text 11"/>
          <p:cNvSpPr/>
          <p:nvPr/>
        </p:nvSpPr>
        <p:spPr>
          <a:xfrm>
            <a:off x="10561320" y="2103120"/>
            <a:ext cx="1005840" cy="365760"/>
          </a:xfrm>
          <a:prstGeom prst="rect">
            <a:avLst/>
          </a:prstGeom>
          <a:noFill/>
          <a:ln/>
        </p:spPr>
        <p:txBody>
          <a:bodyPr wrap="square" lIns="0" tIns="0" rIns="0" bIns="0" rtlCol="0" anchor="ctr"/>
          <a:lstStyle/>
          <a:p>
            <a:pPr algn="ctr" indent="0" marL="0">
              <a:buNone/>
            </a:pPr>
            <a:r>
              <a:rPr lang="en-US" sz="1100" b="1" spc="300" kern="0" dirty="0">
                <a:solidFill>
                  <a:srgbClr val="00BCEB"/>
                </a:solidFill>
                <a:latin typeface="Trebuchet MS" pitchFamily="34" charset="0"/>
                <a:ea typeface="Trebuchet MS" pitchFamily="34" charset="-122"/>
                <a:cs typeface="Trebuchet MS" pitchFamily="34" charset="-120"/>
              </a:rPr>
              <a:t>RATING</a:t>
            </a:r>
            <a:endParaRPr lang="en-US" sz="1100" dirty="0"/>
          </a:p>
        </p:txBody>
      </p:sp>
      <p:sp>
        <p:nvSpPr>
          <p:cNvPr id="14" name="Shape 12"/>
          <p:cNvSpPr/>
          <p:nvPr/>
        </p:nvSpPr>
        <p:spPr>
          <a:xfrm>
            <a:off x="548640" y="2468880"/>
            <a:ext cx="11064240" cy="502920"/>
          </a:xfrm>
          <a:prstGeom prst="rect">
            <a:avLst/>
          </a:prstGeom>
          <a:solidFill>
            <a:srgbClr val="FFFFFF"/>
          </a:solidFill>
          <a:ln w="12700">
            <a:solidFill>
              <a:srgbClr val="E2E8F0"/>
            </a:solidFill>
            <a:prstDash val="solid"/>
          </a:ln>
        </p:spPr>
      </p:sp>
      <p:sp>
        <p:nvSpPr>
          <p:cNvPr id="15" name="Text 13"/>
          <p:cNvSpPr/>
          <p:nvPr/>
        </p:nvSpPr>
        <p:spPr>
          <a:xfrm>
            <a:off x="640080" y="2468880"/>
            <a:ext cx="640080" cy="502920"/>
          </a:xfrm>
          <a:prstGeom prst="rect">
            <a:avLst/>
          </a:prstGeom>
          <a:noFill/>
          <a:ln/>
        </p:spPr>
        <p:txBody>
          <a:bodyPr wrap="square" lIns="0" tIns="0" rIns="0" bIns="0" rtlCol="0" anchor="ctr"/>
          <a:lstStyle/>
          <a:p>
            <a:pPr indent="0" marL="0">
              <a:buNone/>
            </a:pPr>
            <a:r>
              <a:rPr lang="en-US" sz="1000" b="1" dirty="0">
                <a:solidFill>
                  <a:srgbClr val="0A2540"/>
                </a:solidFill>
                <a:latin typeface="Courier New" pitchFamily="34" charset="0"/>
                <a:ea typeface="Courier New" pitchFamily="34" charset="-122"/>
                <a:cs typeface="Courier New" pitchFamily="34" charset="-120"/>
              </a:rPr>
              <a:t>R-001</a:t>
            </a:r>
            <a:endParaRPr lang="en-US" sz="1000" dirty="0"/>
          </a:p>
        </p:txBody>
      </p:sp>
      <p:sp>
        <p:nvSpPr>
          <p:cNvPr id="16" name="Text 14"/>
          <p:cNvSpPr/>
          <p:nvPr/>
        </p:nvSpPr>
        <p:spPr>
          <a:xfrm>
            <a:off x="1280160" y="2468880"/>
            <a:ext cx="4114800" cy="502920"/>
          </a:xfrm>
          <a:prstGeom prst="rect">
            <a:avLst/>
          </a:prstGeom>
          <a:noFill/>
          <a:ln/>
        </p:spPr>
        <p:txBody>
          <a:bodyPr wrap="square" lIns="0" tIns="0" rIns="0" bIns="0" rtlCol="0" anchor="ctr"/>
          <a:lstStyle/>
          <a:p>
            <a:pPr indent="0" marL="0">
              <a:buNone/>
            </a:pPr>
            <a:r>
              <a:rPr lang="en-US" sz="1050" dirty="0">
                <a:solidFill>
                  <a:srgbClr val="0F172A"/>
                </a:solidFill>
                <a:latin typeface="Trebuchet MS" pitchFamily="34" charset="0"/>
                <a:ea typeface="Trebuchet MS" pitchFamily="34" charset="-122"/>
                <a:cs typeface="Trebuchet MS" pitchFamily="34" charset="-120"/>
              </a:rPr>
              <a:t>Rule drift: FRR-calibrated rules fail against Cisco IOS</a:t>
            </a:r>
            <a:endParaRPr lang="en-US" sz="1050" dirty="0"/>
          </a:p>
        </p:txBody>
      </p:sp>
      <p:sp>
        <p:nvSpPr>
          <p:cNvPr id="17" name="Text 15"/>
          <p:cNvSpPr/>
          <p:nvPr/>
        </p:nvSpPr>
        <p:spPr>
          <a:xfrm>
            <a:off x="5440680" y="2468880"/>
            <a:ext cx="5120640" cy="50292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Versioned YAML rulesets; vendor-specific review before production</a:t>
            </a:r>
            <a:endParaRPr lang="en-US" sz="1000" dirty="0"/>
          </a:p>
        </p:txBody>
      </p:sp>
      <p:sp>
        <p:nvSpPr>
          <p:cNvPr id="18" name="Shape 16"/>
          <p:cNvSpPr/>
          <p:nvPr/>
        </p:nvSpPr>
        <p:spPr>
          <a:xfrm>
            <a:off x="10652760" y="2587752"/>
            <a:ext cx="868680" cy="274320"/>
          </a:xfrm>
          <a:prstGeom prst="rect">
            <a:avLst/>
          </a:prstGeom>
          <a:solidFill>
            <a:srgbClr val="F59E0B"/>
          </a:solidFill>
          <a:ln w="12700">
            <a:solidFill>
              <a:srgbClr val="F59E0B"/>
            </a:solidFill>
            <a:prstDash val="solid"/>
          </a:ln>
        </p:spPr>
      </p:sp>
      <p:sp>
        <p:nvSpPr>
          <p:cNvPr id="19" name="Text 17"/>
          <p:cNvSpPr/>
          <p:nvPr/>
        </p:nvSpPr>
        <p:spPr>
          <a:xfrm>
            <a:off x="10652760" y="2587752"/>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High</a:t>
            </a:r>
            <a:endParaRPr lang="en-US" sz="1000" dirty="0"/>
          </a:p>
        </p:txBody>
      </p:sp>
      <p:sp>
        <p:nvSpPr>
          <p:cNvPr id="20" name="Text 18"/>
          <p:cNvSpPr/>
          <p:nvPr/>
        </p:nvSpPr>
        <p:spPr>
          <a:xfrm>
            <a:off x="640080" y="2971800"/>
            <a:ext cx="640080" cy="502920"/>
          </a:xfrm>
          <a:prstGeom prst="rect">
            <a:avLst/>
          </a:prstGeom>
          <a:noFill/>
          <a:ln/>
        </p:spPr>
        <p:txBody>
          <a:bodyPr wrap="square" lIns="0" tIns="0" rIns="0" bIns="0" rtlCol="0" anchor="ctr"/>
          <a:lstStyle/>
          <a:p>
            <a:pPr indent="0" marL="0">
              <a:buNone/>
            </a:pPr>
            <a:r>
              <a:rPr lang="en-US" sz="1000" b="1" dirty="0">
                <a:solidFill>
                  <a:srgbClr val="0A2540"/>
                </a:solidFill>
                <a:latin typeface="Courier New" pitchFamily="34" charset="0"/>
                <a:ea typeface="Courier New" pitchFamily="34" charset="-122"/>
                <a:cs typeface="Courier New" pitchFamily="34" charset="-120"/>
              </a:rPr>
              <a:t>R-002</a:t>
            </a:r>
            <a:endParaRPr lang="en-US" sz="1000" dirty="0"/>
          </a:p>
        </p:txBody>
      </p:sp>
      <p:sp>
        <p:nvSpPr>
          <p:cNvPr id="21" name="Text 19"/>
          <p:cNvSpPr/>
          <p:nvPr/>
        </p:nvSpPr>
        <p:spPr>
          <a:xfrm>
            <a:off x="1280160" y="2971800"/>
            <a:ext cx="4114800" cy="502920"/>
          </a:xfrm>
          <a:prstGeom prst="rect">
            <a:avLst/>
          </a:prstGeom>
          <a:noFill/>
          <a:ln/>
        </p:spPr>
        <p:txBody>
          <a:bodyPr wrap="square" lIns="0" tIns="0" rIns="0" bIns="0" rtlCol="0" anchor="ctr"/>
          <a:lstStyle/>
          <a:p>
            <a:pPr indent="0" marL="0">
              <a:buNone/>
            </a:pPr>
            <a:r>
              <a:rPr lang="en-US" sz="1050" dirty="0">
                <a:solidFill>
                  <a:srgbClr val="0F172A"/>
                </a:solidFill>
                <a:latin typeface="Trebuchet MS" pitchFamily="34" charset="0"/>
                <a:ea typeface="Trebuchet MS" pitchFamily="34" charset="-122"/>
                <a:cs typeface="Trebuchet MS" pitchFamily="34" charset="-120"/>
              </a:rPr>
              <a:t>Alert storm saturation beyond 1,000/min sustained</a:t>
            </a:r>
            <a:endParaRPr lang="en-US" sz="1050" dirty="0"/>
          </a:p>
        </p:txBody>
      </p:sp>
      <p:sp>
        <p:nvSpPr>
          <p:cNvPr id="22" name="Text 20"/>
          <p:cNvSpPr/>
          <p:nvPr/>
        </p:nvSpPr>
        <p:spPr>
          <a:xfrm>
            <a:off x="5440680" y="2971800"/>
            <a:ext cx="5120640" cy="50292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Kafka partitioning absorbs overflow; queue depth monitoring with 80% capacity alert</a:t>
            </a:r>
            <a:endParaRPr lang="en-US" sz="1000" dirty="0"/>
          </a:p>
        </p:txBody>
      </p:sp>
      <p:sp>
        <p:nvSpPr>
          <p:cNvPr id="23" name="Shape 21"/>
          <p:cNvSpPr/>
          <p:nvPr/>
        </p:nvSpPr>
        <p:spPr>
          <a:xfrm>
            <a:off x="10652760" y="3090672"/>
            <a:ext cx="868680" cy="274320"/>
          </a:xfrm>
          <a:prstGeom prst="rect">
            <a:avLst/>
          </a:prstGeom>
          <a:solidFill>
            <a:srgbClr val="F59E0B"/>
          </a:solidFill>
          <a:ln w="12700">
            <a:solidFill>
              <a:srgbClr val="F59E0B"/>
            </a:solidFill>
            <a:prstDash val="solid"/>
          </a:ln>
        </p:spPr>
      </p:sp>
      <p:sp>
        <p:nvSpPr>
          <p:cNvPr id="24" name="Text 22"/>
          <p:cNvSpPr/>
          <p:nvPr/>
        </p:nvSpPr>
        <p:spPr>
          <a:xfrm>
            <a:off x="10652760" y="3090672"/>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High</a:t>
            </a:r>
            <a:endParaRPr lang="en-US" sz="1000" dirty="0"/>
          </a:p>
        </p:txBody>
      </p:sp>
      <p:sp>
        <p:nvSpPr>
          <p:cNvPr id="25" name="Shape 23"/>
          <p:cNvSpPr/>
          <p:nvPr/>
        </p:nvSpPr>
        <p:spPr>
          <a:xfrm>
            <a:off x="548640" y="3474720"/>
            <a:ext cx="11064240" cy="502920"/>
          </a:xfrm>
          <a:prstGeom prst="rect">
            <a:avLst/>
          </a:prstGeom>
          <a:solidFill>
            <a:srgbClr val="FFFFFF"/>
          </a:solidFill>
          <a:ln w="12700">
            <a:solidFill>
              <a:srgbClr val="E2E8F0"/>
            </a:solidFill>
            <a:prstDash val="solid"/>
          </a:ln>
        </p:spPr>
      </p:sp>
      <p:sp>
        <p:nvSpPr>
          <p:cNvPr id="26" name="Text 24"/>
          <p:cNvSpPr/>
          <p:nvPr/>
        </p:nvSpPr>
        <p:spPr>
          <a:xfrm>
            <a:off x="640080" y="3474720"/>
            <a:ext cx="640080" cy="502920"/>
          </a:xfrm>
          <a:prstGeom prst="rect">
            <a:avLst/>
          </a:prstGeom>
          <a:noFill/>
          <a:ln/>
        </p:spPr>
        <p:txBody>
          <a:bodyPr wrap="square" lIns="0" tIns="0" rIns="0" bIns="0" rtlCol="0" anchor="ctr"/>
          <a:lstStyle/>
          <a:p>
            <a:pPr indent="0" marL="0">
              <a:buNone/>
            </a:pPr>
            <a:r>
              <a:rPr lang="en-US" sz="1000" b="1" dirty="0">
                <a:solidFill>
                  <a:srgbClr val="0A2540"/>
                </a:solidFill>
                <a:latin typeface="Courier New" pitchFamily="34" charset="0"/>
                <a:ea typeface="Courier New" pitchFamily="34" charset="-122"/>
                <a:cs typeface="Courier New" pitchFamily="34" charset="-120"/>
              </a:rPr>
              <a:t>R-003</a:t>
            </a:r>
            <a:endParaRPr lang="en-US" sz="1000" dirty="0"/>
          </a:p>
        </p:txBody>
      </p:sp>
      <p:sp>
        <p:nvSpPr>
          <p:cNvPr id="27" name="Text 25"/>
          <p:cNvSpPr/>
          <p:nvPr/>
        </p:nvSpPr>
        <p:spPr>
          <a:xfrm>
            <a:off x="1280160" y="3474720"/>
            <a:ext cx="4114800" cy="502920"/>
          </a:xfrm>
          <a:prstGeom prst="rect">
            <a:avLst/>
          </a:prstGeom>
          <a:noFill/>
          <a:ln/>
        </p:spPr>
        <p:txBody>
          <a:bodyPr wrap="square" lIns="0" tIns="0" rIns="0" bIns="0" rtlCol="0" anchor="ctr"/>
          <a:lstStyle/>
          <a:p>
            <a:pPr indent="0" marL="0">
              <a:buNone/>
            </a:pPr>
            <a:r>
              <a:rPr lang="en-US" sz="1050" dirty="0">
                <a:solidFill>
                  <a:srgbClr val="0F172A"/>
                </a:solidFill>
                <a:latin typeface="Trebuchet MS" pitchFamily="34" charset="0"/>
                <a:ea typeface="Trebuchet MS" pitchFamily="34" charset="-122"/>
                <a:cs typeface="Trebuchet MS" pitchFamily="34" charset="-120"/>
              </a:rPr>
              <a:t>SSH credential compromise via diagnostic adapter</a:t>
            </a:r>
            <a:endParaRPr lang="en-US" sz="1050" dirty="0"/>
          </a:p>
        </p:txBody>
      </p:sp>
      <p:sp>
        <p:nvSpPr>
          <p:cNvPr id="28" name="Text 26"/>
          <p:cNvSpPr/>
          <p:nvPr/>
        </p:nvSpPr>
        <p:spPr>
          <a:xfrm>
            <a:off x="5440680" y="3474720"/>
            <a:ext cx="5120640" cy="50292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Vault-backed injection; read-only allowlist; full audit log</a:t>
            </a:r>
            <a:endParaRPr lang="en-US" sz="1000" dirty="0"/>
          </a:p>
        </p:txBody>
      </p:sp>
      <p:sp>
        <p:nvSpPr>
          <p:cNvPr id="29" name="Shape 27"/>
          <p:cNvSpPr/>
          <p:nvPr/>
        </p:nvSpPr>
        <p:spPr>
          <a:xfrm>
            <a:off x="10652760" y="3593592"/>
            <a:ext cx="868680" cy="274320"/>
          </a:xfrm>
          <a:prstGeom prst="rect">
            <a:avLst/>
          </a:prstGeom>
          <a:solidFill>
            <a:srgbClr val="F59E0B"/>
          </a:solidFill>
          <a:ln w="12700">
            <a:solidFill>
              <a:srgbClr val="F59E0B"/>
            </a:solidFill>
            <a:prstDash val="solid"/>
          </a:ln>
        </p:spPr>
      </p:sp>
      <p:sp>
        <p:nvSpPr>
          <p:cNvPr id="30" name="Text 28"/>
          <p:cNvSpPr/>
          <p:nvPr/>
        </p:nvSpPr>
        <p:spPr>
          <a:xfrm>
            <a:off x="10652760" y="3593592"/>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High</a:t>
            </a:r>
            <a:endParaRPr lang="en-US" sz="1000" dirty="0"/>
          </a:p>
        </p:txBody>
      </p:sp>
      <p:sp>
        <p:nvSpPr>
          <p:cNvPr id="31" name="Text 29"/>
          <p:cNvSpPr/>
          <p:nvPr/>
        </p:nvSpPr>
        <p:spPr>
          <a:xfrm>
            <a:off x="640080" y="3977640"/>
            <a:ext cx="640080" cy="502920"/>
          </a:xfrm>
          <a:prstGeom prst="rect">
            <a:avLst/>
          </a:prstGeom>
          <a:noFill/>
          <a:ln/>
        </p:spPr>
        <p:txBody>
          <a:bodyPr wrap="square" lIns="0" tIns="0" rIns="0" bIns="0" rtlCol="0" anchor="ctr"/>
          <a:lstStyle/>
          <a:p>
            <a:pPr indent="0" marL="0">
              <a:buNone/>
            </a:pPr>
            <a:r>
              <a:rPr lang="en-US" sz="1000" b="1" dirty="0">
                <a:solidFill>
                  <a:srgbClr val="0A2540"/>
                </a:solidFill>
                <a:latin typeface="Courier New" pitchFamily="34" charset="0"/>
                <a:ea typeface="Courier New" pitchFamily="34" charset="-122"/>
                <a:cs typeface="Courier New" pitchFamily="34" charset="-120"/>
              </a:rPr>
              <a:t>R-005</a:t>
            </a:r>
            <a:endParaRPr lang="en-US" sz="1000" dirty="0"/>
          </a:p>
        </p:txBody>
      </p:sp>
      <p:sp>
        <p:nvSpPr>
          <p:cNvPr id="32" name="Text 30"/>
          <p:cNvSpPr/>
          <p:nvPr/>
        </p:nvSpPr>
        <p:spPr>
          <a:xfrm>
            <a:off x="1280160" y="3977640"/>
            <a:ext cx="4114800" cy="502920"/>
          </a:xfrm>
          <a:prstGeom prst="rect">
            <a:avLst/>
          </a:prstGeom>
          <a:noFill/>
          <a:ln/>
        </p:spPr>
        <p:txBody>
          <a:bodyPr wrap="square" lIns="0" tIns="0" rIns="0" bIns="0" rtlCol="0" anchor="ctr"/>
          <a:lstStyle/>
          <a:p>
            <a:pPr indent="0" marL="0">
              <a:buNone/>
            </a:pPr>
            <a:r>
              <a:rPr lang="en-US" sz="1050" dirty="0">
                <a:solidFill>
                  <a:srgbClr val="0F172A"/>
                </a:solidFill>
                <a:latin typeface="Trebuchet MS" pitchFamily="34" charset="0"/>
                <a:ea typeface="Trebuchet MS" pitchFamily="34" charset="-122"/>
                <a:cs typeface="Trebuchet MS" pitchFamily="34" charset="-120"/>
              </a:rPr>
              <a:t>False correlation: independent faults grouped</a:t>
            </a:r>
            <a:endParaRPr lang="en-US" sz="1050" dirty="0"/>
          </a:p>
        </p:txBody>
      </p:sp>
      <p:sp>
        <p:nvSpPr>
          <p:cNvPr id="33" name="Text 31"/>
          <p:cNvSpPr/>
          <p:nvPr/>
        </p:nvSpPr>
        <p:spPr>
          <a:xfrm>
            <a:off x="5440680" y="3977640"/>
            <a:ext cx="5120640" cy="50292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Confidence indicator on every output; low-conf events escalated</a:t>
            </a:r>
            <a:endParaRPr lang="en-US" sz="1000" dirty="0"/>
          </a:p>
        </p:txBody>
      </p:sp>
      <p:sp>
        <p:nvSpPr>
          <p:cNvPr id="34" name="Shape 32"/>
          <p:cNvSpPr/>
          <p:nvPr/>
        </p:nvSpPr>
        <p:spPr>
          <a:xfrm>
            <a:off x="10652760" y="4096512"/>
            <a:ext cx="868680" cy="274320"/>
          </a:xfrm>
          <a:prstGeom prst="rect">
            <a:avLst/>
          </a:prstGeom>
          <a:solidFill>
            <a:srgbClr val="F59E0B"/>
          </a:solidFill>
          <a:ln w="12700">
            <a:solidFill>
              <a:srgbClr val="F59E0B"/>
            </a:solidFill>
            <a:prstDash val="solid"/>
          </a:ln>
        </p:spPr>
      </p:sp>
      <p:sp>
        <p:nvSpPr>
          <p:cNvPr id="35" name="Text 33"/>
          <p:cNvSpPr/>
          <p:nvPr/>
        </p:nvSpPr>
        <p:spPr>
          <a:xfrm>
            <a:off x="10652760" y="4096512"/>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High</a:t>
            </a:r>
            <a:endParaRPr lang="en-US" sz="1000" dirty="0"/>
          </a:p>
        </p:txBody>
      </p:sp>
      <p:sp>
        <p:nvSpPr>
          <p:cNvPr id="36" name="Shape 34"/>
          <p:cNvSpPr/>
          <p:nvPr/>
        </p:nvSpPr>
        <p:spPr>
          <a:xfrm>
            <a:off x="548640" y="4480560"/>
            <a:ext cx="11064240" cy="502920"/>
          </a:xfrm>
          <a:prstGeom prst="rect">
            <a:avLst/>
          </a:prstGeom>
          <a:solidFill>
            <a:srgbClr val="FFFFFF"/>
          </a:solidFill>
          <a:ln w="12700">
            <a:solidFill>
              <a:srgbClr val="E2E8F0"/>
            </a:solidFill>
            <a:prstDash val="solid"/>
          </a:ln>
        </p:spPr>
      </p:sp>
      <p:sp>
        <p:nvSpPr>
          <p:cNvPr id="37" name="Text 35"/>
          <p:cNvSpPr/>
          <p:nvPr/>
        </p:nvSpPr>
        <p:spPr>
          <a:xfrm>
            <a:off x="640080" y="4480560"/>
            <a:ext cx="640080" cy="502920"/>
          </a:xfrm>
          <a:prstGeom prst="rect">
            <a:avLst/>
          </a:prstGeom>
          <a:noFill/>
          <a:ln/>
        </p:spPr>
        <p:txBody>
          <a:bodyPr wrap="square" lIns="0" tIns="0" rIns="0" bIns="0" rtlCol="0" anchor="ctr"/>
          <a:lstStyle/>
          <a:p>
            <a:pPr indent="0" marL="0">
              <a:buNone/>
            </a:pPr>
            <a:r>
              <a:rPr lang="en-US" sz="1000" b="1" dirty="0">
                <a:solidFill>
                  <a:srgbClr val="0A2540"/>
                </a:solidFill>
                <a:latin typeface="Courier New" pitchFamily="34" charset="0"/>
                <a:ea typeface="Courier New" pitchFamily="34" charset="-122"/>
                <a:cs typeface="Courier New" pitchFamily="34" charset="-120"/>
              </a:rPr>
              <a:t>R-007</a:t>
            </a:r>
            <a:endParaRPr lang="en-US" sz="1000" dirty="0"/>
          </a:p>
        </p:txBody>
      </p:sp>
      <p:sp>
        <p:nvSpPr>
          <p:cNvPr id="38" name="Text 36"/>
          <p:cNvSpPr/>
          <p:nvPr/>
        </p:nvSpPr>
        <p:spPr>
          <a:xfrm>
            <a:off x="1280160" y="4480560"/>
            <a:ext cx="4114800" cy="502920"/>
          </a:xfrm>
          <a:prstGeom prst="rect">
            <a:avLst/>
          </a:prstGeom>
          <a:noFill/>
          <a:ln/>
        </p:spPr>
        <p:txBody>
          <a:bodyPr wrap="square" lIns="0" tIns="0" rIns="0" bIns="0" rtlCol="0" anchor="ctr"/>
          <a:lstStyle/>
          <a:p>
            <a:pPr indent="0" marL="0">
              <a:buNone/>
            </a:pPr>
            <a:r>
              <a:rPr lang="en-US" sz="1050" dirty="0">
                <a:solidFill>
                  <a:srgbClr val="0F172A"/>
                </a:solidFill>
                <a:latin typeface="Trebuchet MS" pitchFamily="34" charset="0"/>
                <a:ea typeface="Trebuchet MS" pitchFamily="34" charset="-122"/>
                <a:cs typeface="Trebuchet MS" pitchFamily="34" charset="-120"/>
              </a:rPr>
              <a:t>Automation platform itself as adversarial target</a:t>
            </a:r>
            <a:endParaRPr lang="en-US" sz="1050" dirty="0"/>
          </a:p>
        </p:txBody>
      </p:sp>
      <p:sp>
        <p:nvSpPr>
          <p:cNvPr id="39" name="Text 37"/>
          <p:cNvSpPr/>
          <p:nvPr/>
        </p:nvSpPr>
        <p:spPr>
          <a:xfrm>
            <a:off x="5440680" y="4480560"/>
            <a:ext cx="5120640" cy="50292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RBAC, TLS, immutable audit log; full pen test deferred to v1</a:t>
            </a:r>
            <a:endParaRPr lang="en-US" sz="1000" dirty="0"/>
          </a:p>
        </p:txBody>
      </p:sp>
      <p:sp>
        <p:nvSpPr>
          <p:cNvPr id="40" name="Shape 38"/>
          <p:cNvSpPr/>
          <p:nvPr/>
        </p:nvSpPr>
        <p:spPr>
          <a:xfrm>
            <a:off x="10652760" y="4599432"/>
            <a:ext cx="868680" cy="274320"/>
          </a:xfrm>
          <a:prstGeom prst="rect">
            <a:avLst/>
          </a:prstGeom>
          <a:solidFill>
            <a:srgbClr val="F59E0B"/>
          </a:solidFill>
          <a:ln w="12700">
            <a:solidFill>
              <a:srgbClr val="F59E0B"/>
            </a:solidFill>
            <a:prstDash val="solid"/>
          </a:ln>
        </p:spPr>
      </p:sp>
      <p:sp>
        <p:nvSpPr>
          <p:cNvPr id="41" name="Text 39"/>
          <p:cNvSpPr/>
          <p:nvPr/>
        </p:nvSpPr>
        <p:spPr>
          <a:xfrm>
            <a:off x="10652760" y="4599432"/>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High</a:t>
            </a:r>
            <a:endParaRPr lang="en-US" sz="1000" dirty="0"/>
          </a:p>
        </p:txBody>
      </p:sp>
      <p:sp>
        <p:nvSpPr>
          <p:cNvPr id="42" name="Text 40"/>
          <p:cNvSpPr/>
          <p:nvPr/>
        </p:nvSpPr>
        <p:spPr>
          <a:xfrm>
            <a:off x="640080" y="4983480"/>
            <a:ext cx="640080" cy="502920"/>
          </a:xfrm>
          <a:prstGeom prst="rect">
            <a:avLst/>
          </a:prstGeom>
          <a:noFill/>
          <a:ln/>
        </p:spPr>
        <p:txBody>
          <a:bodyPr wrap="square" lIns="0" tIns="0" rIns="0" bIns="0" rtlCol="0" anchor="ctr"/>
          <a:lstStyle/>
          <a:p>
            <a:pPr indent="0" marL="0">
              <a:buNone/>
            </a:pPr>
            <a:r>
              <a:rPr lang="en-US" sz="1000" b="1" dirty="0">
                <a:solidFill>
                  <a:srgbClr val="0A2540"/>
                </a:solidFill>
                <a:latin typeface="Courier New" pitchFamily="34" charset="0"/>
                <a:ea typeface="Courier New" pitchFamily="34" charset="-122"/>
                <a:cs typeface="Courier New" pitchFamily="34" charset="-120"/>
              </a:rPr>
              <a:t>R-009</a:t>
            </a:r>
            <a:endParaRPr lang="en-US" sz="1000" dirty="0"/>
          </a:p>
        </p:txBody>
      </p:sp>
      <p:sp>
        <p:nvSpPr>
          <p:cNvPr id="43" name="Text 41"/>
          <p:cNvSpPr/>
          <p:nvPr/>
        </p:nvSpPr>
        <p:spPr>
          <a:xfrm>
            <a:off x="1280160" y="4983480"/>
            <a:ext cx="4114800" cy="502920"/>
          </a:xfrm>
          <a:prstGeom prst="rect">
            <a:avLst/>
          </a:prstGeom>
          <a:noFill/>
          <a:ln/>
        </p:spPr>
        <p:txBody>
          <a:bodyPr wrap="square" lIns="0" tIns="0" rIns="0" bIns="0" rtlCol="0" anchor="ctr"/>
          <a:lstStyle/>
          <a:p>
            <a:pPr indent="0" marL="0">
              <a:buNone/>
            </a:pPr>
            <a:r>
              <a:rPr lang="en-US" sz="1050" dirty="0">
                <a:solidFill>
                  <a:srgbClr val="0F172A"/>
                </a:solidFill>
                <a:latin typeface="Trebuchet MS" pitchFamily="34" charset="0"/>
                <a:ea typeface="Trebuchet MS" pitchFamily="34" charset="-122"/>
                <a:cs typeface="Trebuchet MS" pitchFamily="34" charset="-120"/>
              </a:rPr>
              <a:t>Correlator blocking-emission limitation (Sprint 3)</a:t>
            </a:r>
            <a:endParaRPr lang="en-US" sz="1050" dirty="0"/>
          </a:p>
        </p:txBody>
      </p:sp>
      <p:sp>
        <p:nvSpPr>
          <p:cNvPr id="44" name="Text 42"/>
          <p:cNvSpPr/>
          <p:nvPr/>
        </p:nvSpPr>
        <p:spPr>
          <a:xfrm>
            <a:off x="5440680" y="4983480"/>
            <a:ext cx="5120640" cy="50292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Documented in PID 10.4; non-blocking emission scoped for v1.1</a:t>
            </a:r>
            <a:endParaRPr lang="en-US" sz="1000" dirty="0"/>
          </a:p>
        </p:txBody>
      </p:sp>
      <p:sp>
        <p:nvSpPr>
          <p:cNvPr id="45" name="Shape 43"/>
          <p:cNvSpPr/>
          <p:nvPr/>
        </p:nvSpPr>
        <p:spPr>
          <a:xfrm>
            <a:off x="10652760" y="5102352"/>
            <a:ext cx="868680" cy="274320"/>
          </a:xfrm>
          <a:prstGeom prst="rect">
            <a:avLst/>
          </a:prstGeom>
          <a:solidFill>
            <a:srgbClr val="F59E0B"/>
          </a:solidFill>
          <a:ln w="12700">
            <a:solidFill>
              <a:srgbClr val="F59E0B"/>
            </a:solidFill>
            <a:prstDash val="solid"/>
          </a:ln>
        </p:spPr>
      </p:sp>
      <p:sp>
        <p:nvSpPr>
          <p:cNvPr id="46" name="Text 44"/>
          <p:cNvSpPr/>
          <p:nvPr/>
        </p:nvSpPr>
        <p:spPr>
          <a:xfrm>
            <a:off x="10652760" y="5102352"/>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High</a:t>
            </a:r>
            <a:endParaRPr lang="en-US" sz="1000" dirty="0"/>
          </a:p>
        </p:txBody>
      </p:sp>
      <p:sp>
        <p:nvSpPr>
          <p:cNvPr id="47" name="Text 45"/>
          <p:cNvSpPr/>
          <p:nvPr/>
        </p:nvSpPr>
        <p:spPr>
          <a:xfrm>
            <a:off x="548640" y="5760720"/>
            <a:ext cx="11064240" cy="365760"/>
          </a:xfrm>
          <a:prstGeom prst="rect">
            <a:avLst/>
          </a:prstGeom>
          <a:noFill/>
          <a:ln/>
        </p:spPr>
        <p:txBody>
          <a:bodyPr wrap="square" lIns="0" tIns="0" rIns="0" bIns="0" rtlCol="0" anchor="ctr"/>
          <a:lstStyle/>
          <a:p>
            <a:pPr algn="ctr" indent="0" marL="0">
              <a:buNone/>
            </a:pPr>
            <a:r>
              <a:rPr lang="en-US" sz="1100" i="1" dirty="0">
                <a:solidFill>
                  <a:srgbClr val="64748B"/>
                </a:solidFill>
                <a:latin typeface="Trebuchet MS" pitchFamily="34" charset="0"/>
                <a:ea typeface="Trebuchet MS" pitchFamily="34" charset="-122"/>
                <a:cs typeface="Trebuchet MS" pitchFamily="34" charset="-120"/>
              </a:rPr>
              <a:t>Full register (R-001 to R-012) in PID Appendix A; reviewed at every sprint retrospective.</a:t>
            </a:r>
            <a:endParaRPr lang="en-US" sz="1100" dirty="0"/>
          </a:p>
        </p:txBody>
      </p:sp>
      <p:sp>
        <p:nvSpPr>
          <p:cNvPr id="48" name="Shape 46"/>
          <p:cNvSpPr/>
          <p:nvPr/>
        </p:nvSpPr>
        <p:spPr>
          <a:xfrm>
            <a:off x="0" y="6565392"/>
            <a:ext cx="12161520" cy="292608"/>
          </a:xfrm>
          <a:prstGeom prst="rect">
            <a:avLst/>
          </a:prstGeom>
          <a:solidFill>
            <a:srgbClr val="0A2540"/>
          </a:solidFill>
          <a:ln w="12700">
            <a:solidFill>
              <a:srgbClr val="0A2540"/>
            </a:solidFill>
            <a:prstDash val="solid"/>
          </a:ln>
        </p:spPr>
      </p:sp>
      <p:sp>
        <p:nvSpPr>
          <p:cNvPr id="49" name="Text 47"/>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50" name="Text 48"/>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00BCEB"/>
          </a:solidFill>
          <a:ln w="12700">
            <a:solidFill>
              <a:srgbClr val="00BCEB"/>
            </a:solidFill>
            <a:prstDash val="solid"/>
          </a:ln>
        </p:spPr>
      </p:sp>
      <p:sp>
        <p:nvSpPr>
          <p:cNvPr id="3" name="Text 1"/>
          <p:cNvSpPr/>
          <p:nvPr/>
        </p:nvSpPr>
        <p:spPr>
          <a:xfrm>
            <a:off x="731520" y="1371600"/>
            <a:ext cx="10698480" cy="365760"/>
          </a:xfrm>
          <a:prstGeom prst="rect">
            <a:avLst/>
          </a:prstGeom>
          <a:noFill/>
          <a:ln/>
        </p:spPr>
        <p:txBody>
          <a:bodyPr wrap="square" lIns="0" tIns="0" rIns="0" bIns="0" rtlCol="0" anchor="ctr"/>
          <a:lstStyle/>
          <a:p>
            <a:pPr indent="0" marL="0">
              <a:buNone/>
            </a:pPr>
            <a:r>
              <a:rPr lang="en-US" sz="1400" b="1" spc="600" kern="0" dirty="0">
                <a:solidFill>
                  <a:srgbClr val="00BCEB"/>
                </a:solidFill>
                <a:latin typeface="Trebuchet MS" pitchFamily="34" charset="0"/>
                <a:ea typeface="Trebuchet MS" pitchFamily="34" charset="-122"/>
                <a:cs typeface="Trebuchet MS" pitchFamily="34" charset="-120"/>
              </a:rPr>
              <a:t>PART 2 OF 2</a:t>
            </a:r>
            <a:endParaRPr lang="en-US" sz="1400" dirty="0"/>
          </a:p>
        </p:txBody>
      </p:sp>
      <p:sp>
        <p:nvSpPr>
          <p:cNvPr id="4" name="Text 2"/>
          <p:cNvSpPr/>
          <p:nvPr/>
        </p:nvSpPr>
        <p:spPr>
          <a:xfrm>
            <a:off x="731520" y="1920240"/>
            <a:ext cx="10698480" cy="1097280"/>
          </a:xfrm>
          <a:prstGeom prst="rect">
            <a:avLst/>
          </a:prstGeom>
          <a:noFill/>
          <a:ln/>
        </p:spPr>
        <p:txBody>
          <a:bodyPr wrap="square" lIns="0" tIns="0" rIns="0" bIns="0" rtlCol="0" anchor="ctr"/>
          <a:lstStyle/>
          <a:p>
            <a:pPr indent="0" marL="0">
              <a:buNone/>
            </a:pPr>
            <a:r>
              <a:rPr lang="en-US" sz="9600" b="1" spc="400" kern="0" dirty="0">
                <a:solidFill>
                  <a:srgbClr val="FFFFFF"/>
                </a:solidFill>
                <a:latin typeface="Trebuchet MS" pitchFamily="34" charset="0"/>
                <a:ea typeface="Trebuchet MS" pitchFamily="34" charset="-122"/>
                <a:cs typeface="Trebuchet MS" pitchFamily="34" charset="-120"/>
              </a:rPr>
              <a:t>LIVE DEMO</a:t>
            </a:r>
            <a:endParaRPr lang="en-US" sz="9600" dirty="0"/>
          </a:p>
        </p:txBody>
      </p:sp>
      <p:sp>
        <p:nvSpPr>
          <p:cNvPr id="5" name="Text 3"/>
          <p:cNvSpPr/>
          <p:nvPr/>
        </p:nvSpPr>
        <p:spPr>
          <a:xfrm>
            <a:off x="731520" y="3200400"/>
            <a:ext cx="10698480" cy="457200"/>
          </a:xfrm>
          <a:prstGeom prst="rect">
            <a:avLst/>
          </a:prstGeom>
          <a:noFill/>
          <a:ln/>
        </p:spPr>
        <p:txBody>
          <a:bodyPr wrap="square" lIns="0" tIns="0" rIns="0" bIns="0" rtlCol="0" anchor="ctr"/>
          <a:lstStyle/>
          <a:p>
            <a:pPr indent="0" marL="0">
              <a:buNone/>
            </a:pPr>
            <a:r>
              <a:rPr lang="en-US" sz="2200" i="1" dirty="0">
                <a:solidFill>
                  <a:srgbClr val="E2E8F0"/>
                </a:solidFill>
                <a:latin typeface="Trebuchet MS" pitchFamily="34" charset="0"/>
                <a:ea typeface="Trebuchet MS" pitchFamily="34" charset="-122"/>
                <a:cs typeface="Trebuchet MS" pitchFamily="34" charset="-120"/>
              </a:rPr>
              <a:t>Seven minutes. v4.1. Cold-start lab. End-to-end alert flow.</a:t>
            </a:r>
            <a:endParaRPr lang="en-US" sz="2200" dirty="0"/>
          </a:p>
        </p:txBody>
      </p:sp>
      <p:sp>
        <p:nvSpPr>
          <p:cNvPr id="6" name="Shape 4"/>
          <p:cNvSpPr/>
          <p:nvPr/>
        </p:nvSpPr>
        <p:spPr>
          <a:xfrm>
            <a:off x="731520" y="4114800"/>
            <a:ext cx="10698480" cy="1828800"/>
          </a:xfrm>
          <a:prstGeom prst="rect">
            <a:avLst/>
          </a:prstGeom>
          <a:solidFill>
            <a:srgbClr val="F4F7FB"/>
          </a:solidFill>
          <a:ln w="12700">
            <a:solidFill>
              <a:srgbClr val="F4F7FB"/>
            </a:solidFill>
            <a:prstDash val="solid"/>
          </a:ln>
        </p:spPr>
      </p:sp>
      <p:sp>
        <p:nvSpPr>
          <p:cNvPr id="7" name="Text 5"/>
          <p:cNvSpPr/>
          <p:nvPr/>
        </p:nvSpPr>
        <p:spPr>
          <a:xfrm>
            <a:off x="914400" y="4251960"/>
            <a:ext cx="10332720" cy="32004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WHAT YOU WILL SEE</a:t>
            </a:r>
            <a:endParaRPr lang="en-US" sz="1200" dirty="0"/>
          </a:p>
        </p:txBody>
      </p:sp>
      <p:sp>
        <p:nvSpPr>
          <p:cNvPr id="8" name="Text 6"/>
          <p:cNvSpPr/>
          <p:nvPr/>
        </p:nvSpPr>
        <p:spPr>
          <a:xfrm>
            <a:off x="914400" y="4617720"/>
            <a:ext cx="10332720" cy="1280160"/>
          </a:xfrm>
          <a:prstGeom prst="rect">
            <a:avLst/>
          </a:prstGeom>
          <a:noFill/>
          <a:ln/>
        </p:spPr>
        <p:txBody>
          <a:bodyPr wrap="square" lIns="0" tIns="0" rIns="0" bIns="0" rtlCol="0" anchor="t"/>
          <a:lstStyle/>
          <a:p>
            <a:pPr indent="0" marL="0">
              <a:spcAft>
                <a:spcPts val="400"/>
              </a:spcAft>
              <a:buNone/>
            </a:pPr>
            <a:r>
              <a:rPr lang="en-US" sz="1200" b="1" dirty="0">
                <a:solidFill>
                  <a:srgbClr val="00BCEB"/>
                </a:solidFill>
                <a:latin typeface="Trebuchet MS" pitchFamily="34" charset="0"/>
                <a:ea typeface="Trebuchet MS" pitchFamily="34" charset="-122"/>
                <a:cs typeface="Trebuchet MS" pitchFamily="34" charset="-120"/>
              </a:rPr>
              <a:t xml:space="preserve">1.  </a:t>
            </a:r>
            <a:pPr indent="0" marL="0">
              <a:spcAft>
                <a:spcPts val="400"/>
              </a:spcAft>
              <a:buNone/>
            </a:pPr>
            <a:r>
              <a:rPr lang="en-US" sz="1200" dirty="0">
                <a:solidFill>
                  <a:srgbClr val="0F172A"/>
                </a:solidFill>
                <a:latin typeface="Trebuchet MS" pitchFamily="34" charset="0"/>
                <a:ea typeface="Trebuchet MS" pitchFamily="34" charset="-122"/>
                <a:cs typeface="Trebuchet MS" pitchFamily="34" charset="-120"/>
              </a:rPr>
              <a:t>Live OpenNMS UI showing solent-1-minion-01 and solent-2-minion-01 at status=up, locations Solent-1 and Solent-2.</a:t>
            </a:r>
            <a:endParaRPr lang="en-US" sz="1200" dirty="0"/>
          </a:p>
          <a:p>
            <a:pPr indent="0" marL="0">
              <a:spcAft>
                <a:spcPts val="400"/>
              </a:spcAft>
              <a:buNone/>
            </a:pPr>
            <a:r>
              <a:rPr lang="en-US" sz="1200" b="1" dirty="0">
                <a:solidFill>
                  <a:srgbClr val="00BCEB"/>
                </a:solidFill>
                <a:latin typeface="Trebuchet MS" pitchFamily="34" charset="0"/>
                <a:ea typeface="Trebuchet MS" pitchFamily="34" charset="-122"/>
                <a:cs typeface="Trebuchet MS" pitchFamily="34" charset="-120"/>
              </a:rPr>
              <a:t xml:space="preserve">2.  </a:t>
            </a:r>
            <a:pPr indent="0" marL="0">
              <a:spcAft>
                <a:spcPts val="400"/>
              </a:spcAft>
              <a:buNone/>
            </a:pPr>
            <a:r>
              <a:rPr lang="en-US" sz="1200" dirty="0">
                <a:solidFill>
                  <a:srgbClr val="0F172A"/>
                </a:solidFill>
                <a:latin typeface="Trebuchet MS" pitchFamily="34" charset="0"/>
                <a:ea typeface="Trebuchet MS" pitchFamily="34" charset="-122"/>
                <a:cs typeface="Trebuchet MS" pitchFamily="34" charset="-120"/>
              </a:rPr>
              <a:t>SNMP linkDown trap injection from Solent-2 site router; trap arriving at marr-snmp-notifier within 1 second.</a:t>
            </a:r>
            <a:endParaRPr lang="en-US" sz="1200" dirty="0"/>
          </a:p>
          <a:p>
            <a:pPr indent="0" marL="0">
              <a:spcAft>
                <a:spcPts val="400"/>
              </a:spcAft>
              <a:buNone/>
            </a:pPr>
            <a:r>
              <a:rPr lang="en-US" sz="1200" b="1" dirty="0">
                <a:solidFill>
                  <a:srgbClr val="00BCEB"/>
                </a:solidFill>
                <a:latin typeface="Trebuchet MS" pitchFamily="34" charset="0"/>
                <a:ea typeface="Trebuchet MS" pitchFamily="34" charset="-122"/>
                <a:cs typeface="Trebuchet MS" pitchFamily="34" charset="-120"/>
              </a:rPr>
              <a:t xml:space="preserve">3.  </a:t>
            </a:r>
            <a:pPr indent="0" marL="0">
              <a:spcAft>
                <a:spcPts val="400"/>
              </a:spcAft>
              <a:buNone/>
            </a:pPr>
            <a:r>
              <a:rPr lang="en-US" sz="1200" dirty="0">
                <a:solidFill>
                  <a:srgbClr val="0F172A"/>
                </a:solidFill>
                <a:latin typeface="Trebuchet MS" pitchFamily="34" charset="0"/>
                <a:ea typeface="Trebuchet MS" pitchFamily="34" charset="-122"/>
                <a:cs typeface="Trebuchet MS" pitchFamily="34" charset="-120"/>
              </a:rPr>
              <a:t>Pipeline trace: classifier &gt; runbook selection &gt; Ansible diagnostic execution &gt; incident report assembly.</a:t>
            </a:r>
            <a:endParaRPr lang="en-US" sz="1200" dirty="0"/>
          </a:p>
          <a:p>
            <a:pPr indent="0" marL="0">
              <a:spcAft>
                <a:spcPts val="400"/>
              </a:spcAft>
              <a:buNone/>
            </a:pPr>
            <a:r>
              <a:rPr lang="en-US" sz="1200" b="1" dirty="0">
                <a:solidFill>
                  <a:srgbClr val="00BCEB"/>
                </a:solidFill>
                <a:latin typeface="Trebuchet MS" pitchFamily="34" charset="0"/>
                <a:ea typeface="Trebuchet MS" pitchFamily="34" charset="-122"/>
                <a:cs typeface="Trebuchet MS" pitchFamily="34" charset="-120"/>
              </a:rPr>
              <a:t xml:space="preserve">4.  </a:t>
            </a:r>
            <a:pPr indent="0" marL="0">
              <a:spcAft>
                <a:spcPts val="400"/>
              </a:spcAft>
              <a:buNone/>
            </a:pPr>
            <a:r>
              <a:rPr lang="en-US" sz="1200" dirty="0">
                <a:solidFill>
                  <a:srgbClr val="0F172A"/>
                </a:solidFill>
                <a:latin typeface="Trebuchet MS" pitchFamily="34" charset="0"/>
                <a:ea typeface="Trebuchet MS" pitchFamily="34" charset="-122"/>
                <a:cs typeface="Trebuchet MS" pitchFamily="34" charset="-120"/>
              </a:rPr>
              <a:t>Mattermost network-alerts channel receiving the structured incident report within the 10-second target.</a:t>
            </a:r>
            <a:endParaRPr lang="en-US" sz="1200" dirty="0"/>
          </a:p>
          <a:p>
            <a:pPr indent="0" marL="0">
              <a:spcAft>
                <a:spcPts val="400"/>
              </a:spcAft>
              <a:buNone/>
            </a:pPr>
            <a:r>
              <a:rPr lang="en-US" sz="1200" b="1" dirty="0">
                <a:solidFill>
                  <a:srgbClr val="00BCEB"/>
                </a:solidFill>
                <a:latin typeface="Trebuchet MS" pitchFamily="34" charset="0"/>
                <a:ea typeface="Trebuchet MS" pitchFamily="34" charset="-122"/>
                <a:cs typeface="Trebuchet MS" pitchFamily="34" charset="-120"/>
              </a:rPr>
              <a:t xml:space="preserve">5.  </a:t>
            </a:r>
            <a:pPr indent="0" marL="0">
              <a:spcAft>
                <a:spcPts val="400"/>
              </a:spcAft>
              <a:buNone/>
            </a:pPr>
            <a:r>
              <a:rPr lang="en-US" sz="1200" dirty="0">
                <a:solidFill>
                  <a:srgbClr val="0F172A"/>
                </a:solidFill>
                <a:latin typeface="Trebuchet MS" pitchFamily="34" charset="0"/>
                <a:ea typeface="Trebuchet MS" pitchFamily="34" charset="-122"/>
                <a:cs typeface="Trebuchet MS" pitchFamily="34" charset="-120"/>
              </a:rPr>
              <a:t>Cascade test: three related events with grouped (correlated) report demonstrating Redis-lease behaviour.</a:t>
            </a:r>
            <a:endParaRPr lang="en-US" sz="1200" dirty="0"/>
          </a:p>
        </p:txBody>
      </p:sp>
      <p:sp>
        <p:nvSpPr>
          <p:cNvPr id="9" name="Text 7"/>
          <p:cNvSpPr/>
          <p:nvPr/>
        </p:nvSpPr>
        <p:spPr>
          <a:xfrm>
            <a:off x="731520" y="6263640"/>
            <a:ext cx="10698480" cy="365760"/>
          </a:xfrm>
          <a:prstGeom prst="rect">
            <a:avLst/>
          </a:prstGeom>
          <a:noFill/>
          <a:ln/>
        </p:spPr>
        <p:txBody>
          <a:bodyPr wrap="square" lIns="0" tIns="0" rIns="0" bIns="0" rtlCol="0" anchor="ctr"/>
          <a:lstStyle/>
          <a:p>
            <a:pPr algn="ctr" indent="0" marL="0">
              <a:buNone/>
            </a:pPr>
            <a:r>
              <a:rPr lang="en-US" sz="1000" dirty="0">
                <a:solidFill>
                  <a:srgbClr val="64748B"/>
                </a:solidFill>
                <a:latin typeface="Courier New" pitchFamily="34" charset="0"/>
                <a:ea typeface="Courier New" pitchFamily="34" charset="-122"/>
                <a:cs typeface="Courier New" pitchFamily="34" charset="-120"/>
              </a:rPr>
              <a:t>Repository:  github.com/com617-industrial-2025-1/com617-AutomatedNetworkTroubleshooting-1   |   Tag: v4.1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07  /  DEMO</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Demo Storyboard</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Seven-minute MVP walkthrough  -  exact sequence and commands</a:t>
            </a:r>
            <a:endParaRPr lang="en-US" sz="1400" dirty="0"/>
          </a:p>
        </p:txBody>
      </p:sp>
      <p:sp>
        <p:nvSpPr>
          <p:cNvPr id="9" name="Shape 7"/>
          <p:cNvSpPr/>
          <p:nvPr/>
        </p:nvSpPr>
        <p:spPr>
          <a:xfrm>
            <a:off x="548640" y="2103120"/>
            <a:ext cx="11064240" cy="594360"/>
          </a:xfrm>
          <a:prstGeom prst="rect">
            <a:avLst/>
          </a:prstGeom>
          <a:solidFill>
            <a:srgbClr val="FFFFFF"/>
          </a:solidFill>
          <a:ln w="12700">
            <a:solidFill>
              <a:srgbClr val="E2E8F0"/>
            </a:solidFill>
            <a:prstDash val="solid"/>
          </a:ln>
        </p:spPr>
      </p:sp>
      <p:sp>
        <p:nvSpPr>
          <p:cNvPr id="10" name="Shape 8"/>
          <p:cNvSpPr/>
          <p:nvPr/>
        </p:nvSpPr>
        <p:spPr>
          <a:xfrm>
            <a:off x="548640" y="2103120"/>
            <a:ext cx="73152" cy="594360"/>
          </a:xfrm>
          <a:prstGeom prst="rect">
            <a:avLst/>
          </a:prstGeom>
          <a:solidFill>
            <a:srgbClr val="00BCEB"/>
          </a:solidFill>
          <a:ln w="12700">
            <a:solidFill>
              <a:srgbClr val="00BCEB"/>
            </a:solidFill>
            <a:prstDash val="solid"/>
          </a:ln>
        </p:spPr>
      </p:sp>
      <p:sp>
        <p:nvSpPr>
          <p:cNvPr id="11" name="Text 9"/>
          <p:cNvSpPr/>
          <p:nvPr/>
        </p:nvSpPr>
        <p:spPr>
          <a:xfrm>
            <a:off x="777240" y="2194560"/>
            <a:ext cx="1554480" cy="411480"/>
          </a:xfrm>
          <a:prstGeom prst="rect">
            <a:avLst/>
          </a:prstGeom>
          <a:noFill/>
          <a:ln/>
        </p:spPr>
        <p:txBody>
          <a:bodyPr wrap="square" lIns="0" tIns="0" rIns="0" bIns="0" rtlCol="0" anchor="ctr"/>
          <a:lstStyle/>
          <a:p>
            <a:pPr indent="0" marL="0">
              <a:buNone/>
            </a:pPr>
            <a:r>
              <a:rPr lang="en-US" sz="1100" b="1" dirty="0">
                <a:solidFill>
                  <a:srgbClr val="0A2540"/>
                </a:solidFill>
                <a:latin typeface="Courier New" pitchFamily="34" charset="0"/>
                <a:ea typeface="Courier New" pitchFamily="34" charset="-122"/>
                <a:cs typeface="Courier New" pitchFamily="34" charset="-120"/>
              </a:rPr>
              <a:t>0:00 - 1:00</a:t>
            </a:r>
            <a:endParaRPr lang="en-US" sz="1100" dirty="0"/>
          </a:p>
        </p:txBody>
      </p:sp>
      <p:sp>
        <p:nvSpPr>
          <p:cNvPr id="12" name="Text 10"/>
          <p:cNvSpPr/>
          <p:nvPr/>
        </p:nvSpPr>
        <p:spPr>
          <a:xfrm>
            <a:off x="2377440" y="2194560"/>
            <a:ext cx="2926080" cy="411480"/>
          </a:xfrm>
          <a:prstGeom prst="rect">
            <a:avLst/>
          </a:prstGeom>
          <a:noFill/>
          <a:ln/>
        </p:spPr>
        <p:txBody>
          <a:bodyPr wrap="square" lIns="0" tIns="0" rIns="0" bIns="0" rtlCol="0" anchor="ctr"/>
          <a:lstStyle/>
          <a:p>
            <a:pPr indent="0" marL="0">
              <a:buNone/>
            </a:pPr>
            <a:r>
              <a:rPr lang="en-US" sz="1200" b="1" dirty="0">
                <a:solidFill>
                  <a:srgbClr val="0A2540"/>
                </a:solidFill>
                <a:latin typeface="Trebuchet MS" pitchFamily="34" charset="0"/>
                <a:ea typeface="Trebuchet MS" pitchFamily="34" charset="-122"/>
                <a:cs typeface="Trebuchet MS" pitchFamily="34" charset="-120"/>
              </a:rPr>
              <a:t>Lab state confirmation</a:t>
            </a:r>
            <a:endParaRPr lang="en-US" sz="1200" dirty="0"/>
          </a:p>
        </p:txBody>
      </p:sp>
      <p:sp>
        <p:nvSpPr>
          <p:cNvPr id="13" name="Text 11"/>
          <p:cNvSpPr/>
          <p:nvPr/>
        </p:nvSpPr>
        <p:spPr>
          <a:xfrm>
            <a:off x="5349240" y="2194560"/>
            <a:ext cx="6217920" cy="41148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ansible-playbook scripts/lab-start.yml output (43 ok/0 failed). curl /opennms/rest/minions returns both Solent minions status=up.</a:t>
            </a:r>
            <a:endParaRPr lang="en-US" sz="1000" dirty="0"/>
          </a:p>
        </p:txBody>
      </p:sp>
      <p:sp>
        <p:nvSpPr>
          <p:cNvPr id="14" name="Shape 12"/>
          <p:cNvSpPr/>
          <p:nvPr/>
        </p:nvSpPr>
        <p:spPr>
          <a:xfrm>
            <a:off x="548640" y="2734056"/>
            <a:ext cx="11064240" cy="594360"/>
          </a:xfrm>
          <a:prstGeom prst="rect">
            <a:avLst/>
          </a:prstGeom>
          <a:solidFill>
            <a:srgbClr val="FFFFFF"/>
          </a:solidFill>
          <a:ln w="12700">
            <a:solidFill>
              <a:srgbClr val="E2E8F0"/>
            </a:solidFill>
            <a:prstDash val="solid"/>
          </a:ln>
        </p:spPr>
      </p:sp>
      <p:sp>
        <p:nvSpPr>
          <p:cNvPr id="15" name="Shape 13"/>
          <p:cNvSpPr/>
          <p:nvPr/>
        </p:nvSpPr>
        <p:spPr>
          <a:xfrm>
            <a:off x="548640" y="2734056"/>
            <a:ext cx="73152" cy="594360"/>
          </a:xfrm>
          <a:prstGeom prst="rect">
            <a:avLst/>
          </a:prstGeom>
          <a:solidFill>
            <a:srgbClr val="00BCEB"/>
          </a:solidFill>
          <a:ln w="12700">
            <a:solidFill>
              <a:srgbClr val="00BCEB"/>
            </a:solidFill>
            <a:prstDash val="solid"/>
          </a:ln>
        </p:spPr>
      </p:sp>
      <p:sp>
        <p:nvSpPr>
          <p:cNvPr id="16" name="Text 14"/>
          <p:cNvSpPr/>
          <p:nvPr/>
        </p:nvSpPr>
        <p:spPr>
          <a:xfrm>
            <a:off x="777240" y="2825496"/>
            <a:ext cx="1554480" cy="411480"/>
          </a:xfrm>
          <a:prstGeom prst="rect">
            <a:avLst/>
          </a:prstGeom>
          <a:noFill/>
          <a:ln/>
        </p:spPr>
        <p:txBody>
          <a:bodyPr wrap="square" lIns="0" tIns="0" rIns="0" bIns="0" rtlCol="0" anchor="ctr"/>
          <a:lstStyle/>
          <a:p>
            <a:pPr indent="0" marL="0">
              <a:buNone/>
            </a:pPr>
            <a:r>
              <a:rPr lang="en-US" sz="1100" b="1" dirty="0">
                <a:solidFill>
                  <a:srgbClr val="0A2540"/>
                </a:solidFill>
                <a:latin typeface="Courier New" pitchFamily="34" charset="0"/>
                <a:ea typeface="Courier New" pitchFamily="34" charset="-122"/>
                <a:cs typeface="Courier New" pitchFamily="34" charset="-120"/>
              </a:rPr>
              <a:t>1:00 - 2:30</a:t>
            </a:r>
            <a:endParaRPr lang="en-US" sz="1100" dirty="0"/>
          </a:p>
        </p:txBody>
      </p:sp>
      <p:sp>
        <p:nvSpPr>
          <p:cNvPr id="17" name="Text 15"/>
          <p:cNvSpPr/>
          <p:nvPr/>
        </p:nvSpPr>
        <p:spPr>
          <a:xfrm>
            <a:off x="2377440" y="2825496"/>
            <a:ext cx="2926080" cy="411480"/>
          </a:xfrm>
          <a:prstGeom prst="rect">
            <a:avLst/>
          </a:prstGeom>
          <a:noFill/>
          <a:ln/>
        </p:spPr>
        <p:txBody>
          <a:bodyPr wrap="square" lIns="0" tIns="0" rIns="0" bIns="0" rtlCol="0" anchor="ctr"/>
          <a:lstStyle/>
          <a:p>
            <a:pPr indent="0" marL="0">
              <a:buNone/>
            </a:pPr>
            <a:r>
              <a:rPr lang="en-US" sz="1200" b="1" dirty="0">
                <a:solidFill>
                  <a:srgbClr val="0A2540"/>
                </a:solidFill>
                <a:latin typeface="Trebuchet MS" pitchFamily="34" charset="0"/>
                <a:ea typeface="Trebuchet MS" pitchFamily="34" charset="-122"/>
                <a:cs typeface="Trebuchet MS" pitchFamily="34" charset="-120"/>
              </a:rPr>
              <a:t>Dual-path alert injection</a:t>
            </a:r>
            <a:endParaRPr lang="en-US" sz="1200" dirty="0"/>
          </a:p>
        </p:txBody>
      </p:sp>
      <p:sp>
        <p:nvSpPr>
          <p:cNvPr id="18" name="Text 16"/>
          <p:cNvSpPr/>
          <p:nvPr/>
        </p:nvSpPr>
        <p:spPr>
          <a:xfrm>
            <a:off x="5349240" y="2825496"/>
            <a:ext cx="6217920" cy="41148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curl -X POST /alert (REST) and docker exec snmptrap to 172.21.0.14 (SNMP). Listener auto-resolves source IP to hostname.</a:t>
            </a:r>
            <a:endParaRPr lang="en-US" sz="1000" dirty="0"/>
          </a:p>
        </p:txBody>
      </p:sp>
      <p:sp>
        <p:nvSpPr>
          <p:cNvPr id="19" name="Shape 17"/>
          <p:cNvSpPr/>
          <p:nvPr/>
        </p:nvSpPr>
        <p:spPr>
          <a:xfrm>
            <a:off x="548640" y="3364992"/>
            <a:ext cx="11064240" cy="594360"/>
          </a:xfrm>
          <a:prstGeom prst="rect">
            <a:avLst/>
          </a:prstGeom>
          <a:solidFill>
            <a:srgbClr val="FFFFFF"/>
          </a:solidFill>
          <a:ln w="12700">
            <a:solidFill>
              <a:srgbClr val="E2E8F0"/>
            </a:solidFill>
            <a:prstDash val="solid"/>
          </a:ln>
        </p:spPr>
      </p:sp>
      <p:sp>
        <p:nvSpPr>
          <p:cNvPr id="20" name="Shape 18"/>
          <p:cNvSpPr/>
          <p:nvPr/>
        </p:nvSpPr>
        <p:spPr>
          <a:xfrm>
            <a:off x="548640" y="3364992"/>
            <a:ext cx="73152" cy="594360"/>
          </a:xfrm>
          <a:prstGeom prst="rect">
            <a:avLst/>
          </a:prstGeom>
          <a:solidFill>
            <a:srgbClr val="00BCEB"/>
          </a:solidFill>
          <a:ln w="12700">
            <a:solidFill>
              <a:srgbClr val="00BCEB"/>
            </a:solidFill>
            <a:prstDash val="solid"/>
          </a:ln>
        </p:spPr>
      </p:sp>
      <p:sp>
        <p:nvSpPr>
          <p:cNvPr id="21" name="Text 19"/>
          <p:cNvSpPr/>
          <p:nvPr/>
        </p:nvSpPr>
        <p:spPr>
          <a:xfrm>
            <a:off x="777240" y="3456432"/>
            <a:ext cx="1554480" cy="411480"/>
          </a:xfrm>
          <a:prstGeom prst="rect">
            <a:avLst/>
          </a:prstGeom>
          <a:noFill/>
          <a:ln/>
        </p:spPr>
        <p:txBody>
          <a:bodyPr wrap="square" lIns="0" tIns="0" rIns="0" bIns="0" rtlCol="0" anchor="ctr"/>
          <a:lstStyle/>
          <a:p>
            <a:pPr indent="0" marL="0">
              <a:buNone/>
            </a:pPr>
            <a:r>
              <a:rPr lang="en-US" sz="1100" b="1" dirty="0">
                <a:solidFill>
                  <a:srgbClr val="0A2540"/>
                </a:solidFill>
                <a:latin typeface="Courier New" pitchFamily="34" charset="0"/>
                <a:ea typeface="Courier New" pitchFamily="34" charset="-122"/>
                <a:cs typeface="Courier New" pitchFamily="34" charset="-120"/>
              </a:rPr>
              <a:t>2:30 - 4:00</a:t>
            </a:r>
            <a:endParaRPr lang="en-US" sz="1100" dirty="0"/>
          </a:p>
        </p:txBody>
      </p:sp>
      <p:sp>
        <p:nvSpPr>
          <p:cNvPr id="22" name="Text 20"/>
          <p:cNvSpPr/>
          <p:nvPr/>
        </p:nvSpPr>
        <p:spPr>
          <a:xfrm>
            <a:off x="2377440" y="3456432"/>
            <a:ext cx="2926080" cy="411480"/>
          </a:xfrm>
          <a:prstGeom prst="rect">
            <a:avLst/>
          </a:prstGeom>
          <a:noFill/>
          <a:ln/>
        </p:spPr>
        <p:txBody>
          <a:bodyPr wrap="square" lIns="0" tIns="0" rIns="0" bIns="0" rtlCol="0" anchor="ctr"/>
          <a:lstStyle/>
          <a:p>
            <a:pPr indent="0" marL="0">
              <a:buNone/>
            </a:pPr>
            <a:r>
              <a:rPr lang="en-US" sz="1200" b="1" dirty="0">
                <a:solidFill>
                  <a:srgbClr val="0A2540"/>
                </a:solidFill>
                <a:latin typeface="Trebuchet MS" pitchFamily="34" charset="0"/>
                <a:ea typeface="Trebuchet MS" pitchFamily="34" charset="-122"/>
                <a:cs typeface="Trebuchet MS" pitchFamily="34" charset="-120"/>
              </a:rPr>
              <a:t>Pipeline trace</a:t>
            </a:r>
            <a:endParaRPr lang="en-US" sz="1200" dirty="0"/>
          </a:p>
        </p:txBody>
      </p:sp>
      <p:sp>
        <p:nvSpPr>
          <p:cNvPr id="23" name="Text 21"/>
          <p:cNvSpPr/>
          <p:nvPr/>
        </p:nvSpPr>
        <p:spPr>
          <a:xfrm>
            <a:off x="5349240" y="3456432"/>
            <a:ext cx="6217920" cy="41148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Both triggers converge: classifier &gt; runbook (diagnose_link_down.yml) &gt; Ansible execution &gt; 6 of 6 vtysh tasks ok. JSON diagnostic captured.</a:t>
            </a:r>
            <a:endParaRPr lang="en-US" sz="1000" dirty="0"/>
          </a:p>
        </p:txBody>
      </p:sp>
      <p:sp>
        <p:nvSpPr>
          <p:cNvPr id="24" name="Shape 22"/>
          <p:cNvSpPr/>
          <p:nvPr/>
        </p:nvSpPr>
        <p:spPr>
          <a:xfrm>
            <a:off x="548640" y="3995928"/>
            <a:ext cx="11064240" cy="594360"/>
          </a:xfrm>
          <a:prstGeom prst="rect">
            <a:avLst/>
          </a:prstGeom>
          <a:solidFill>
            <a:srgbClr val="FFFFFF"/>
          </a:solidFill>
          <a:ln w="12700">
            <a:solidFill>
              <a:srgbClr val="E2E8F0"/>
            </a:solidFill>
            <a:prstDash val="solid"/>
          </a:ln>
        </p:spPr>
      </p:sp>
      <p:sp>
        <p:nvSpPr>
          <p:cNvPr id="25" name="Shape 23"/>
          <p:cNvSpPr/>
          <p:nvPr/>
        </p:nvSpPr>
        <p:spPr>
          <a:xfrm>
            <a:off x="548640" y="3995928"/>
            <a:ext cx="73152" cy="594360"/>
          </a:xfrm>
          <a:prstGeom prst="rect">
            <a:avLst/>
          </a:prstGeom>
          <a:solidFill>
            <a:srgbClr val="00BCEB"/>
          </a:solidFill>
          <a:ln w="12700">
            <a:solidFill>
              <a:srgbClr val="00BCEB"/>
            </a:solidFill>
            <a:prstDash val="solid"/>
          </a:ln>
        </p:spPr>
      </p:sp>
      <p:sp>
        <p:nvSpPr>
          <p:cNvPr id="26" name="Text 24"/>
          <p:cNvSpPr/>
          <p:nvPr/>
        </p:nvSpPr>
        <p:spPr>
          <a:xfrm>
            <a:off x="777240" y="4087368"/>
            <a:ext cx="1554480" cy="411480"/>
          </a:xfrm>
          <a:prstGeom prst="rect">
            <a:avLst/>
          </a:prstGeom>
          <a:noFill/>
          <a:ln/>
        </p:spPr>
        <p:txBody>
          <a:bodyPr wrap="square" lIns="0" tIns="0" rIns="0" bIns="0" rtlCol="0" anchor="ctr"/>
          <a:lstStyle/>
          <a:p>
            <a:pPr indent="0" marL="0">
              <a:buNone/>
            </a:pPr>
            <a:r>
              <a:rPr lang="en-US" sz="1100" b="1" dirty="0">
                <a:solidFill>
                  <a:srgbClr val="0A2540"/>
                </a:solidFill>
                <a:latin typeface="Courier New" pitchFamily="34" charset="0"/>
                <a:ea typeface="Courier New" pitchFamily="34" charset="-122"/>
                <a:cs typeface="Courier New" pitchFamily="34" charset="-120"/>
              </a:rPr>
              <a:t>4:00 - 5:00</a:t>
            </a:r>
            <a:endParaRPr lang="en-US" sz="1100" dirty="0"/>
          </a:p>
        </p:txBody>
      </p:sp>
      <p:sp>
        <p:nvSpPr>
          <p:cNvPr id="27" name="Text 25"/>
          <p:cNvSpPr/>
          <p:nvPr/>
        </p:nvSpPr>
        <p:spPr>
          <a:xfrm>
            <a:off x="2377440" y="4087368"/>
            <a:ext cx="2926080" cy="411480"/>
          </a:xfrm>
          <a:prstGeom prst="rect">
            <a:avLst/>
          </a:prstGeom>
          <a:noFill/>
          <a:ln/>
        </p:spPr>
        <p:txBody>
          <a:bodyPr wrap="square" lIns="0" tIns="0" rIns="0" bIns="0" rtlCol="0" anchor="ctr"/>
          <a:lstStyle/>
          <a:p>
            <a:pPr indent="0" marL="0">
              <a:buNone/>
            </a:pPr>
            <a:r>
              <a:rPr lang="en-US" sz="1200" b="1" dirty="0">
                <a:solidFill>
                  <a:srgbClr val="0A2540"/>
                </a:solidFill>
                <a:latin typeface="Trebuchet MS" pitchFamily="34" charset="0"/>
                <a:ea typeface="Trebuchet MS" pitchFamily="34" charset="-122"/>
                <a:cs typeface="Trebuchet MS" pitchFamily="34" charset="-120"/>
              </a:rPr>
              <a:t>Mattermost incident report</a:t>
            </a:r>
            <a:endParaRPr lang="en-US" sz="1200" dirty="0"/>
          </a:p>
        </p:txBody>
      </p:sp>
      <p:sp>
        <p:nvSpPr>
          <p:cNvPr id="28" name="Text 26"/>
          <p:cNvSpPr/>
          <p:nvPr/>
        </p:nvSpPr>
        <p:spPr>
          <a:xfrm>
            <a:off x="5349240" y="4087368"/>
            <a:ext cx="6217920" cy="41148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Switch to Mattermost UI: network-alerts channel receives Network Incident Reports for each trigger, with Alert ID, Node, Severity, Fault Type, Diag Status.</a:t>
            </a:r>
            <a:endParaRPr lang="en-US" sz="1000" dirty="0"/>
          </a:p>
        </p:txBody>
      </p:sp>
      <p:sp>
        <p:nvSpPr>
          <p:cNvPr id="29" name="Shape 27"/>
          <p:cNvSpPr/>
          <p:nvPr/>
        </p:nvSpPr>
        <p:spPr>
          <a:xfrm>
            <a:off x="548640" y="4626864"/>
            <a:ext cx="11064240" cy="594360"/>
          </a:xfrm>
          <a:prstGeom prst="rect">
            <a:avLst/>
          </a:prstGeom>
          <a:solidFill>
            <a:srgbClr val="FFFFFF"/>
          </a:solidFill>
          <a:ln w="12700">
            <a:solidFill>
              <a:srgbClr val="E2E8F0"/>
            </a:solidFill>
            <a:prstDash val="solid"/>
          </a:ln>
        </p:spPr>
      </p:sp>
      <p:sp>
        <p:nvSpPr>
          <p:cNvPr id="30" name="Shape 28"/>
          <p:cNvSpPr/>
          <p:nvPr/>
        </p:nvSpPr>
        <p:spPr>
          <a:xfrm>
            <a:off x="548640" y="4626864"/>
            <a:ext cx="73152" cy="594360"/>
          </a:xfrm>
          <a:prstGeom prst="rect">
            <a:avLst/>
          </a:prstGeom>
          <a:solidFill>
            <a:srgbClr val="00BCEB"/>
          </a:solidFill>
          <a:ln w="12700">
            <a:solidFill>
              <a:srgbClr val="00BCEB"/>
            </a:solidFill>
            <a:prstDash val="solid"/>
          </a:ln>
        </p:spPr>
      </p:sp>
      <p:sp>
        <p:nvSpPr>
          <p:cNvPr id="31" name="Text 29"/>
          <p:cNvSpPr/>
          <p:nvPr/>
        </p:nvSpPr>
        <p:spPr>
          <a:xfrm>
            <a:off x="777240" y="4718304"/>
            <a:ext cx="1554480" cy="411480"/>
          </a:xfrm>
          <a:prstGeom prst="rect">
            <a:avLst/>
          </a:prstGeom>
          <a:noFill/>
          <a:ln/>
        </p:spPr>
        <p:txBody>
          <a:bodyPr wrap="square" lIns="0" tIns="0" rIns="0" bIns="0" rtlCol="0" anchor="ctr"/>
          <a:lstStyle/>
          <a:p>
            <a:pPr indent="0" marL="0">
              <a:buNone/>
            </a:pPr>
            <a:r>
              <a:rPr lang="en-US" sz="1100" b="1" dirty="0">
                <a:solidFill>
                  <a:srgbClr val="0A2540"/>
                </a:solidFill>
                <a:latin typeface="Courier New" pitchFamily="34" charset="0"/>
                <a:ea typeface="Courier New" pitchFamily="34" charset="-122"/>
                <a:cs typeface="Courier New" pitchFamily="34" charset="-120"/>
              </a:rPr>
              <a:t>5:00 - 6:30</a:t>
            </a:r>
            <a:endParaRPr lang="en-US" sz="1100" dirty="0"/>
          </a:p>
        </p:txBody>
      </p:sp>
      <p:sp>
        <p:nvSpPr>
          <p:cNvPr id="32" name="Text 30"/>
          <p:cNvSpPr/>
          <p:nvPr/>
        </p:nvSpPr>
        <p:spPr>
          <a:xfrm>
            <a:off x="2377440" y="4718304"/>
            <a:ext cx="2926080" cy="411480"/>
          </a:xfrm>
          <a:prstGeom prst="rect">
            <a:avLst/>
          </a:prstGeom>
          <a:noFill/>
          <a:ln/>
        </p:spPr>
        <p:txBody>
          <a:bodyPr wrap="square" lIns="0" tIns="0" rIns="0" bIns="0" rtlCol="0" anchor="ctr"/>
          <a:lstStyle/>
          <a:p>
            <a:pPr indent="0" marL="0">
              <a:buNone/>
            </a:pPr>
            <a:r>
              <a:rPr lang="en-US" sz="1200" b="1" dirty="0">
                <a:solidFill>
                  <a:srgbClr val="0A2540"/>
                </a:solidFill>
                <a:latin typeface="Trebuchet MS" pitchFamily="34" charset="0"/>
                <a:ea typeface="Trebuchet MS" pitchFamily="34" charset="-122"/>
                <a:cs typeface="Trebuchet MS" pitchFamily="34" charset="-120"/>
              </a:rPr>
              <a:t>Cascade correlation test</a:t>
            </a:r>
            <a:endParaRPr lang="en-US" sz="1200" dirty="0"/>
          </a:p>
        </p:txBody>
      </p:sp>
      <p:sp>
        <p:nvSpPr>
          <p:cNvPr id="33" name="Text 31"/>
          <p:cNvSpPr/>
          <p:nvPr/>
        </p:nvSpPr>
        <p:spPr>
          <a:xfrm>
            <a:off x="5349240" y="4718304"/>
            <a:ext cx="6217920" cy="41148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Three related traps within 30s window. Two per-event reports suppressed; one grouped (correlated) report posted referencing constituent events.</a:t>
            </a:r>
            <a:endParaRPr lang="en-US" sz="1000" dirty="0"/>
          </a:p>
        </p:txBody>
      </p:sp>
      <p:sp>
        <p:nvSpPr>
          <p:cNvPr id="34" name="Shape 32"/>
          <p:cNvSpPr/>
          <p:nvPr/>
        </p:nvSpPr>
        <p:spPr>
          <a:xfrm>
            <a:off x="548640" y="5257800"/>
            <a:ext cx="11064240" cy="594360"/>
          </a:xfrm>
          <a:prstGeom prst="rect">
            <a:avLst/>
          </a:prstGeom>
          <a:solidFill>
            <a:srgbClr val="FFFFFF"/>
          </a:solidFill>
          <a:ln w="12700">
            <a:solidFill>
              <a:srgbClr val="E2E8F0"/>
            </a:solidFill>
            <a:prstDash val="solid"/>
          </a:ln>
        </p:spPr>
      </p:sp>
      <p:sp>
        <p:nvSpPr>
          <p:cNvPr id="35" name="Shape 33"/>
          <p:cNvSpPr/>
          <p:nvPr/>
        </p:nvSpPr>
        <p:spPr>
          <a:xfrm>
            <a:off x="548640" y="5257800"/>
            <a:ext cx="73152" cy="594360"/>
          </a:xfrm>
          <a:prstGeom prst="rect">
            <a:avLst/>
          </a:prstGeom>
          <a:solidFill>
            <a:srgbClr val="00BCEB"/>
          </a:solidFill>
          <a:ln w="12700">
            <a:solidFill>
              <a:srgbClr val="00BCEB"/>
            </a:solidFill>
            <a:prstDash val="solid"/>
          </a:ln>
        </p:spPr>
      </p:sp>
      <p:sp>
        <p:nvSpPr>
          <p:cNvPr id="36" name="Text 34"/>
          <p:cNvSpPr/>
          <p:nvPr/>
        </p:nvSpPr>
        <p:spPr>
          <a:xfrm>
            <a:off x="777240" y="5349240"/>
            <a:ext cx="1554480" cy="411480"/>
          </a:xfrm>
          <a:prstGeom prst="rect">
            <a:avLst/>
          </a:prstGeom>
          <a:noFill/>
          <a:ln/>
        </p:spPr>
        <p:txBody>
          <a:bodyPr wrap="square" lIns="0" tIns="0" rIns="0" bIns="0" rtlCol="0" anchor="ctr"/>
          <a:lstStyle/>
          <a:p>
            <a:pPr indent="0" marL="0">
              <a:buNone/>
            </a:pPr>
            <a:r>
              <a:rPr lang="en-US" sz="1100" b="1" dirty="0">
                <a:solidFill>
                  <a:srgbClr val="0A2540"/>
                </a:solidFill>
                <a:latin typeface="Courier New" pitchFamily="34" charset="0"/>
                <a:ea typeface="Courier New" pitchFamily="34" charset="-122"/>
                <a:cs typeface="Courier New" pitchFamily="34" charset="-120"/>
              </a:rPr>
              <a:t>6:30 - 7:00</a:t>
            </a:r>
            <a:endParaRPr lang="en-US" sz="1100" dirty="0"/>
          </a:p>
        </p:txBody>
      </p:sp>
      <p:sp>
        <p:nvSpPr>
          <p:cNvPr id="37" name="Text 35"/>
          <p:cNvSpPr/>
          <p:nvPr/>
        </p:nvSpPr>
        <p:spPr>
          <a:xfrm>
            <a:off x="2377440" y="5349240"/>
            <a:ext cx="2926080" cy="411480"/>
          </a:xfrm>
          <a:prstGeom prst="rect">
            <a:avLst/>
          </a:prstGeom>
          <a:noFill/>
          <a:ln/>
        </p:spPr>
        <p:txBody>
          <a:bodyPr wrap="square" lIns="0" tIns="0" rIns="0" bIns="0" rtlCol="0" anchor="ctr"/>
          <a:lstStyle/>
          <a:p>
            <a:pPr indent="0" marL="0">
              <a:buNone/>
            </a:pPr>
            <a:r>
              <a:rPr lang="en-US" sz="1200" b="1" dirty="0">
                <a:solidFill>
                  <a:srgbClr val="0A2540"/>
                </a:solidFill>
                <a:latin typeface="Trebuchet MS" pitchFamily="34" charset="0"/>
                <a:ea typeface="Trebuchet MS" pitchFamily="34" charset="-122"/>
                <a:cs typeface="Trebuchet MS" pitchFamily="34" charset="-120"/>
              </a:rPr>
              <a:t>Q&amp;A bridge</a:t>
            </a:r>
            <a:endParaRPr lang="en-US" sz="1200" dirty="0"/>
          </a:p>
        </p:txBody>
      </p:sp>
      <p:sp>
        <p:nvSpPr>
          <p:cNvPr id="38" name="Text 36"/>
          <p:cNvSpPr/>
          <p:nvPr/>
        </p:nvSpPr>
        <p:spPr>
          <a:xfrm>
            <a:off x="5349240" y="5349240"/>
            <a:ext cx="6217920" cy="411480"/>
          </a:xfrm>
          <a:prstGeom prst="rect">
            <a:avLst/>
          </a:prstGeom>
          <a:noFill/>
          <a:ln/>
        </p:spPr>
        <p:txBody>
          <a:bodyPr wrap="square" lIns="0" tIns="0" rIns="0" bIns="0" rtlCol="0" anchor="ctr"/>
          <a:lstStyle/>
          <a:p>
            <a:pPr indent="0" marL="0">
              <a:buNone/>
            </a:pPr>
            <a:r>
              <a:rPr lang="en-US" sz="1000" dirty="0">
                <a:solidFill>
                  <a:srgbClr val="334155"/>
                </a:solidFill>
                <a:latin typeface="Trebuchet MS" pitchFamily="34" charset="0"/>
                <a:ea typeface="Trebuchet MS" pitchFamily="34" charset="-122"/>
                <a:cs typeface="Trebuchet MS" pitchFamily="34" charset="-120"/>
              </a:rPr>
              <a:t>Return control. PID, Critical Reflection, Lab Implementation Log all available in repository for follow-up review.</a:t>
            </a:r>
            <a:endParaRPr lang="en-US" sz="1000" dirty="0"/>
          </a:p>
        </p:txBody>
      </p:sp>
      <p:sp>
        <p:nvSpPr>
          <p:cNvPr id="39" name="Shape 37"/>
          <p:cNvSpPr/>
          <p:nvPr/>
        </p:nvSpPr>
        <p:spPr>
          <a:xfrm>
            <a:off x="548640" y="5989320"/>
            <a:ext cx="11064240" cy="457200"/>
          </a:xfrm>
          <a:prstGeom prst="rect">
            <a:avLst/>
          </a:prstGeom>
          <a:solidFill>
            <a:srgbClr val="0A2540"/>
          </a:solidFill>
          <a:ln w="12700">
            <a:solidFill>
              <a:srgbClr val="0A2540"/>
            </a:solidFill>
            <a:prstDash val="solid"/>
          </a:ln>
        </p:spPr>
      </p:sp>
      <p:sp>
        <p:nvSpPr>
          <p:cNvPr id="40" name="Text 38"/>
          <p:cNvSpPr/>
          <p:nvPr/>
        </p:nvSpPr>
        <p:spPr>
          <a:xfrm>
            <a:off x="731520" y="5989320"/>
            <a:ext cx="10698480" cy="457200"/>
          </a:xfrm>
          <a:prstGeom prst="rect">
            <a:avLst/>
          </a:prstGeom>
          <a:noFill/>
          <a:ln/>
        </p:spPr>
        <p:txBody>
          <a:bodyPr wrap="square" lIns="0" tIns="0" rIns="0" bIns="0" rtlCol="0" anchor="ctr"/>
          <a:lstStyle/>
          <a:p>
            <a:pPr algn="ctr" indent="0" marL="0">
              <a:buNone/>
            </a:pPr>
            <a:r>
              <a:rPr lang="en-US" sz="1100" i="1" dirty="0">
                <a:solidFill>
                  <a:srgbClr val="E2E8F0"/>
                </a:solidFill>
                <a:latin typeface="Trebuchet MS" pitchFamily="34" charset="0"/>
                <a:ea typeface="Trebuchet MS" pitchFamily="34" charset="-122"/>
                <a:cs typeface="Trebuchet MS" pitchFamily="34" charset="-120"/>
              </a:rPr>
              <a:t>FAILURE MODE: pre-recorded screencast available at the same repository if any live step fails. Honesty over heroics.</a:t>
            </a:r>
            <a:endParaRPr lang="en-US" sz="1100" dirty="0"/>
          </a:p>
        </p:txBody>
      </p:sp>
      <p:sp>
        <p:nvSpPr>
          <p:cNvPr id="41" name="Shape 39"/>
          <p:cNvSpPr/>
          <p:nvPr/>
        </p:nvSpPr>
        <p:spPr>
          <a:xfrm>
            <a:off x="0" y="6565392"/>
            <a:ext cx="12161520" cy="292608"/>
          </a:xfrm>
          <a:prstGeom prst="rect">
            <a:avLst/>
          </a:prstGeom>
          <a:solidFill>
            <a:srgbClr val="0A2540"/>
          </a:solidFill>
          <a:ln w="12700">
            <a:solidFill>
              <a:srgbClr val="0A2540"/>
            </a:solidFill>
            <a:prstDash val="solid"/>
          </a:ln>
        </p:spPr>
      </p:sp>
      <p:sp>
        <p:nvSpPr>
          <p:cNvPr id="42" name="Text 40"/>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43" name="Text 41"/>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08  /  REFLECTION</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What Worked, What We Would Do Differently</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Peer review and team learning (LO3 + LO6)</a:t>
            </a:r>
            <a:endParaRPr lang="en-US" sz="1400" dirty="0"/>
          </a:p>
        </p:txBody>
      </p:sp>
      <p:sp>
        <p:nvSpPr>
          <p:cNvPr id="9" name="Shape 7"/>
          <p:cNvSpPr/>
          <p:nvPr/>
        </p:nvSpPr>
        <p:spPr>
          <a:xfrm>
            <a:off x="548640" y="2103120"/>
            <a:ext cx="5440680" cy="4023360"/>
          </a:xfrm>
          <a:prstGeom prst="rect">
            <a:avLst/>
          </a:prstGeom>
          <a:solidFill>
            <a:srgbClr val="FFFFFF"/>
          </a:solidFill>
          <a:ln w="12700">
            <a:solidFill>
              <a:srgbClr val="E2E8F0"/>
            </a:solidFill>
            <a:prstDash val="solid"/>
          </a:ln>
        </p:spPr>
      </p:sp>
      <p:sp>
        <p:nvSpPr>
          <p:cNvPr id="10" name="Shape 8"/>
          <p:cNvSpPr/>
          <p:nvPr/>
        </p:nvSpPr>
        <p:spPr>
          <a:xfrm>
            <a:off x="548640" y="2103120"/>
            <a:ext cx="73152" cy="4023360"/>
          </a:xfrm>
          <a:prstGeom prst="rect">
            <a:avLst/>
          </a:prstGeom>
          <a:solidFill>
            <a:srgbClr val="10B981"/>
          </a:solidFill>
          <a:ln w="12700">
            <a:solidFill>
              <a:srgbClr val="10B981"/>
            </a:solidFill>
            <a:prstDash val="solid"/>
          </a:ln>
        </p:spPr>
      </p:sp>
      <p:sp>
        <p:nvSpPr>
          <p:cNvPr id="11" name="Text 9"/>
          <p:cNvSpPr/>
          <p:nvPr/>
        </p:nvSpPr>
        <p:spPr>
          <a:xfrm>
            <a:off x="822960" y="2240280"/>
            <a:ext cx="5074920" cy="36576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WHAT WORKED</a:t>
            </a:r>
            <a:endParaRPr lang="en-US" sz="1200" dirty="0"/>
          </a:p>
        </p:txBody>
      </p:sp>
      <p:sp>
        <p:nvSpPr>
          <p:cNvPr id="12" name="Text 10"/>
          <p:cNvSpPr/>
          <p:nvPr/>
        </p:nvSpPr>
        <p:spPr>
          <a:xfrm>
            <a:off x="822960" y="2697480"/>
            <a:ext cx="4983480" cy="3383280"/>
          </a:xfrm>
          <a:prstGeom prst="rect">
            <a:avLst/>
          </a:prstGeom>
          <a:noFill/>
          <a:ln/>
        </p:spPr>
        <p:txBody>
          <a:bodyPr wrap="square" lIns="0" tIns="0" rIns="0" bIns="0" rtlCol="0" anchor="t"/>
          <a:lstStyle/>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Strict step-by-step methodology under time pressure.</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One action, one verified outcome, no proceeding on assumptions.</a:t>
            </a:r>
            <a:endParaRPr lang="en-US" sz="1100" dirty="0"/>
          </a:p>
          <a:p>
            <a:pPr indent="0" marL="0">
              <a:spcAft>
                <a:spcPts val="3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Honest synthetic-vs-production framing throughout the PID.</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Internal consistency results labelled as such; no overreach.</a:t>
            </a:r>
            <a:endParaRPr lang="en-US" sz="1100" dirty="0"/>
          </a:p>
          <a:p>
            <a:pPr indent="0" marL="0">
              <a:spcAft>
                <a:spcPts val="3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Sponsor feedback loop at every sprint boundary.</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James Whale's Sprint 2 review redirected the diagnostic adapter approach early.</a:t>
            </a:r>
            <a:endParaRPr lang="en-US" sz="1100" dirty="0"/>
          </a:p>
          <a:p>
            <a:pPr indent="0" marL="0">
              <a:spcAft>
                <a:spcPts val="3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Documentation discipline as engineering discipline.</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Versioned PID, captioned figures, single source of truth in README.</a:t>
            </a:r>
            <a:endParaRPr lang="en-US" sz="1100" dirty="0"/>
          </a:p>
        </p:txBody>
      </p:sp>
      <p:sp>
        <p:nvSpPr>
          <p:cNvPr id="13" name="Shape 11"/>
          <p:cNvSpPr/>
          <p:nvPr/>
        </p:nvSpPr>
        <p:spPr>
          <a:xfrm>
            <a:off x="6309360" y="2103120"/>
            <a:ext cx="5440680" cy="4023360"/>
          </a:xfrm>
          <a:prstGeom prst="rect">
            <a:avLst/>
          </a:prstGeom>
          <a:solidFill>
            <a:srgbClr val="FFFFFF"/>
          </a:solidFill>
          <a:ln w="12700">
            <a:solidFill>
              <a:srgbClr val="E2E8F0"/>
            </a:solidFill>
            <a:prstDash val="solid"/>
          </a:ln>
        </p:spPr>
      </p:sp>
      <p:sp>
        <p:nvSpPr>
          <p:cNvPr id="14" name="Shape 12"/>
          <p:cNvSpPr/>
          <p:nvPr/>
        </p:nvSpPr>
        <p:spPr>
          <a:xfrm>
            <a:off x="6309360" y="2103120"/>
            <a:ext cx="73152" cy="4023360"/>
          </a:xfrm>
          <a:prstGeom prst="rect">
            <a:avLst/>
          </a:prstGeom>
          <a:solidFill>
            <a:srgbClr val="F59E0B"/>
          </a:solidFill>
          <a:ln w="12700">
            <a:solidFill>
              <a:srgbClr val="F59E0B"/>
            </a:solidFill>
            <a:prstDash val="solid"/>
          </a:ln>
        </p:spPr>
      </p:sp>
      <p:sp>
        <p:nvSpPr>
          <p:cNvPr id="15" name="Text 13"/>
          <p:cNvSpPr/>
          <p:nvPr/>
        </p:nvSpPr>
        <p:spPr>
          <a:xfrm>
            <a:off x="6583680" y="2240280"/>
            <a:ext cx="5074920" cy="365760"/>
          </a:xfrm>
          <a:prstGeom prst="rect">
            <a:avLst/>
          </a:prstGeom>
          <a:noFill/>
          <a:ln/>
        </p:spPr>
        <p:txBody>
          <a:bodyPr wrap="square" lIns="0" tIns="0" rIns="0" bIns="0" rtlCol="0" anchor="ctr"/>
          <a:lstStyle/>
          <a:p>
            <a:pPr indent="0" marL="0">
              <a:buNone/>
            </a:pPr>
            <a:r>
              <a:rPr lang="en-US" sz="1200" b="1" spc="400" kern="0" dirty="0">
                <a:solidFill>
                  <a:srgbClr val="0A2540"/>
                </a:solidFill>
                <a:latin typeface="Trebuchet MS" pitchFamily="34" charset="0"/>
                <a:ea typeface="Trebuchet MS" pitchFamily="34" charset="-122"/>
                <a:cs typeface="Trebuchet MS" pitchFamily="34" charset="-120"/>
              </a:rPr>
              <a:t>WHAT WE WOULD CHANGE</a:t>
            </a:r>
            <a:endParaRPr lang="en-US" sz="1200" dirty="0"/>
          </a:p>
        </p:txBody>
      </p:sp>
      <p:sp>
        <p:nvSpPr>
          <p:cNvPr id="16" name="Text 14"/>
          <p:cNvSpPr/>
          <p:nvPr/>
        </p:nvSpPr>
        <p:spPr>
          <a:xfrm>
            <a:off x="6583680" y="2697480"/>
            <a:ext cx="4983480" cy="3383280"/>
          </a:xfrm>
          <a:prstGeom prst="rect">
            <a:avLst/>
          </a:prstGeom>
          <a:noFill/>
          <a:ln/>
        </p:spPr>
        <p:txBody>
          <a:bodyPr wrap="square" lIns="0" tIns="0" rIns="0" bIns="0" rtlCol="0" anchor="t"/>
          <a:lstStyle/>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Plan documentation generators with care.</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scripts/write_readme.py drifted by an architectural generation. README is now canonical.</a:t>
            </a:r>
            <a:endParaRPr lang="en-US" sz="1100" dirty="0"/>
          </a:p>
          <a:p>
            <a:pPr indent="0" marL="0">
              <a:spcAft>
                <a:spcPts val="3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Schedule the rename pass earlier.</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v4.1 site rename landed tight against AE1 submission. Earlier scheduling would have created buffer.</a:t>
            </a:r>
            <a:endParaRPr lang="en-US" sz="1100" dirty="0"/>
          </a:p>
          <a:p>
            <a:pPr indent="0" marL="0">
              <a:spcAft>
                <a:spcPts val="3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Capture Cisco IOS syslog samples earlier.</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FRR-only calibration is the project's largest residual external-validity gap.</a:t>
            </a:r>
            <a:endParaRPr lang="en-US" sz="1100" dirty="0"/>
          </a:p>
          <a:p>
            <a:pPr indent="0" marL="0">
              <a:spcAft>
                <a:spcPts val="300"/>
              </a:spcAft>
              <a:buNone/>
            </a:pPr>
            <a:r>
              <a:rPr lang="en-US" sz="600" dirty="0">
                <a:solidFill>
                  <a:srgbClr val="000000"/>
                </a:solidFill>
                <a:latin typeface="Trebuchet MS" pitchFamily="34" charset="0"/>
                <a:ea typeface="Trebuchet MS" pitchFamily="34" charset="-122"/>
                <a:cs typeface="Trebuchet MS" pitchFamily="34" charset="-120"/>
              </a:rPr>
              <a:t xml:space="preserve"> </a:t>
            </a:r>
            <a:endParaRPr lang="en-US" sz="1100" dirty="0"/>
          </a:p>
          <a:p>
            <a:pPr indent="0" marL="0">
              <a:spcAft>
                <a:spcPts val="300"/>
              </a:spcAft>
              <a:buNone/>
            </a:pPr>
            <a:r>
              <a:rPr lang="en-US" sz="1100" b="1" dirty="0">
                <a:solidFill>
                  <a:srgbClr val="0F172A"/>
                </a:solidFill>
                <a:latin typeface="Trebuchet MS" pitchFamily="34" charset="0"/>
                <a:ea typeface="Trebuchet MS" pitchFamily="34" charset="-122"/>
                <a:cs typeface="Trebuchet MS" pitchFamily="34" charset="-120"/>
              </a:rPr>
              <a:t>Tighter peer review on commit messages.</a:t>
            </a:r>
            <a:endParaRPr lang="en-US" sz="1100" dirty="0"/>
          </a:p>
          <a:p>
            <a:pPr indent="0" marL="0">
              <a:spcAft>
                <a:spcPts val="300"/>
              </a:spcAft>
              <a:buNone/>
            </a:pPr>
            <a:r>
              <a:rPr lang="en-US" sz="1100" dirty="0">
                <a:solidFill>
                  <a:srgbClr val="334155"/>
                </a:solidFill>
                <a:latin typeface="Trebuchet MS" pitchFamily="34" charset="0"/>
                <a:ea typeface="Trebuchet MS" pitchFamily="34" charset="-122"/>
                <a:cs typeface="Trebuchet MS" pitchFamily="34" charset="-120"/>
              </a:rPr>
              <a:t>One commit's subject did not match its content. Caught in retrospective; would have caught earlier with paired review.</a:t>
            </a:r>
            <a:endParaRPr lang="en-US" sz="1100" dirty="0"/>
          </a:p>
        </p:txBody>
      </p:sp>
      <p:sp>
        <p:nvSpPr>
          <p:cNvPr id="17" name="Shape 15"/>
          <p:cNvSpPr/>
          <p:nvPr/>
        </p:nvSpPr>
        <p:spPr>
          <a:xfrm>
            <a:off x="0" y="6565392"/>
            <a:ext cx="12161520" cy="292608"/>
          </a:xfrm>
          <a:prstGeom prst="rect">
            <a:avLst/>
          </a:prstGeom>
          <a:solidFill>
            <a:srgbClr val="0A2540"/>
          </a:solidFill>
          <a:ln w="12700">
            <a:solidFill>
              <a:srgbClr val="0A2540"/>
            </a:solidFill>
            <a:prstDash val="solid"/>
          </a:ln>
        </p:spPr>
      </p:sp>
      <p:sp>
        <p:nvSpPr>
          <p:cNvPr id="18" name="Text 16"/>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19" name="Text 17"/>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65760"/>
          </a:xfrm>
          <a:prstGeom prst="rect">
            <a:avLst/>
          </a:prstGeom>
          <a:solidFill>
            <a:srgbClr val="0A2540"/>
          </a:solidFill>
          <a:ln w="12700">
            <a:solidFill>
              <a:srgbClr val="0A2540"/>
            </a:solidFill>
            <a:prstDash val="solid"/>
          </a:ln>
        </p:spPr>
      </p:sp>
      <p:sp>
        <p:nvSpPr>
          <p:cNvPr id="3" name="Shape 1"/>
          <p:cNvSpPr/>
          <p:nvPr/>
        </p:nvSpPr>
        <p:spPr>
          <a:xfrm>
            <a:off x="0" y="365760"/>
            <a:ext cx="12161520" cy="36576"/>
          </a:xfrm>
          <a:prstGeom prst="rect">
            <a:avLst/>
          </a:prstGeom>
          <a:solidFill>
            <a:srgbClr val="00BCEB"/>
          </a:solidFill>
          <a:ln w="12700">
            <a:solidFill>
              <a:srgbClr val="00BCEB"/>
            </a:solidFill>
            <a:prstDash val="solid"/>
          </a:ln>
        </p:spPr>
      </p:sp>
      <p:sp>
        <p:nvSpPr>
          <p:cNvPr id="4" name="Text 2"/>
          <p:cNvSpPr/>
          <p:nvPr/>
        </p:nvSpPr>
        <p:spPr>
          <a:xfrm>
            <a:off x="457200" y="0"/>
            <a:ext cx="7315200" cy="365760"/>
          </a:xfrm>
          <a:prstGeom prst="rect">
            <a:avLst/>
          </a:prstGeom>
          <a:noFill/>
          <a:ln/>
        </p:spPr>
        <p:txBody>
          <a:bodyPr wrap="square" lIns="0" tIns="0" rIns="0" bIns="0" rtlCol="0" anchor="ctr"/>
          <a:lstStyle/>
          <a:p>
            <a:pPr indent="0" marL="0">
              <a:buNone/>
            </a:pPr>
            <a:r>
              <a:rPr lang="en-US" sz="1100" b="1" spc="400" kern="0" dirty="0">
                <a:solidFill>
                  <a:srgbClr val="FFFFFF"/>
                </a:solidFill>
                <a:latin typeface="Trebuchet MS" pitchFamily="34" charset="0"/>
                <a:ea typeface="Trebuchet MS" pitchFamily="34" charset="-122"/>
                <a:cs typeface="Trebuchet MS" pitchFamily="34" charset="-120"/>
              </a:rPr>
              <a:t>09  /  ROUTES TO INDUSTRY</a:t>
            </a:r>
            <a:endParaRPr lang="en-US" sz="1100" dirty="0"/>
          </a:p>
        </p:txBody>
      </p:sp>
      <p:sp>
        <p:nvSpPr>
          <p:cNvPr id="5" name="Text 3"/>
          <p:cNvSpPr/>
          <p:nvPr/>
        </p:nvSpPr>
        <p:spPr>
          <a:xfrm>
            <a:off x="7589520" y="0"/>
            <a:ext cx="4114800" cy="365760"/>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COM617  |  Group 15  |  Cisco Systems</a:t>
            </a:r>
            <a:endParaRPr lang="en-US" sz="900" dirty="0"/>
          </a:p>
        </p:txBody>
      </p:sp>
      <p:sp>
        <p:nvSpPr>
          <p:cNvPr id="6" name="Text 4"/>
          <p:cNvSpPr/>
          <p:nvPr/>
        </p:nvSpPr>
        <p:spPr>
          <a:xfrm>
            <a:off x="457200" y="640080"/>
            <a:ext cx="11247120" cy="640080"/>
          </a:xfrm>
          <a:prstGeom prst="rect">
            <a:avLst/>
          </a:prstGeom>
          <a:noFill/>
          <a:ln/>
        </p:spPr>
        <p:txBody>
          <a:bodyPr wrap="square" lIns="0" tIns="0" rIns="0" bIns="0" rtlCol="0" anchor="t"/>
          <a:lstStyle/>
          <a:p>
            <a:pPr indent="0" marL="0">
              <a:buNone/>
            </a:pPr>
            <a:r>
              <a:rPr lang="en-US" sz="3200" b="1" dirty="0">
                <a:solidFill>
                  <a:srgbClr val="0A2540"/>
                </a:solidFill>
                <a:latin typeface="Trebuchet MS" pitchFamily="34" charset="0"/>
                <a:ea typeface="Trebuchet MS" pitchFamily="34" charset="-122"/>
                <a:cs typeface="Trebuchet MS" pitchFamily="34" charset="-120"/>
              </a:rPr>
              <a:t>Employability and Routes to Industry</a:t>
            </a:r>
            <a:endParaRPr lang="en-US" sz="3200" dirty="0"/>
          </a:p>
        </p:txBody>
      </p:sp>
      <p:sp>
        <p:nvSpPr>
          <p:cNvPr id="7" name="Shape 5"/>
          <p:cNvSpPr/>
          <p:nvPr/>
        </p:nvSpPr>
        <p:spPr>
          <a:xfrm>
            <a:off x="457200" y="1325880"/>
            <a:ext cx="548640" cy="54864"/>
          </a:xfrm>
          <a:prstGeom prst="rect">
            <a:avLst/>
          </a:prstGeom>
          <a:solidFill>
            <a:srgbClr val="00BCEB"/>
          </a:solidFill>
          <a:ln w="12700">
            <a:solidFill>
              <a:srgbClr val="00BCEB"/>
            </a:solidFill>
            <a:prstDash val="solid"/>
          </a:ln>
        </p:spPr>
      </p:sp>
      <p:sp>
        <p:nvSpPr>
          <p:cNvPr id="8" name="Text 6"/>
          <p:cNvSpPr/>
          <p:nvPr/>
        </p:nvSpPr>
        <p:spPr>
          <a:xfrm>
            <a:off x="457200" y="1417320"/>
            <a:ext cx="11247120" cy="365760"/>
          </a:xfrm>
          <a:prstGeom prst="rect">
            <a:avLst/>
          </a:prstGeom>
          <a:noFill/>
          <a:ln/>
        </p:spPr>
        <p:txBody>
          <a:bodyPr wrap="square" lIns="0" tIns="0" rIns="0" bIns="0" rtlCol="0" anchor="t"/>
          <a:lstStyle/>
          <a:p>
            <a:pPr indent="0" marL="0">
              <a:buNone/>
            </a:pPr>
            <a:r>
              <a:rPr lang="en-US" sz="1400" i="1" dirty="0">
                <a:solidFill>
                  <a:srgbClr val="334155"/>
                </a:solidFill>
                <a:latin typeface="Trebuchet MS" pitchFamily="34" charset="0"/>
                <a:ea typeface="Trebuchet MS" pitchFamily="34" charset="-122"/>
                <a:cs typeface="Trebuchet MS" pitchFamily="34" charset="-120"/>
              </a:rPr>
              <a:t>What working on MARR has prepared us for</a:t>
            </a:r>
            <a:endParaRPr lang="en-US" sz="1400" dirty="0"/>
          </a:p>
        </p:txBody>
      </p:sp>
      <p:sp>
        <p:nvSpPr>
          <p:cNvPr id="9" name="Shape 7"/>
          <p:cNvSpPr/>
          <p:nvPr/>
        </p:nvSpPr>
        <p:spPr>
          <a:xfrm>
            <a:off x="365760" y="2103120"/>
            <a:ext cx="3657600" cy="402336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365760" y="2103120"/>
            <a:ext cx="3657600" cy="502920"/>
          </a:xfrm>
          <a:prstGeom prst="rect">
            <a:avLst/>
          </a:prstGeom>
          <a:solidFill>
            <a:srgbClr val="00BCEB"/>
          </a:solidFill>
          <a:ln w="12700">
            <a:solidFill>
              <a:srgbClr val="00BCEB"/>
            </a:solidFill>
            <a:prstDash val="solid"/>
          </a:ln>
        </p:spPr>
      </p:sp>
      <p:sp>
        <p:nvSpPr>
          <p:cNvPr id="11" name="Text 9"/>
          <p:cNvSpPr/>
          <p:nvPr/>
        </p:nvSpPr>
        <p:spPr>
          <a:xfrm>
            <a:off x="365760" y="2103120"/>
            <a:ext cx="3657600" cy="502920"/>
          </a:xfrm>
          <a:prstGeom prst="rect">
            <a:avLst/>
          </a:prstGeom>
          <a:noFill/>
          <a:ln/>
        </p:spPr>
        <p:txBody>
          <a:bodyPr wrap="square" lIns="0" tIns="0" rIns="0" bIns="0" rtlCol="0" anchor="ctr"/>
          <a:lstStyle/>
          <a:p>
            <a:pPr algn="ctr" indent="0" marL="0">
              <a:buNone/>
            </a:pPr>
            <a:r>
              <a:rPr lang="en-US" sz="1300" b="1" spc="300" kern="0" dirty="0">
                <a:solidFill>
                  <a:srgbClr val="FFFFFF"/>
                </a:solidFill>
                <a:latin typeface="Trebuchet MS" pitchFamily="34" charset="0"/>
                <a:ea typeface="Trebuchet MS" pitchFamily="34" charset="-122"/>
                <a:cs typeface="Trebuchet MS" pitchFamily="34" charset="-120"/>
              </a:rPr>
              <a:t>NETWORK AUTOMATION ENGINEER</a:t>
            </a:r>
            <a:endParaRPr lang="en-US" sz="1300" dirty="0"/>
          </a:p>
        </p:txBody>
      </p:sp>
      <p:sp>
        <p:nvSpPr>
          <p:cNvPr id="12" name="Text 10"/>
          <p:cNvSpPr/>
          <p:nvPr/>
        </p:nvSpPr>
        <p:spPr>
          <a:xfrm>
            <a:off x="640080" y="2834640"/>
            <a:ext cx="3200400" cy="3108960"/>
          </a:xfrm>
          <a:prstGeom prst="rect">
            <a:avLst/>
          </a:prstGeom>
          <a:noFill/>
          <a:ln/>
        </p:spPr>
        <p:txBody>
          <a:bodyPr wrap="square" lIns="0" tIns="0" rIns="0" bIns="0" rtlCol="0" anchor="t"/>
          <a:lstStyle/>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Cisco network operations context</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OpenNMS Horizon / Minion architecture</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Ansible diagnostics and runbook design</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Containerlab / FRRouting fault injection</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Mattermost incident workflow</a:t>
            </a:r>
            <a:endParaRPr lang="en-US" sz="1100" dirty="0"/>
          </a:p>
        </p:txBody>
      </p:sp>
      <p:sp>
        <p:nvSpPr>
          <p:cNvPr id="13" name="Shape 11"/>
          <p:cNvSpPr/>
          <p:nvPr/>
        </p:nvSpPr>
        <p:spPr>
          <a:xfrm>
            <a:off x="4251960" y="2103120"/>
            <a:ext cx="3657600" cy="402336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6000"/>
              </a:srgbClr>
            </a:outerShdw>
          </a:effectLst>
        </p:spPr>
      </p:sp>
      <p:sp>
        <p:nvSpPr>
          <p:cNvPr id="14" name="Shape 12"/>
          <p:cNvSpPr/>
          <p:nvPr/>
        </p:nvSpPr>
        <p:spPr>
          <a:xfrm>
            <a:off x="4251960" y="2103120"/>
            <a:ext cx="3657600" cy="502920"/>
          </a:xfrm>
          <a:prstGeom prst="rect">
            <a:avLst/>
          </a:prstGeom>
          <a:solidFill>
            <a:srgbClr val="10B981"/>
          </a:solidFill>
          <a:ln w="12700">
            <a:solidFill>
              <a:srgbClr val="10B981"/>
            </a:solidFill>
            <a:prstDash val="solid"/>
          </a:ln>
        </p:spPr>
      </p:sp>
      <p:sp>
        <p:nvSpPr>
          <p:cNvPr id="15" name="Text 13"/>
          <p:cNvSpPr/>
          <p:nvPr/>
        </p:nvSpPr>
        <p:spPr>
          <a:xfrm>
            <a:off x="4251960" y="2103120"/>
            <a:ext cx="3657600" cy="502920"/>
          </a:xfrm>
          <a:prstGeom prst="rect">
            <a:avLst/>
          </a:prstGeom>
          <a:noFill/>
          <a:ln/>
        </p:spPr>
        <p:txBody>
          <a:bodyPr wrap="square" lIns="0" tIns="0" rIns="0" bIns="0" rtlCol="0" anchor="ctr"/>
          <a:lstStyle/>
          <a:p>
            <a:pPr algn="ctr" indent="0" marL="0">
              <a:buNone/>
            </a:pPr>
            <a:r>
              <a:rPr lang="en-US" sz="1300" b="1" spc="300" kern="0" dirty="0">
                <a:solidFill>
                  <a:srgbClr val="FFFFFF"/>
                </a:solidFill>
                <a:latin typeface="Trebuchet MS" pitchFamily="34" charset="0"/>
                <a:ea typeface="Trebuchet MS" pitchFamily="34" charset="-122"/>
                <a:cs typeface="Trebuchet MS" pitchFamily="34" charset="-120"/>
              </a:rPr>
              <a:t>SITE RELIABILITY ENGINEER</a:t>
            </a:r>
            <a:endParaRPr lang="en-US" sz="1300" dirty="0"/>
          </a:p>
        </p:txBody>
      </p:sp>
      <p:sp>
        <p:nvSpPr>
          <p:cNvPr id="16" name="Text 14"/>
          <p:cNvSpPr/>
          <p:nvPr/>
        </p:nvSpPr>
        <p:spPr>
          <a:xfrm>
            <a:off x="4526280" y="2834640"/>
            <a:ext cx="3200400" cy="3108960"/>
          </a:xfrm>
          <a:prstGeom prst="rect">
            <a:avLst/>
          </a:prstGeom>
          <a:noFill/>
          <a:ln/>
        </p:spPr>
        <p:txBody>
          <a:bodyPr wrap="square" lIns="0" tIns="0" rIns="0" bIns="0" rtlCol="0" anchor="t"/>
          <a:lstStyle/>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SRE doctrine applied (Beyer et al. 2016)</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Toil reduction with explicit metrics</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Risk register + sprint retrospectives</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Postmortem-style incident documentation</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Synthetic-vs-production validity awareness</a:t>
            </a:r>
            <a:endParaRPr lang="en-US" sz="1100" dirty="0"/>
          </a:p>
        </p:txBody>
      </p:sp>
      <p:sp>
        <p:nvSpPr>
          <p:cNvPr id="17" name="Shape 15"/>
          <p:cNvSpPr/>
          <p:nvPr/>
        </p:nvSpPr>
        <p:spPr>
          <a:xfrm>
            <a:off x="8138160" y="2103120"/>
            <a:ext cx="3657600" cy="402336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6000"/>
              </a:srgbClr>
            </a:outerShdw>
          </a:effectLst>
        </p:spPr>
      </p:sp>
      <p:sp>
        <p:nvSpPr>
          <p:cNvPr id="18" name="Shape 16"/>
          <p:cNvSpPr/>
          <p:nvPr/>
        </p:nvSpPr>
        <p:spPr>
          <a:xfrm>
            <a:off x="8138160" y="2103120"/>
            <a:ext cx="3657600" cy="502920"/>
          </a:xfrm>
          <a:prstGeom prst="rect">
            <a:avLst/>
          </a:prstGeom>
          <a:solidFill>
            <a:srgbClr val="1B4965"/>
          </a:solidFill>
          <a:ln w="12700">
            <a:solidFill>
              <a:srgbClr val="1B4965"/>
            </a:solidFill>
            <a:prstDash val="solid"/>
          </a:ln>
        </p:spPr>
      </p:sp>
      <p:sp>
        <p:nvSpPr>
          <p:cNvPr id="19" name="Text 17"/>
          <p:cNvSpPr/>
          <p:nvPr/>
        </p:nvSpPr>
        <p:spPr>
          <a:xfrm>
            <a:off x="8138160" y="2103120"/>
            <a:ext cx="3657600" cy="502920"/>
          </a:xfrm>
          <a:prstGeom prst="rect">
            <a:avLst/>
          </a:prstGeom>
          <a:noFill/>
          <a:ln/>
        </p:spPr>
        <p:txBody>
          <a:bodyPr wrap="square" lIns="0" tIns="0" rIns="0" bIns="0" rtlCol="0" anchor="ctr"/>
          <a:lstStyle/>
          <a:p>
            <a:pPr algn="ctr" indent="0" marL="0">
              <a:buNone/>
            </a:pPr>
            <a:r>
              <a:rPr lang="en-US" sz="1300" b="1" spc="300" kern="0" dirty="0">
                <a:solidFill>
                  <a:srgbClr val="FFFFFF"/>
                </a:solidFill>
                <a:latin typeface="Trebuchet MS" pitchFamily="34" charset="0"/>
                <a:ea typeface="Trebuchet MS" pitchFamily="34" charset="-122"/>
                <a:cs typeface="Trebuchet MS" pitchFamily="34" charset="-120"/>
              </a:rPr>
              <a:t>PLATFORM / DEVOPS ENGINEER</a:t>
            </a:r>
            <a:endParaRPr lang="en-US" sz="1300" dirty="0"/>
          </a:p>
        </p:txBody>
      </p:sp>
      <p:sp>
        <p:nvSpPr>
          <p:cNvPr id="20" name="Text 18"/>
          <p:cNvSpPr/>
          <p:nvPr/>
        </p:nvSpPr>
        <p:spPr>
          <a:xfrm>
            <a:off x="8412480" y="2834640"/>
            <a:ext cx="3200400" cy="3108960"/>
          </a:xfrm>
          <a:prstGeom prst="rect">
            <a:avLst/>
          </a:prstGeom>
          <a:noFill/>
          <a:ln/>
        </p:spPr>
        <p:txBody>
          <a:bodyPr wrap="square" lIns="0" tIns="0" rIns="0" bIns="0" rtlCol="0" anchor="t"/>
          <a:lstStyle/>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Docker Compose multi-service orchestration</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Apache Kafka event streaming</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HashiCorp Vault credential management</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Prometheus / Grafana observability stack</a:t>
            </a:r>
            <a:endParaRPr lang="en-US" sz="1100" dirty="0"/>
          </a:p>
          <a:p>
            <a:pPr indent="0" marL="0">
              <a:spcAft>
                <a:spcPts val="600"/>
              </a:spcAft>
              <a:buNone/>
            </a:pPr>
            <a:r>
              <a:rPr lang="en-US" sz="1100" dirty="0">
                <a:solidFill>
                  <a:srgbClr val="334155"/>
                </a:solidFill>
                <a:latin typeface="Trebuchet MS" pitchFamily="34" charset="0"/>
                <a:ea typeface="Trebuchet MS" pitchFamily="34" charset="-122"/>
                <a:cs typeface="Trebuchet MS" pitchFamily="34" charset="-120"/>
              </a:rPr>
              <a:t>-  GitHub dual-remote workflow with tags</a:t>
            </a:r>
            <a:endParaRPr lang="en-US" sz="1100" dirty="0"/>
          </a:p>
        </p:txBody>
      </p:sp>
      <p:sp>
        <p:nvSpPr>
          <p:cNvPr id="21" name="Shape 19"/>
          <p:cNvSpPr/>
          <p:nvPr/>
        </p:nvSpPr>
        <p:spPr>
          <a:xfrm>
            <a:off x="548640" y="6263640"/>
            <a:ext cx="11064240" cy="365760"/>
          </a:xfrm>
          <a:prstGeom prst="rect">
            <a:avLst/>
          </a:prstGeom>
          <a:solidFill>
            <a:srgbClr val="0A2540"/>
          </a:solidFill>
          <a:ln w="12700">
            <a:solidFill>
              <a:srgbClr val="0A2540"/>
            </a:solidFill>
            <a:prstDash val="solid"/>
          </a:ln>
        </p:spPr>
      </p:sp>
      <p:sp>
        <p:nvSpPr>
          <p:cNvPr id="22" name="Text 20"/>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100" i="1" dirty="0">
                <a:solidFill>
                  <a:srgbClr val="E2E8F0"/>
                </a:solidFill>
                <a:latin typeface="Trebuchet MS" pitchFamily="34" charset="0"/>
                <a:ea typeface="Trebuchet MS" pitchFamily="34" charset="-122"/>
                <a:cs typeface="Trebuchet MS" pitchFamily="34" charset="-120"/>
              </a:rPr>
              <a:t>Industry-relevant practice, applied to a sponsor-facing brief, with documented evidence in a public repository.</a:t>
            </a:r>
            <a:endParaRPr lang="en-US" sz="1100" dirty="0"/>
          </a:p>
        </p:txBody>
      </p:sp>
      <p:sp>
        <p:nvSpPr>
          <p:cNvPr id="23" name="Shape 21"/>
          <p:cNvSpPr/>
          <p:nvPr/>
        </p:nvSpPr>
        <p:spPr>
          <a:xfrm>
            <a:off x="0" y="6565392"/>
            <a:ext cx="12161520" cy="292608"/>
          </a:xfrm>
          <a:prstGeom prst="rect">
            <a:avLst/>
          </a:prstGeom>
          <a:solidFill>
            <a:srgbClr val="0A2540"/>
          </a:solidFill>
          <a:ln w="12700">
            <a:solidFill>
              <a:srgbClr val="0A2540"/>
            </a:solidFill>
            <a:prstDash val="solid"/>
          </a:ln>
        </p:spPr>
      </p:sp>
      <p:sp>
        <p:nvSpPr>
          <p:cNvPr id="24" name="Text 22"/>
          <p:cNvSpPr/>
          <p:nvPr/>
        </p:nvSpPr>
        <p:spPr>
          <a:xfrm>
            <a:off x="365760" y="6565392"/>
            <a:ext cx="7315200" cy="292608"/>
          </a:xfrm>
          <a:prstGeom prst="rect">
            <a:avLst/>
          </a:prstGeom>
          <a:noFill/>
          <a:ln/>
        </p:spPr>
        <p:txBody>
          <a:bodyPr wrap="square" lIns="0" tIns="0" rIns="0" bIns="0" rtlCol="0" anchor="ctr"/>
          <a:lstStyle/>
          <a:p>
            <a:pPr indent="0" marL="0">
              <a:buNone/>
            </a:pPr>
            <a:r>
              <a:rPr lang="en-US" sz="900" dirty="0">
                <a:solidFill>
                  <a:srgbClr val="E2E8F0"/>
                </a:solidFill>
                <a:latin typeface="Trebuchet MS" pitchFamily="34" charset="0"/>
                <a:ea typeface="Trebuchet MS" pitchFamily="34" charset="-122"/>
                <a:cs typeface="Trebuchet MS" pitchFamily="34" charset="-120"/>
              </a:rPr>
              <a:t>MARR  -  Automated Network Alert Triage, Diagnostics and Reporting</a:t>
            </a:r>
            <a:endParaRPr lang="en-US" sz="900" dirty="0"/>
          </a:p>
        </p:txBody>
      </p:sp>
      <p:sp>
        <p:nvSpPr>
          <p:cNvPr id="25" name="Text 23"/>
          <p:cNvSpPr/>
          <p:nvPr/>
        </p:nvSpPr>
        <p:spPr>
          <a:xfrm>
            <a:off x="11064240" y="6565392"/>
            <a:ext cx="731520" cy="292608"/>
          </a:xfrm>
          <a:prstGeom prst="rect">
            <a:avLst/>
          </a:prstGeom>
          <a:noFill/>
          <a:ln/>
        </p:spPr>
        <p:txBody>
          <a:bodyPr wrap="square" lIns="0" tIns="0" rIns="0" bIns="0" rtlCol="0" anchor="ctr"/>
          <a:lstStyle/>
          <a:p>
            <a:pPr algn="r" indent="0" marL="0">
              <a:buNone/>
            </a:pPr>
            <a:r>
              <a:rPr lang="en-US" sz="900" dirty="0">
                <a:solidFill>
                  <a:srgbClr val="E2E8F0"/>
                </a:solidFill>
                <a:latin typeface="Trebuchet MS" pitchFamily="34" charset="0"/>
                <a:ea typeface="Trebuchet MS" pitchFamily="34" charset="-122"/>
                <a:cs typeface="Trebuchet MS"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00BCEB"/>
          </a:solidFill>
          <a:ln w="12700">
            <a:solidFill>
              <a:srgbClr val="00BCEB"/>
            </a:solidFill>
            <a:prstDash val="solid"/>
          </a:ln>
        </p:spPr>
      </p:sp>
      <p:sp>
        <p:nvSpPr>
          <p:cNvPr id="3" name="Text 1"/>
          <p:cNvSpPr/>
          <p:nvPr/>
        </p:nvSpPr>
        <p:spPr>
          <a:xfrm>
            <a:off x="731520" y="1463040"/>
            <a:ext cx="10698480" cy="1463040"/>
          </a:xfrm>
          <a:prstGeom prst="rect">
            <a:avLst/>
          </a:prstGeom>
          <a:noFill/>
          <a:ln/>
        </p:spPr>
        <p:txBody>
          <a:bodyPr wrap="square" lIns="0" tIns="0" rIns="0" bIns="0" rtlCol="0" anchor="ctr"/>
          <a:lstStyle/>
          <a:p>
            <a:pPr algn="ctr" indent="0" marL="0">
              <a:buNone/>
            </a:pPr>
            <a:r>
              <a:rPr lang="en-US" sz="11000" b="1" spc="600" kern="0" dirty="0">
                <a:solidFill>
                  <a:srgbClr val="FFFFFF"/>
                </a:solidFill>
                <a:latin typeface="Trebuchet MS" pitchFamily="34" charset="0"/>
                <a:ea typeface="Trebuchet MS" pitchFamily="34" charset="-122"/>
                <a:cs typeface="Trebuchet MS" pitchFamily="34" charset="-120"/>
              </a:rPr>
              <a:t>THANK YOU</a:t>
            </a:r>
            <a:endParaRPr lang="en-US" sz="11000" dirty="0"/>
          </a:p>
        </p:txBody>
      </p:sp>
      <p:sp>
        <p:nvSpPr>
          <p:cNvPr id="4" name="Text 2"/>
          <p:cNvSpPr/>
          <p:nvPr/>
        </p:nvSpPr>
        <p:spPr>
          <a:xfrm>
            <a:off x="731520" y="3291840"/>
            <a:ext cx="10698480" cy="731520"/>
          </a:xfrm>
          <a:prstGeom prst="rect">
            <a:avLst/>
          </a:prstGeom>
          <a:noFill/>
          <a:ln/>
        </p:spPr>
        <p:txBody>
          <a:bodyPr wrap="square" lIns="0" tIns="0" rIns="0" bIns="0" rtlCol="0" anchor="ctr"/>
          <a:lstStyle/>
          <a:p>
            <a:pPr algn="ctr" indent="0" marL="0">
              <a:buNone/>
            </a:pPr>
            <a:r>
              <a:rPr lang="en-US" sz="3600" i="1" dirty="0">
                <a:solidFill>
                  <a:srgbClr val="00BCEB"/>
                </a:solidFill>
                <a:latin typeface="Trebuchet MS" pitchFamily="34" charset="0"/>
                <a:ea typeface="Trebuchet MS" pitchFamily="34" charset="-122"/>
                <a:cs typeface="Trebuchet MS" pitchFamily="34" charset="-120"/>
              </a:rPr>
              <a:t>Questions?</a:t>
            </a:r>
            <a:endParaRPr lang="en-US" sz="3600" dirty="0"/>
          </a:p>
        </p:txBody>
      </p:sp>
      <p:sp>
        <p:nvSpPr>
          <p:cNvPr id="5" name="Shape 3"/>
          <p:cNvSpPr/>
          <p:nvPr/>
        </p:nvSpPr>
        <p:spPr>
          <a:xfrm>
            <a:off x="1371600" y="4572000"/>
            <a:ext cx="9418320" cy="1554480"/>
          </a:xfrm>
          <a:prstGeom prst="rect">
            <a:avLst/>
          </a:prstGeom>
          <a:solidFill>
            <a:srgbClr val="152538"/>
          </a:solidFill>
          <a:ln w="12700">
            <a:solidFill>
              <a:srgbClr val="00BCEB"/>
            </a:solidFill>
            <a:prstDash val="solid"/>
          </a:ln>
        </p:spPr>
      </p:sp>
      <p:sp>
        <p:nvSpPr>
          <p:cNvPr id="6" name="Text 4"/>
          <p:cNvSpPr/>
          <p:nvPr/>
        </p:nvSpPr>
        <p:spPr>
          <a:xfrm>
            <a:off x="1371600" y="4709160"/>
            <a:ext cx="9418320" cy="365760"/>
          </a:xfrm>
          <a:prstGeom prst="rect">
            <a:avLst/>
          </a:prstGeom>
          <a:noFill/>
          <a:ln/>
        </p:spPr>
        <p:txBody>
          <a:bodyPr wrap="square" lIns="0" tIns="0" rIns="0" bIns="0" rtlCol="0" anchor="ctr"/>
          <a:lstStyle/>
          <a:p>
            <a:pPr algn="ctr" indent="0" marL="0">
              <a:buNone/>
            </a:pPr>
            <a:r>
              <a:rPr lang="en-US" sz="1200" b="1" spc="600" kern="0" dirty="0">
                <a:solidFill>
                  <a:srgbClr val="00BCEB"/>
                </a:solidFill>
                <a:latin typeface="Trebuchet MS" pitchFamily="34" charset="0"/>
                <a:ea typeface="Trebuchet MS" pitchFamily="34" charset="-122"/>
                <a:cs typeface="Trebuchet MS" pitchFamily="34" charset="-120"/>
              </a:rPr>
              <a:t>PROJECT ARTEFACTS</a:t>
            </a:r>
            <a:endParaRPr lang="en-US" sz="1200" dirty="0"/>
          </a:p>
        </p:txBody>
      </p:sp>
      <p:sp>
        <p:nvSpPr>
          <p:cNvPr id="7" name="Text 5"/>
          <p:cNvSpPr/>
          <p:nvPr/>
        </p:nvSpPr>
        <p:spPr>
          <a:xfrm>
            <a:off x="1554480" y="5074920"/>
            <a:ext cx="9052560" cy="960120"/>
          </a:xfrm>
          <a:prstGeom prst="rect">
            <a:avLst/>
          </a:prstGeom>
          <a:noFill/>
          <a:ln/>
        </p:spPr>
        <p:txBody>
          <a:bodyPr wrap="square" lIns="0" tIns="0" rIns="0" bIns="0" rtlCol="0" anchor="t"/>
          <a:lstStyle/>
          <a:p>
            <a:pPr algn="ctr" indent="0" marL="0">
              <a:spcAft>
                <a:spcPts val="300"/>
              </a:spcAft>
              <a:buNone/>
            </a:pPr>
            <a:r>
              <a:rPr lang="en-US" sz="1100" b="1" dirty="0">
                <a:solidFill>
                  <a:srgbClr val="FFFFFF"/>
                </a:solidFill>
                <a:latin typeface="Trebuchet MS" pitchFamily="34" charset="0"/>
                <a:ea typeface="Trebuchet MS" pitchFamily="34" charset="-122"/>
                <a:cs typeface="Trebuchet MS" pitchFamily="34" charset="-120"/>
              </a:rPr>
              <a:t xml:space="preserve">Repository:  </a:t>
            </a:r>
            <a:pPr algn="ctr" indent="0" marL="0">
              <a:spcAft>
                <a:spcPts val="300"/>
              </a:spcAft>
              <a:buNone/>
            </a:pPr>
            <a:r>
              <a:rPr lang="en-US" sz="1100" dirty="0">
                <a:solidFill>
                  <a:srgbClr val="E2E8F0"/>
                </a:solidFill>
                <a:latin typeface="Trebuchet MS" pitchFamily="34" charset="0"/>
                <a:ea typeface="Trebuchet MS" pitchFamily="34" charset="-122"/>
                <a:cs typeface="Trebuchet MS" pitchFamily="34" charset="-120"/>
              </a:rPr>
              <a:t>github.com/com617-industrial-2025-1/com617-AutomatedNetworkTroubleshooting-1</a:t>
            </a:r>
            <a:endParaRPr lang="en-US" sz="1100" dirty="0"/>
          </a:p>
          <a:p>
            <a:pPr algn="ctr" indent="0" marL="0">
              <a:spcAft>
                <a:spcPts val="300"/>
              </a:spcAft>
              <a:buNone/>
            </a:pPr>
            <a:r>
              <a:rPr lang="en-US" sz="1100" b="1" dirty="0">
                <a:solidFill>
                  <a:srgbClr val="FFFFFF"/>
                </a:solidFill>
                <a:latin typeface="Trebuchet MS" pitchFamily="34" charset="0"/>
                <a:ea typeface="Trebuchet MS" pitchFamily="34" charset="-122"/>
                <a:cs typeface="Trebuchet MS" pitchFamily="34" charset="-120"/>
              </a:rPr>
              <a:t xml:space="preserve">Release tag:  </a:t>
            </a:r>
            <a:pPr algn="ctr" indent="0" marL="0">
              <a:spcAft>
                <a:spcPts val="300"/>
              </a:spcAft>
              <a:buNone/>
            </a:pPr>
            <a:r>
              <a:rPr lang="en-US" sz="1100" dirty="0">
                <a:solidFill>
                  <a:srgbClr val="E2E8F0"/>
                </a:solidFill>
                <a:latin typeface="Trebuchet MS" pitchFamily="34" charset="0"/>
                <a:ea typeface="Trebuchet MS" pitchFamily="34" charset="-122"/>
                <a:cs typeface="Trebuchet MS" pitchFamily="34" charset="-120"/>
              </a:rPr>
              <a:t>v4.1 (commit b4b7696)</a:t>
            </a:r>
            <a:endParaRPr lang="en-US" sz="1100" dirty="0"/>
          </a:p>
          <a:p>
            <a:pPr algn="ctr" indent="0" marL="0">
              <a:spcAft>
                <a:spcPts val="300"/>
              </a:spcAft>
              <a:buNone/>
            </a:pPr>
            <a:r>
              <a:rPr lang="en-US" sz="1100" b="1" dirty="0">
                <a:solidFill>
                  <a:srgbClr val="FFFFFF"/>
                </a:solidFill>
                <a:latin typeface="Trebuchet MS" pitchFamily="34" charset="0"/>
                <a:ea typeface="Trebuchet MS" pitchFamily="34" charset="-122"/>
                <a:cs typeface="Trebuchet MS" pitchFamily="34" charset="-120"/>
              </a:rPr>
              <a:t xml:space="preserve">AE1 deliverable:  </a:t>
            </a:r>
            <a:pPr algn="ctr" indent="0" marL="0">
              <a:spcAft>
                <a:spcPts val="300"/>
              </a:spcAft>
              <a:buNone/>
            </a:pPr>
            <a:r>
              <a:rPr lang="en-US" sz="1100" dirty="0">
                <a:solidFill>
                  <a:srgbClr val="E2E8F0"/>
                </a:solidFill>
                <a:latin typeface="Trebuchet MS" pitchFamily="34" charset="0"/>
                <a:ea typeface="Trebuchet MS" pitchFamily="34" charset="-122"/>
                <a:cs typeface="Trebuchet MS" pitchFamily="34" charset="-120"/>
              </a:rPr>
              <a:t>COM617_Group15_PID_AE1_v15_3u.docx</a:t>
            </a:r>
            <a:endParaRPr lang="en-US" sz="1100" dirty="0"/>
          </a:p>
          <a:p>
            <a:pPr algn="ctr" indent="0" marL="0">
              <a:spcAft>
                <a:spcPts val="300"/>
              </a:spcAft>
              <a:buNone/>
            </a:pPr>
            <a:r>
              <a:rPr lang="en-US" sz="1100" b="1" dirty="0">
                <a:solidFill>
                  <a:srgbClr val="FFFFFF"/>
                </a:solidFill>
                <a:latin typeface="Trebuchet MS" pitchFamily="34" charset="0"/>
                <a:ea typeface="Trebuchet MS" pitchFamily="34" charset="-122"/>
                <a:cs typeface="Trebuchet MS" pitchFamily="34" charset="-120"/>
              </a:rPr>
              <a:t xml:space="preserve">Critical reflection:  </a:t>
            </a:r>
            <a:pPr algn="ctr" indent="0" marL="0">
              <a:spcAft>
                <a:spcPts val="300"/>
              </a:spcAft>
              <a:buNone/>
            </a:pPr>
            <a:r>
              <a:rPr lang="en-US" sz="1100" dirty="0">
                <a:solidFill>
                  <a:srgbClr val="E2E8F0"/>
                </a:solidFill>
                <a:latin typeface="Trebuchet MS" pitchFamily="34" charset="0"/>
                <a:ea typeface="Trebuchet MS" pitchFamily="34" charset="-122"/>
                <a:cs typeface="Trebuchet MS" pitchFamily="34" charset="-120"/>
              </a:rPr>
              <a:t>COM617_Group15_Critical_Reflection_v4_1_Rename.docx</a:t>
            </a:r>
            <a:endParaRPr lang="en-US" sz="1100" dirty="0"/>
          </a:p>
        </p:txBody>
      </p:sp>
      <p:sp>
        <p:nvSpPr>
          <p:cNvPr id="8" name="Text 6"/>
          <p:cNvSpPr/>
          <p:nvPr/>
        </p:nvSpPr>
        <p:spPr>
          <a:xfrm>
            <a:off x="731520" y="6355080"/>
            <a:ext cx="106984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Group 15</a:t>
            </a:r>
            <a:pPr algn="ctr" indent="0" marL="0">
              <a:buNone/>
            </a:pPr>
            <a:r>
              <a:rPr lang="en-US" sz="1100" dirty="0">
                <a:solidFill>
                  <a:srgbClr val="E2E8F0"/>
                </a:solidFill>
                <a:latin typeface="Trebuchet MS" pitchFamily="34" charset="0"/>
                <a:ea typeface="Trebuchet MS" pitchFamily="34" charset="-122"/>
                <a:cs typeface="Trebuchet MS" pitchFamily="34" charset="-120"/>
              </a:rPr>
              <a:t xml:space="preserve">  -  Jose Batalha De Vasconcelos  /  Biloliddin Turaev  /  Akinwunmi Rotimi  /  Akinwunmi Kayode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Southampton Solent University and 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MARR - Automated Network Alert Triage, Diagnostics, and Engineer-Ready Reporting</dc:title>
  <dc:subject>PptxGenJS Presentation</dc:subject>
  <dc:creator>Group 15 - COM617</dc:creator>
  <cp:lastModifiedBy>Group 15 - COM617</cp:lastModifiedBy>
  <cp:revision>1</cp:revision>
  <dcterms:created xsi:type="dcterms:W3CDTF">2026-05-05T01:32:00Z</dcterms:created>
  <dcterms:modified xsi:type="dcterms:W3CDTF">2026-05-05T01:32:00Z</dcterms:modified>
</cp:coreProperties>
</file>